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your course and your internship dates. Explain that the mobility CRM is one project undertaken during the internship. The workspace calls it Incheon Mobility CRM and contains River scooter configuration; Nippon Toyota is the internship host supplied by the presenter. Do not imply this is Toyota’s official enterprise CRM. Personal details and the eight-week allocation remain editable until confirmed.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has a main internship narrative followed by a technical appendix for viva questions. Week 1 and Week 2 themes come directly from your request. The later weekly allocation is a proposed reconstruction, not an attendance record. Explain that the project discussion covers the current repository and that your exact personal contribution should be confirmed with your internship diary.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Toyota, the vehicle brand, from Nippon Toyota, the dealership business hosting the internship. The dealer contact page identifies Nippon Motor Corporation Pvt. Ltd. The company’s own LinkedIn profile gives 27 January 2000 as its establishment date. The official dealership site lists locations across Kerala and the used-car page lists Nippon U Trust at Kalamassery. Avoid unverified employee counts, turnover or market rankings.</a:t>
            </a:r>
          </a:p>
          <a:p/>
          <a:p>
            <a:r>
              <a:t>Sources / implementation evidence:</a:t>
            </a:r>
          </a:p>
          <a:p>
            <a:r>
              <a:t>https://nippon-toyota.com/contact-co01b.html</a:t>
            </a:r>
          </a:p>
          <a:p>
            <a:r>
              <a:t>https://www.linkedin.com/company/nippon-toyota-pvt-ltd</a:t>
            </a:r>
          </a:p>
          <a:p>
            <a:r>
              <a:t>https://www.nippon-toyota.com/about-us.html</a:t>
            </a:r>
          </a:p>
          <a:p>
            <a:r>
              <a:t>https://www.nippon-toyota.com/used-cars.html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Paraphrase the published dealer mission: the company places customer satisfaction first and brings sales, service and service parts together for convenience and efficiency. The department activities are a general dealership process explanation, not a claim that this project implements workshop job cards, inventory, finance underwriting or Toyota integrations. The project focuses on customer enquiries, sales follow-ups and complaints.</a:t>
            </a:r>
          </a:p>
          <a:p/>
          <a:p>
            <a:r>
              <a:t>Sources / implementation evidence:</a:t>
            </a:r>
          </a:p>
          <a:p>
            <a:r>
              <a:t>https://www.nippon-toyota.com/cms/about-us/dealer-mission-v1.txt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presenter confirmed this as the internship location. The official location page describes a showroom and service centre at this address. These public photographs show the real Kalamassery facility in 2011 and 2012. They are historical building views, not photographs of the presenter’s desk or the current office interior. If available, replace or supplement them with your own current workplace photographs.</a:t>
            </a:r>
          </a:p>
          <a:p/>
          <a:p>
            <a:r>
              <a:t>Sources / implementation evidence:</a:t>
            </a:r>
          </a:p>
          <a:p>
            <a:r>
              <a:t>https://nippon-toyota.com/contact-co01b.html</a:t>
            </a:r>
          </a:p>
          <a:p>
            <a:r>
              <a:t>https://commons.wikimedia.org/wiki/File:Kalamassery_Toyota_Office.JPG</a:t>
            </a:r>
          </a:p>
          <a:p>
            <a:r>
              <a:t>https://www.flickr.com/photos/sreejithmsivadasan/5974734010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official company site names M. A. M. Babu Moopan as Dealer Principal and Athif Moopan and Naeem Shahul as Directors. The arrangement of branch management and functional departments is an illustrative dealership structure, because an internal organisation chart was not supplied. Do not present the connecting lines as verified reporting relationships. During rehearsal, replace the lower structure with the hierarchy explained during your induction, including your department and reporting mentor.</a:t>
            </a:r>
          </a:p>
          <a:p/>
          <a:p>
            <a:r>
              <a:t>Sources / implementation evidence:</a:t>
            </a:r>
          </a:p>
          <a:p>
            <a:r>
              <a:t>https://www.nippon-toyota.com/cms/about-us/dealer-principal-v1.txt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as internship objectives rather than claims about activities you have already completed. Connect your academic knowledge to a business setting: customer data is useful only if employees can use it to make the next decision. Add the objectives agreed with your mentor and the specific responsibilities allocated to you. Explain how you will show evidence through code, tests, workflows and your weekly diary.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repository’s README, API schema title and frontend package identify Incheon Mobility CRM. A migration seeds River Indie. The code does not establish a corporate relationship between Incheon Mobility, River and Nippon Toyota. Present this as a mobility CRM project worked on during the internship until the official project/client description is confirmed. Do not claim that all repository features were built by one intern or that the company has adopted the full system.</a:t>
            </a:r>
          </a:p>
          <a:p/>
          <a:p>
            <a:r>
              <a:t>Sources / implementation evidence:</a:t>
            </a:r>
          </a:p>
          <a:p>
            <a:r>
              <a:t>README.md</a:t>
            </a:r>
          </a:p>
          <a:p>
            <a:r>
              <a:t>frontend/package.json</a:t>
            </a:r>
          </a:p>
          <a:p>
            <a:r>
              <a:t>backend/leads/migrations/0018_seed_river_indie.py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way to organise the project into an internship narrative. It is not a statement of actual calendar completion. Replace the week count and allocate each feature using your diary, commits and mentor feedback. If the internship was shorter, combine adjacent implementation stages; if longer, split design, testing or deployment. Week 1 remains induction and hierarchy; Week 2 remains research, requirements and follow-up.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requested first week focuses on the introduction to the company and the hierarchy. Explain the difference between sales, customer relations, reception, service and support teams. Add the names of the people you met and the induction activities you actually attended. A useful experience statement, if accurate, is: “I began to understand how employees coordinate around a single customer enquiry.” Do not imply participation in service work or meetings that did not occur.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requested second week focuses on R&amp;D and follow-up. Describe what was researched, which existing process or form you reviewed, and the questions you took back to your mentor. Follow-up here means clarifying requirements as well as understanding customer follow-up operations. Suggested reflection, if accurate: “I learned to ask who performs each action and what happens when the customer does not respond.” Technology comparisons are proposed talking points unless your diary confirms you made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Week 3. Describe how the data model supports the workflow: a lead retains qualification, multiple calls, multiple follow-ups and audit events. The application distinguishes the customer executive from the sales employee. Discuss why sales outcome is separate from the initial contact status. Confirm whether these were design decisions you made or design elements you studied. Cite the models and routes as technical evidence, not as proof that they were completed in this exact week.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Week 4. Explain the three important entry patterns: admin/CE intake, receptionist walk-in capture and SO self-generated enquiries. Admins can allocate fresh leads to customer executives. Qualification then assigns the sales employee. The stored field assigned_so refers to the CE allocation, while assigned_ps refers to PS/SO ownership. This naming detail matters when explaining the implementation. Use a fictional record when demonstrating; describe only the screens or endpoints you actually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Week 5. Follow one lead through qualification, pending sales discussion, booking and retail. Explain that a requested test drive is different from a completed one; the current completion action stores an audited timestamp once. Call outcomes and next follow-up rules keep queues meaningful. A booking does not automatically prove delivery or payment integration. Relate the code to the module you actually worked on and place later additions into their correct internship 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Week 6. Explain how operational exceptions influence software design. Complaints have a separate lifecycle and permissions. Imports need a review stage because a successful upload can still contain invalid rows or duplicates. Staff departure must preserve history while moving active work to another owner or queue. Do not imply that the application deletes historical customer data when an employee account is offboarded. Match the weekly account to your actual contribution and progress.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Week 7. Explain the tests that matter to users: can someone see another employee’s lead, can a manager see another branch, does a repeated test-drive click double count, and do configuration changes preserve historical records? The current verification run belongs to preparation of this presentation, not necessarily to your original Week 7. State that distinction. No production conversion rate or response-time improvement has been measured for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Week 8. The repository includes a Render service definition and Vercel frontend configuration. Describe configuration and deployment work you actually performed. The checked-in Render setup enables eager Celery execution and does not define a worker or scheduler, so do not claim background reminders are live. For handover, explain the need to apply migrations, configure secrets, verify each role and document unresolved items. Add real mentor feedback rather than an invented endorsement.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as project requirements. The repository does not prove the company previously lost enquiries or used a particular spreadsheet, so avoid inventing an as-is failure story. For each requirement, identify a visible behaviour or an API response that can confirm it. These acceptance examples are stronger than unsupported claims of improved sales. Link personal contribution to the requirements you actually handled.</a:t>
            </a:r>
          </a:p>
          <a:p/>
          <a:p>
            <a:r>
              <a:t>Sources / implementation evidence:</a:t>
            </a:r>
          </a:p>
          <a:p>
            <a:r>
              <a:t>backend/leads/views.py</a:t>
            </a:r>
          </a:p>
          <a:p>
            <a:r>
              <a:t>backend/accounts/offboarding.py</a:t>
            </a:r>
          </a:p>
          <a:p>
            <a:r>
              <a:t>backend/uploads/tasks.py</a:t>
            </a:r>
          </a:p>
          <a:p>
            <a:r>
              <a:t>backend/analytics/test_etbr.py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main path from left to right. Admin or CE capture and bulk imports feed the enquiry pool. A CE contacts the customer and qualifies an interested enquiry, retaining the original CE relationship while handing sales work to a PS/SO. The PS/SO records follow-up, booking and retail. Receptionist walk-ins and SO-generated enquiries can enter the sales route directly. A complaint is a separate ticket and is not an automatic transition from a lost lead.</a:t>
            </a:r>
          </a:p>
          <a:p/>
          <a:p>
            <a:r>
              <a:t>Sources / implementation evidence:</a:t>
            </a:r>
          </a:p>
          <a:p>
            <a:r>
              <a:t>backend/leads/views.py</a:t>
            </a:r>
          </a:p>
          <a:p>
            <a:r>
              <a:t>backend/leads/serializers.py</a:t>
            </a:r>
          </a:p>
          <a:p>
            <a:r>
              <a:t>frontend/src/features/leads/sales-workspace.tsx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the company organisation chart with the application permission matrix. The browser chooses the workspace, while the backend enforces authorisation. CE is the display label for the legacy CRE role. Lead queries use assigned_so for CE ownership and assigned_ps for PS/SO. A sales manager without a configured location receives no branch leads. The complaint permission class gives admins list/retrieve access, CE and receptionists create/read access, and the complaints department update and notes access.</a:t>
            </a:r>
          </a:p>
          <a:p/>
          <a:p>
            <a:r>
              <a:t>Sources / implementation evidence:</a:t>
            </a:r>
          </a:p>
          <a:p>
            <a:r>
              <a:t>backend/accounts/models.py</a:t>
            </a:r>
          </a:p>
          <a:p>
            <a:r>
              <a:t>backend/leads/views.py</a:t>
            </a:r>
          </a:p>
          <a:p>
            <a:r>
              <a:t>backend/complaints/permissions.py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manifest uses latest for Next.js, React and TypeScript, so this slide does not invent pinned versions. The backend requirements constrain Django to the 5.2 series and include Django REST Framework, SimpleJWT, Celery, Redis integration, openpyxl, psycopg and Supabase. SQLite is the default local database; DATABASE_URL chooses the deployed database. PostgreSQL is supported by the installed driver, but the live database provider was not inspected. External integrations shown as lead sources are labels, not proof of automatic ingestion.</a:t>
            </a:r>
          </a:p>
          <a:p/>
          <a:p>
            <a:r>
              <a:t>Sources / implementation evidence:</a:t>
            </a:r>
          </a:p>
          <a:p>
            <a:r>
              <a:t>frontend/package.json</a:t>
            </a:r>
          </a:p>
          <a:p>
            <a:r>
              <a:t>backend/requirements.txt</a:t>
            </a:r>
          </a:p>
          <a:p>
            <a:r>
              <a:t>backend/config/settings.py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communicates with Django rather than calling the database directly. Django owns authentication, request validation, record visibility and business transactions. File uploads use Supabase storage when credentials are configured, with a local storage fallback. Analytics can use Redis or local memory. Celery tasks exist, but deployment mode determines whether they run inline or on a worker. Dashed connections identify optional infrastructure, not verified live services.</a:t>
            </a:r>
          </a:p>
          <a:p/>
          <a:p>
            <a:r>
              <a:t>Sources / implementation evidence:</a:t>
            </a:r>
          </a:p>
          <a:p>
            <a:r>
              <a:t>frontend/src/lib/crm.ts</a:t>
            </a:r>
          </a:p>
          <a:p>
            <a:r>
              <a:t>backend/config/settings.py</a:t>
            </a:r>
          </a:p>
          <a:p>
            <a:r>
              <a:t>backend/uploads/storage.py</a:t>
            </a:r>
          </a:p>
          <a:p>
            <a:r>
              <a:t>render.yaml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uses route groups for admin, sales, manager and receptionist screens. Feature directories contain the lead desk, sales workspace, complaints, analytics and team pages. src/lib/crm.ts defines request types and response mappings. The api helper includes credentials, adds CSRF headers for unsafe methods and retries once after a successful refresh response. sessionStorage holds cached user metadata, not the JWT. Backend checks remain necessary even if a link or button is absent from a user’s workspace.</a:t>
            </a:r>
          </a:p>
          <a:p/>
          <a:p>
            <a:r>
              <a:t>Sources / implementation evidence:</a:t>
            </a:r>
          </a:p>
          <a:p>
            <a:r>
              <a:t>frontend/src/lib/crm.ts</a:t>
            </a:r>
          </a:p>
          <a:p>
            <a:r>
              <a:t>frontend/src/components/app-shell.tsx</a:t>
            </a:r>
          </a:p>
          <a:p>
            <a:r>
              <a:t>frontend/src/app</a:t>
            </a:r>
          </a:p>
          <a:p>
            <a:r>
              <a:t>frontend/src/features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Django REST Framework viewsets provide resource endpoints and dedicated actions for behaviours such as qualification, assignment and test-drive completion. Serializers validate configured choices and outcome-specific fields. The action then checks ownership and performs related changes in a transaction. Not every model operation has the same rules, so prefer the dedicated workflow endpoints when explaining business behaviour. drf-spectacular publishes the OpenAPI schema and Swagger UI at /api/schema/ and /api/docs/.</a:t>
            </a:r>
          </a:p>
          <a:p/>
          <a:p>
            <a:r>
              <a:t>Sources / implementation evidence:</a:t>
            </a:r>
          </a:p>
          <a:p>
            <a:r>
              <a:t>backend/config/urls.py</a:t>
            </a:r>
          </a:p>
          <a:p>
            <a:r>
              <a:t>backend/leads/urls.py</a:t>
            </a:r>
          </a:p>
          <a:p>
            <a:r>
              <a:t>backend/leads/serializers.py</a:t>
            </a:r>
          </a:p>
          <a:p>
            <a:r>
              <a:t>backend/leads/views.py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has two lead ownership relationships: assigned_so is the CE and assigned_ps is the sales employee. LeadQualification is optional one-to-one with Lead. A lead can have many call logs, follow-ups and audit events. Complaints can optionally reference a lead and have their own notes. This slide simplifies fields and omits additional actor foreign keys for readability. The appendix lists the other operational entities. Protected references preserve history when an account or lead is involved in audit-related records.</a:t>
            </a:r>
          </a:p>
          <a:p/>
          <a:p>
            <a:r>
              <a:t>Sources / implementation evidence:</a:t>
            </a:r>
          </a:p>
          <a:p>
            <a:r>
              <a:t>backend/accounts/models.py</a:t>
            </a:r>
          </a:p>
          <a:p>
            <a:r>
              <a:t>backend/leads/models.py</a:t>
            </a:r>
          </a:p>
          <a:p>
            <a:r>
              <a:t>backend/complaints/models.py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 model has a numeric primary key and a public UUID. Phone is indexed but not unique, so do not claim database-level duplicate prevention for manual intake. Qualification is a linked entity; historical activity labels remain stored on leads when configurable choices are retired. Indexes combine CE or PS ownership with status, and include source with creation time. The current data model stores timestamps and status snapshots, but does not implement a full event-sourced analytics warehouse.</a:t>
            </a:r>
          </a:p>
          <a:p/>
          <a:p>
            <a:r>
              <a:t>Sources / implementation evidence:</a:t>
            </a:r>
          </a:p>
          <a:p>
            <a:r>
              <a:t>backend/leads/models.py</a:t>
            </a:r>
          </a:p>
          <a:p>
            <a:r>
              <a:t>backend/leads/serializers.py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fresh lead may move through response-related states such as RNR, switched off, callback or pending. For the normal CE route, qualification captures the buying context and assigns the PS/SO. Lost is a reasoned outcome with remarks. The PS/SO has separate sales outcomes: pending, booked, retailed and lost. This diagram shows the main business path rather than every server transition. A completed test drive is a parallel timestamp and does not change lead status, qualification or the open follow-up.</a:t>
            </a:r>
          </a:p>
          <a:p/>
          <a:p>
            <a:r>
              <a:t>Sources / implementation evidence:</a:t>
            </a:r>
          </a:p>
          <a:p>
            <a:r>
              <a:t>backend/leads/views.py</a:t>
            </a:r>
          </a:p>
          <a:p>
            <a:r>
              <a:t>backend/leads/serializers.py</a:t>
            </a:r>
          </a:p>
          <a:p>
            <a:r>
              <a:t>backend/leads/metrics.py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CE update path, the serializer rejects appointments in the past and more than three days ahead. Pending, callback and walk-in outcomes require a next appointment. Other paths have their own validations; do not claim identical validation across every endpoint. When processing due reminders, the task excludes resolved, already notified, held, deleted-lead and inactive-owner items. It records a notification and marks notified_at. A periodic schedule exists in settings, but delivery still needs a running scheduler or equivalent trigger.</a:t>
            </a:r>
          </a:p>
          <a:p/>
          <a:p>
            <a:r>
              <a:t>Sources / implementation evidence:</a:t>
            </a:r>
          </a:p>
          <a:p>
            <a:r>
              <a:t>backend/leads/serializers.py</a:t>
            </a:r>
          </a:p>
          <a:p>
            <a:r>
              <a:t>backend/leads/views.py</a:t>
            </a:r>
          </a:p>
          <a:p>
            <a:r>
              <a:t>backend/notifications/tasks.py</a:t>
            </a:r>
          </a:p>
          <a:p>
            <a:r>
              <a:t>backend/config/settings.py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login endpoint validates credentials and returns user metadata while setting HttpOnly access and refresh cookies. The access lifetime is 15 minutes and refresh lifetime is 7 days. In non-debug mode cookies are Secure and SameSite=None. For cookie-authenticated unsafe requests, CookieJWTAuthentication invokes a CSRF check. Refresh blacklists the old refresh token and issues a new one. These controls do not constitute a full security audit; login and refresh are custom endpoints and should be considered separately during hardening.</a:t>
            </a:r>
          </a:p>
          <a:p/>
          <a:p>
            <a:r>
              <a:t>Sources / implementation evidence:</a:t>
            </a:r>
          </a:p>
          <a:p>
            <a:r>
              <a:t>backend/accounts/authentication.py</a:t>
            </a:r>
          </a:p>
          <a:p>
            <a:r>
              <a:t>backend/accounts/views.py</a:t>
            </a:r>
          </a:p>
          <a:p>
            <a:r>
              <a:t>backend/config/settings.py</a:t>
            </a:r>
          </a:p>
          <a:p>
            <a:r>
              <a:t>frontend/src/lib/crm.ts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transaction atomicity using a lead update: the business status and its related history should either save together or fail together. Row locking helps concurrent operations coordinate where the action uses it. The API config sets anonymous and authenticated throttle rates, but this is not a guarantee against every abuse scenario. CORS is broad for Vercel preview origins in the current configuration, and process-local throttling and live settings deserve deployment review. Never show .env contents or production credentials in the presentation.</a:t>
            </a:r>
          </a:p>
          <a:p/>
          <a:p>
            <a:r>
              <a:t>Sources / implementation evidence:</a:t>
            </a:r>
          </a:p>
          <a:p>
            <a:r>
              <a:t>backend/config/settings.py</a:t>
            </a:r>
          </a:p>
          <a:p>
            <a:r>
              <a:t>backend/leads/views.py</a:t>
            </a:r>
          </a:p>
          <a:p>
            <a:r>
              <a:t>backend/accounts/offboarding.py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admin uploads a CSV or XLSX file through a multipart request. The API checks extension and a 10 MB size limit, stores the file and calls the parsing task. The parser normalises Indian phone numbers and validates name, phone, source, model and dates. It skips matching phone numbers already in the CRM and repeated within the same file by default. UploadRow stores normalised data and validation errors; the admin reviews the summary and commits valid rows in a transaction. The server also contains duplicate-resolution actions beyond the current UI defaults.</a:t>
            </a:r>
          </a:p>
          <a:p/>
          <a:p>
            <a:r>
              <a:t>Sources / implementation evidence:</a:t>
            </a:r>
          </a:p>
          <a:p>
            <a:r>
              <a:t>backend/uploads/views.py</a:t>
            </a:r>
          </a:p>
          <a:p>
            <a:r>
              <a:t>backend/uploads/tasks.py</a:t>
            </a:r>
          </a:p>
          <a:p>
            <a:r>
              <a:t>backend/uploads/models.py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complaints require a category and a matching subtype, alongside customer and issue details. CE and receptionist users can create and view their own tickets; reception complaints default to walk-in. The complaints department handles updates and notes. Admin can review tickets and complaint analytics. Open, in progress, escalated, resolved and closed are model states; this diagram describes the typical workflow rather than a fully enforced transition graph. The subtype list is an intake taxonomy and must not be represented as evidence of actual vehicle defects.</a:t>
            </a:r>
          </a:p>
          <a:p/>
          <a:p>
            <a:r>
              <a:t>Sources / implementation evidence:</a:t>
            </a:r>
          </a:p>
          <a:p>
            <a:r>
              <a:t>backend/complaints/models.py</a:t>
            </a:r>
          </a:p>
          <a:p>
            <a:r>
              <a:t>backend/complaints/serializers.py</a:t>
            </a:r>
          </a:p>
          <a:p>
            <a:r>
              <a:t>backend/complaints/permissions.py</a:t>
            </a:r>
          </a:p>
          <a:p>
            <a:r>
              <a:t>backend/complaints/test_subtypes.py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ETBR counts distinct enquiries within the caller’s authorised and date-filtered cohort. Enquired counts leads. Test Drive Completed counts non-null completion timestamps. Booked includes both BOOKED and RETAILED sales outcomes. Retailed counts only RETAILED. A booked lead can lack a recorded test drive, so do not assume a strictly decreasing funnel across all four values. These are stage counts within an enquiry cohort, not a historical event-timing funnel or measured company performance.</a:t>
            </a:r>
          </a:p>
          <a:p/>
          <a:p>
            <a:r>
              <a:t>Sources / implementation evidence:</a:t>
            </a:r>
          </a:p>
          <a:p>
            <a:r>
              <a:t>backend/leads/metrics.py</a:t>
            </a:r>
          </a:p>
          <a:p>
            <a:r>
              <a:t>backend/analytics/test_etbr.py</a:t>
            </a:r>
          </a:p>
          <a:p>
            <a:r>
              <a:t>frontend/src/components/etbr-tiles.tsx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analytics/cache.py builds a SHA-256 key from endpoint, user identity, role, location and normalised query parameters. This avoids sharing one user’s cached report with another. Only successful responses are cached. CACHE_TTL_SECONDS controls caching; the Render definition sets 50 seconds, while the application default is zero. Cache exceptions produce X-Cache: ERROR and compute the report. The implementation has performance-conscious choices, but no load test or measured speedup is claimed.</a:t>
            </a:r>
          </a:p>
          <a:p/>
          <a:p>
            <a:r>
              <a:t>Sources / implementation evidence:</a:t>
            </a:r>
          </a:p>
          <a:p>
            <a:r>
              <a:t>backend/analytics/cache.py</a:t>
            </a:r>
          </a:p>
          <a:p>
            <a:r>
              <a:t>backend/analytics/views.py</a:t>
            </a:r>
          </a:p>
          <a:p>
            <a:r>
              <a:t>backend/leads/views.py</a:t>
            </a:r>
          </a:p>
          <a:p>
            <a:r>
              <a:t>render.yaml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and PS/SO offboarding is a business workflow rather than a simple user delete. The impact preview includes actionable leads, closed work, follow-ups and relevant complaints. A snapshot version detects stale previews and returns a conflict. Within the transaction, active work is routed to eligible recipients or a reassignment queue; the implementation preserves historical attribution and records lifecycle events. Reminders can be held for admin review. The UI label Permanent Delete corresponds to an application lifecycle action, not physical erasure of every related row.</a:t>
            </a:r>
          </a:p>
          <a:p/>
          <a:p>
            <a:r>
              <a:t>Sources / implementation evidence:</a:t>
            </a:r>
          </a:p>
          <a:p>
            <a:r>
              <a:t>backend/accounts/offboarding.py</a:t>
            </a:r>
          </a:p>
          <a:p>
            <a:r>
              <a:t>backend/accounts/views.py</a:t>
            </a:r>
          </a:p>
          <a:p>
            <a:r>
              <a:t>backend/accounts/models.py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uses NEXT_PUBLIC_API_URL and the project has Vercel deployment metadata. render.yaml defines the Python API service, build script, Gunicorn with Uvicorn worker and /api/schema/ health check. DATABASE_URL and Supabase credentials are configured externally. The current service sets CELERY_TASK_ALWAYS_EAGER=true and does not define a separate worker or beat service. Therefore imports can run inline and automatic due reminders need independent scheduling. No production system or database was queried for this presentation.</a:t>
            </a:r>
          </a:p>
          <a:p/>
          <a:p>
            <a:r>
              <a:t>Sources / implementation evidence:</a:t>
            </a:r>
          </a:p>
          <a:p>
            <a:r>
              <a:t>render.yaml</a:t>
            </a:r>
          </a:p>
          <a:p>
            <a:r>
              <a:t>backend/build.sh</a:t>
            </a:r>
          </a:p>
          <a:p>
            <a:r>
              <a:t>backend/config/settings.py</a:t>
            </a:r>
          </a:p>
          <a:p>
            <a:r>
              <a:t>frontend/src/lib/crm.ts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run passed 102 backend tests in 98.912 seconds with no Django system-check issues. The tests ran against an isolated test database with eager tasks and caching disabled. They test workflow and permission behaviour, including recent intake and ETBR additions. These checks were run for presentation preparation on 11 September 2026 and should not be described as your original internship-week test execution. Frontend static checks confirm type and lint consistency but do not prove that every browser flow or live infrastructure service is working.</a:t>
            </a:r>
          </a:p>
          <a:p/>
          <a:p>
            <a:r>
              <a:t>Sources / implementation evidence:</a:t>
            </a:r>
          </a:p>
          <a:p>
            <a:r>
              <a:t>backend/leads/tests.py</a:t>
            </a:r>
          </a:p>
          <a:p>
            <a:r>
              <a:t>backend/leads/test_intake.py</a:t>
            </a:r>
          </a:p>
          <a:p>
            <a:r>
              <a:t>backend/analytics/test_etbr.py</a:t>
            </a:r>
          </a:p>
          <a:p>
            <a:r>
              <a:t>backend/complaints/test_subtypes.py</a:t>
            </a:r>
          </a:p>
          <a:p>
            <a:r>
              <a:t>backend/accounts/tests.py</a:t>
            </a:r>
          </a:p>
          <a:p>
            <a:r>
              <a: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challenges are supported by implementation choices, but the code cannot establish which difficulties you personally experienced. Replace one or two rows with real examples: the trigger, what you saw, how you diagnosed it, what you changed and how you verified the result. Avoid claiming you independently solved a team problem unless that is accurate. Useful evidence includes the commit, test case and mentor review associated with the change.</a:t>
            </a:r>
          </a:p>
          <a:p/>
          <a:p>
            <a:r>
              <a:t>Sources / implementation evidence:</a:t>
            </a:r>
          </a:p>
          <a:p>
            <a:r>
              <a:t>backend/leads/views.py</a:t>
            </a:r>
          </a:p>
          <a:p>
            <a:r>
              <a:t>backend/uploads/tasks.py</a:t>
            </a:r>
          </a:p>
          <a:p>
            <a:r>
              <a:t>backend/accounts/offboarding.py</a:t>
            </a:r>
          </a:p>
          <a:p>
            <a:r>
              <a:t>backend/analytics/cache.py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first-person wording, use only if accurate: “At the beginning, I focused on the screens. As I understood the workflow, I started asking who owns each enquiry and what action should happen next.” Another option: “R&amp;D helped me turn a general request into specific fields, permissions and validation rules.” Add a real event, the people involved by role and the resulting lesson. The presenter has not supplied personal anecdotes, so this slide intentionally uses prompts rather than invented experiences.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defensible outcome is a working implementation represented by code and tests, not a claimed percentage improvement in company sales or employee productivity. Identify the portion you personally delivered. Remaining work includes live acceptance across roles, deployment verification, reminder scheduling and measurement of actual operational outcomes. Other potential extensions include narrower production origins, export and reporting improvements, validated source integrations and accessibility/browser review. Present them as future work, not completed features.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 a fictional customer record and use separate browser profiles for different roles because login cookies are shared between tabs in one profile. Start with configured branch names, active staff, model and source values. After each handoff, refresh the receiving queue and show the same lead identifier. Do not read real customer details aloud. If a live environment is unavailable, use the editable workflow diagrams and narrate the expected action and evidence rather than claiming a live demonstration occurred.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connecting the internship to your learning: understanding dealership operations, translating responsibilities into software rules, and checking those rules with evidence. Thank your actual company mentor, college guide and colleagues by name only after confirming the details. Invite questions about the workflow, architecture, database and the specific modules you contributed to. The following appendix supports a more detailed technical viva.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 routes are registered through Django REST Framework routers, while auth and analytics include explicit paths. Endpoint naming retains earlier terminology: so-update handles the dedicated business update route even though CE and PS/SO are separate user roles. Explain request validation, authentication and scope before discussing the result. Status codes include 400 for validation errors, 401 for missing/invalid authentication, 403 for forbidden actions, 404 for objects outside a filtered queryset and 409 for stale offboarding snapshots.</a:t>
            </a:r>
          </a:p>
          <a:p/>
          <a:p>
            <a:r>
              <a:t>Sources / implementation evidence:</a:t>
            </a:r>
          </a:p>
          <a:p>
            <a:r>
              <a:t>backend/config/urls.py</a:t>
            </a:r>
          </a:p>
          <a:p>
            <a:r>
              <a:t>backend/leads/urls.py</a:t>
            </a:r>
          </a:p>
          <a:p>
            <a:r>
              <a:t>backend/accounts/urls.py</a:t>
            </a:r>
          </a:p>
          <a:p>
            <a:r>
              <a:t>backend/uploads/urls.py</a:t>
            </a:r>
          </a:p>
          <a:p>
            <a:r>
              <a:t>backend/analytics/urls.py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Django migrations evolve the schema. Optional or nullable fields support existing records while newer serializers enforce requirements for new submissions. UserLifecycleEvent protects the target user relation; several author references use PROTECT so historical records retain their identity. Other optional relationships use SET_NULL. Distinguish a historical audit record from a backup: audits do not replace database backup, recovery and retention procedures. Those operational procedures were not verified.</a:t>
            </a:r>
          </a:p>
          <a:p/>
          <a:p>
            <a:r>
              <a:t>Sources / implementation evidence:</a:t>
            </a:r>
          </a:p>
          <a:p>
            <a:r>
              <a:t>backend/uploads/models.py</a:t>
            </a:r>
          </a:p>
          <a:p>
            <a:r>
              <a:t>backend/complaints/models.py</a:t>
            </a:r>
          </a:p>
          <a:p>
            <a:r>
              <a:t>backend/notifications/models.py</a:t>
            </a:r>
          </a:p>
          <a:p>
            <a:r>
              <a:t>backend/accounts/models.py</a:t>
            </a:r>
          </a:p>
          <a:p>
            <a:r>
              <a:t>backend/leads/models.py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as starting points and answer in your own words. When asked about framework choice, connect the choice to forms, APIs, authorisation and relational data rather than generic popularity. When asked about security, explain the exact controls and acknowledge review limits. When asked what you built, state only your verified contribution. When asked about database deployment, distinguish SQLite defaults, PostgreSQL support and the actual provider, which has not been inspected.</a:t>
            </a:r>
          </a:p>
          <a:p/>
          <a:p>
            <a:r>
              <a:t>Sources / implementation evidence:</a:t>
            </a:r>
          </a:p>
          <a:p>
            <a:r>
              <a:t>backend/config/settings.py</a:t>
            </a:r>
          </a:p>
          <a:p>
            <a:r>
              <a:t>backend/leads/views.py</a:t>
            </a:r>
          </a:p>
          <a:p>
            <a:r>
              <a:t>backend/uploads/tasks.py</a:t>
            </a:r>
          </a:p>
          <a:p>
            <a:r>
              <a:t>render.yaml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URLs and photo licensing details are supplied in Sources_and_Customisation.md and embedded in the notes. The Wikimedia photograph is licensed CC BY-SA 3.0: credit Ranjithsiji, link the source and licence, and retain the licence for any adapted version. It is placed unmodified in this presentation. The Flickr photograph retains its photographer’s copyright; public availability is not an open licence. Seek the owner’s permission or replace it with a personal/licensed image before public redistribution. Neither photograph is a current office-interior record.</a:t>
            </a:r>
          </a:p>
          <a:p/>
          <a:p>
            <a:r>
              <a:t>Sources / implementation evidence:</a:t>
            </a:r>
          </a:p>
          <a:p>
            <a:r>
              <a:t>https://www.nippon-toyota.com/about-us.html</a:t>
            </a:r>
          </a:p>
          <a:p>
            <a:r>
              <a:t>https://www.nippon-toyota.com/cms/about-us/dealer-principal-v1.txt</a:t>
            </a:r>
          </a:p>
          <a:p>
            <a:r>
              <a:t>https://www.nippon-toyota.com/cms/about-us/dealer-mission-v1.txt</a:t>
            </a:r>
          </a:p>
          <a:p>
            <a:r>
              <a:t>https://nippon-toyota.com/contact-co01b.html</a:t>
            </a:r>
          </a:p>
          <a:p>
            <a:r>
              <a:t>https://www.linkedin.com/company/nippon-toyota-pvt-ltd</a:t>
            </a:r>
          </a:p>
          <a:p>
            <a:r>
              <a:t>https://www.nippon-toyota.com/used-cars.html</a:t>
            </a:r>
          </a:p>
          <a:p>
            <a:r>
              <a:t>https://commons.wikimedia.org/wiki/File:Kalamassery_Toyota_Office.JPG</a:t>
            </a:r>
          </a:p>
          <a:p>
            <a:r>
              <a:t>https://www.flickr.com/photos/sreejithmsivadasan/5974734010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INTERNSHIP PRESENTATION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FFFFFF"/>
                </a:solidFill>
                <a:latin typeface="Lato"/>
              </a:defRPr>
            </a:pPr>
            <a:r>
              <a:t>Internship at Nippon Toyota</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DADDDC"/>
                </a:solidFill>
                <a:latin typeface="Lato"/>
              </a:defRPr>
            </a:pPr>
            <a:r>
              <a:t>Kalamassery showroom, Kochi, Kerala</a:t>
            </a:r>
          </a:p>
        </p:txBody>
      </p:sp>
      <p:cxnSp>
        <p:nvCxnSpPr>
          <p:cNvPr id="6" name="Connector 5"/>
          <p:cNvCxnSpPr/>
          <p:nvPr/>
        </p:nvCxnSpPr>
        <p:spPr>
          <a:xfrm>
            <a:off x="548640" y="6318504"/>
            <a:ext cx="11082528" cy="0"/>
          </a:xfrm>
          <a:prstGeom prst="line">
            <a:avLst/>
          </a:prstGeom>
          <a:ln w="12700">
            <a:solidFill>
              <a:srgbClr val="26333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DADDDC"/>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01</a:t>
            </a:r>
          </a:p>
        </p:txBody>
      </p:sp>
      <p:sp>
        <p:nvSpPr>
          <p:cNvPr id="9" name="TextBox 8"/>
          <p:cNvSpPr txBox="1"/>
          <p:nvPr/>
        </p:nvSpPr>
        <p:spPr>
          <a:xfrm>
            <a:off x="621792" y="2514600"/>
            <a:ext cx="5669280" cy="1234440"/>
          </a:xfrm>
          <a:prstGeom prst="rect">
            <a:avLst/>
          </a:prstGeom>
          <a:noFill/>
        </p:spPr>
        <p:txBody>
          <a:bodyPr wrap="square" lIns="0" rIns="0" tIns="0" bIns="0">
            <a:spAutoFit/>
          </a:bodyPr>
          <a:lstStyle/>
          <a:p>
            <a:pPr>
              <a:spcAft>
                <a:spcPts val="700"/>
              </a:spcAft>
              <a:defRPr sz="3700" b="1">
                <a:solidFill>
                  <a:srgbClr val="FFFFFF"/>
                </a:solidFill>
                <a:latin typeface="Lato"/>
              </a:defRPr>
            </a:pPr>
            <a:r>
              <a:t>Mobility CRM</a:t>
            </a:r>
          </a:p>
          <a:p>
            <a:pPr>
              <a:spcAft>
                <a:spcPts val="700"/>
              </a:spcAft>
              <a:defRPr sz="3700" b="1">
                <a:solidFill>
                  <a:srgbClr val="FFFFFF"/>
                </a:solidFill>
                <a:latin typeface="Lato"/>
              </a:defRPr>
            </a:pPr>
            <a:r>
              <a:t>Development &amp; Learning</a:t>
            </a:r>
          </a:p>
        </p:txBody>
      </p:sp>
      <p:sp>
        <p:nvSpPr>
          <p:cNvPr id="10" name="TextBox 9"/>
          <p:cNvSpPr txBox="1"/>
          <p:nvPr/>
        </p:nvSpPr>
        <p:spPr>
          <a:xfrm>
            <a:off x="640080" y="4087368"/>
            <a:ext cx="5394960" cy="1069848"/>
          </a:xfrm>
          <a:prstGeom prst="rect">
            <a:avLst/>
          </a:prstGeom>
          <a:noFill/>
        </p:spPr>
        <p:txBody>
          <a:bodyPr wrap="square" lIns="0" rIns="0" tIns="0" bIns="0">
            <a:spAutoFit/>
          </a:bodyPr>
          <a:lstStyle/>
          <a:p>
            <a:pPr>
              <a:spcAft>
                <a:spcPts val="700"/>
              </a:spcAft>
              <a:defRPr sz="1700" b="0">
                <a:solidFill>
                  <a:srgbClr val="DADDDC"/>
                </a:solidFill>
                <a:latin typeface="Lato"/>
              </a:defRPr>
            </a:pPr>
            <a:r>
              <a:t>[Your name]  |  [Register number]</a:t>
            </a:r>
          </a:p>
          <a:p>
            <a:pPr>
              <a:spcAft>
                <a:spcPts val="700"/>
              </a:spcAft>
              <a:defRPr sz="1700" b="0">
                <a:solidFill>
                  <a:srgbClr val="DADDDC"/>
                </a:solidFill>
                <a:latin typeface="Lato"/>
              </a:defRPr>
            </a:pPr>
            <a:r>
              <a:t>[Course and college]</a:t>
            </a:r>
          </a:p>
          <a:p>
            <a:pPr>
              <a:spcAft>
                <a:spcPts val="700"/>
              </a:spcAft>
              <a:defRPr sz="1700" b="0">
                <a:solidFill>
                  <a:srgbClr val="DADDDC"/>
                </a:solidFill>
                <a:latin typeface="Lato"/>
              </a:defRPr>
            </a:pPr>
            <a:r>
              <a:t>[Internship dates]  |  [Mentor]</a:t>
            </a:r>
          </a:p>
        </p:txBody>
      </p:sp>
      <p:pic>
        <p:nvPicPr>
          <p:cNvPr id="11" name="Picture 10" descr="kalamassery-showroom-2012.jpg"/>
          <p:cNvPicPr>
            <a:picLocks noChangeAspect="1"/>
          </p:cNvPicPr>
          <p:nvPr/>
        </p:nvPicPr>
        <p:blipFill>
          <a:blip r:embed="rId2"/>
          <a:stretch>
            <a:fillRect/>
          </a:stretch>
        </p:blipFill>
        <p:spPr>
          <a:xfrm>
            <a:off x="6858000" y="2331720"/>
            <a:ext cx="4462272" cy="3346704"/>
          </a:xfrm>
          <a:prstGeom prst="rect">
            <a:avLst/>
          </a:prstGeom>
        </p:spPr>
      </p:pic>
      <p:sp>
        <p:nvSpPr>
          <p:cNvPr id="12" name="TextBox 11"/>
          <p:cNvSpPr txBox="1"/>
          <p:nvPr/>
        </p:nvSpPr>
        <p:spPr>
          <a:xfrm>
            <a:off x="6675120" y="5843016"/>
            <a:ext cx="4754880" cy="219456"/>
          </a:xfrm>
          <a:prstGeom prst="rect">
            <a:avLst/>
          </a:prstGeom>
          <a:noFill/>
        </p:spPr>
        <p:txBody>
          <a:bodyPr wrap="square" lIns="0" rIns="0" tIns="0" bIns="0">
            <a:spAutoFit/>
          </a:bodyPr>
          <a:lstStyle/>
          <a:p>
            <a:pPr>
              <a:spcAft>
                <a:spcPts val="700"/>
              </a:spcAft>
              <a:defRPr sz="1000" b="0">
                <a:solidFill>
                  <a:srgbClr val="DADDDC"/>
                </a:solidFill>
                <a:latin typeface="Lato"/>
              </a:defRPr>
            </a:pPr>
            <a:r>
              <a:t>Kalamassery, 2012 • Ranjithsiji • CC BY-SA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OVERVIEW</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Presentation route</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Company context → weekly progress → technical work → learning</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02</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Workplace</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Company profile</a:t>
            </a:r>
          </a:p>
          <a:p>
            <a:pPr>
              <a:spcAft>
                <a:spcPts val="700"/>
              </a:spcAft>
              <a:defRPr sz="1800" b="0">
                <a:solidFill>
                  <a:srgbClr val="172028"/>
                </a:solidFill>
                <a:latin typeface="Lato"/>
              </a:defRPr>
            </a:pPr>
            <a:r>
              <a:t>Kalamassery showroom</a:t>
            </a:r>
          </a:p>
          <a:p>
            <a:pPr>
              <a:spcAft>
                <a:spcPts val="700"/>
              </a:spcAft>
              <a:defRPr sz="1800" b="0">
                <a:solidFill>
                  <a:srgbClr val="172028"/>
                </a:solidFill>
                <a:latin typeface="Lato"/>
              </a:defRPr>
            </a:pPr>
            <a:r>
              <a:t>Leadership and departments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journey</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Week 1: induction</a:t>
            </a:r>
          </a:p>
          <a:p>
            <a:pPr>
              <a:spcAft>
                <a:spcPts val="700"/>
              </a:spcAft>
              <a:defRPr sz="1800" b="0">
                <a:solidFill>
                  <a:srgbClr val="172028"/>
                </a:solidFill>
                <a:latin typeface="Lato"/>
              </a:defRPr>
            </a:pPr>
            <a:r>
              <a:t>Week 2: R&amp;D</a:t>
            </a:r>
          </a:p>
          <a:p>
            <a:pPr>
              <a:spcAft>
                <a:spcPts val="700"/>
              </a:spcAft>
              <a:defRPr sz="1800" b="0">
                <a:solidFill>
                  <a:srgbClr val="172028"/>
                </a:solidFill>
                <a:latin typeface="Lato"/>
              </a:defRPr>
            </a:pPr>
            <a:r>
              <a:t>Weeks 3–8: project stages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Project and learning</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Workflows and architecture</a:t>
            </a:r>
          </a:p>
          <a:p>
            <a:pPr>
              <a:spcAft>
                <a:spcPts val="700"/>
              </a:spcAft>
              <a:defRPr sz="1800" b="0">
                <a:solidFill>
                  <a:srgbClr val="172028"/>
                </a:solidFill>
                <a:latin typeface="Lato"/>
              </a:defRPr>
            </a:pPr>
            <a:r>
              <a:t>Database, APIs and security</a:t>
            </a:r>
          </a:p>
          <a:p>
            <a:pPr>
              <a:spcAft>
                <a:spcPts val="700"/>
              </a:spcAft>
              <a:defRPr sz="1800" b="0">
                <a:solidFill>
                  <a:srgbClr val="172028"/>
                </a:solidFill>
                <a:latin typeface="Lato"/>
              </a:defRPr>
            </a:pPr>
            <a:r>
              <a:t>Testing, challenges and reflection</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Timeline basis: eight-week draft; replace with your actual internship dates and diary entries.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COMPANY</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Nippon Toyota: company profile</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Internship host: Nippon Toyota | Legal entity listed: Nippon Motor Corporation Pvt. Ltd.</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03</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Automotive retail</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Toyota dealership operations</a:t>
            </a:r>
          </a:p>
          <a:p>
            <a:pPr>
              <a:spcAft>
                <a:spcPts val="700"/>
              </a:spcAft>
              <a:defRPr sz="1800" b="0">
                <a:solidFill>
                  <a:srgbClr val="172028"/>
                </a:solidFill>
                <a:latin typeface="Lato"/>
              </a:defRPr>
            </a:pPr>
            <a:r>
              <a:t>Vehicle sales, servicing and spares</a:t>
            </a:r>
          </a:p>
          <a:p>
            <a:pPr>
              <a:spcAft>
                <a:spcPts val="700"/>
              </a:spcAft>
              <a:defRPr sz="1800" b="0">
                <a:solidFill>
                  <a:srgbClr val="172028"/>
                </a:solidFill>
                <a:latin typeface="Lato"/>
              </a:defRPr>
            </a:pPr>
            <a:r>
              <a:t>Customer relationships across the ownership cycle</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History and presence</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Company LinkedIn profile lists establishment on 27 January 2000</a:t>
            </a:r>
          </a:p>
          <a:p>
            <a:pPr>
              <a:spcAft>
                <a:spcPts val="700"/>
              </a:spcAft>
              <a:defRPr sz="1800" b="0">
                <a:solidFill>
                  <a:srgbClr val="172028"/>
                </a:solidFill>
                <a:latin typeface="Lato"/>
              </a:defRPr>
            </a:pPr>
            <a:r>
              <a:t>Locations across Kerala</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Customer support</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Sales and after-sales services</a:t>
            </a:r>
          </a:p>
          <a:p>
            <a:pPr>
              <a:spcAft>
                <a:spcPts val="700"/>
              </a:spcAft>
              <a:defRPr sz="1800" b="0">
                <a:solidFill>
                  <a:srgbClr val="172028"/>
                </a:solidFill>
                <a:latin typeface="Lato"/>
              </a:defRPr>
            </a:pPr>
            <a:r>
              <a:t>Finance and insurance information</a:t>
            </a:r>
          </a:p>
          <a:p>
            <a:pPr>
              <a:spcAft>
                <a:spcPts val="700"/>
              </a:spcAft>
              <a:defRPr sz="1800" b="0">
                <a:solidFill>
                  <a:srgbClr val="172028"/>
                </a:solidFill>
                <a:latin typeface="Lato"/>
              </a:defRPr>
            </a:pPr>
            <a:r>
              <a:t>Used-car offering through Nippon U Trust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COMPANY</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Customer service shapes the work</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The published mission prioritises customer satisfaction and integrated sales, service and parts.</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04</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Sales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Understand an enquiry</a:t>
            </a:r>
          </a:p>
          <a:p>
            <a:pPr>
              <a:spcAft>
                <a:spcPts val="700"/>
              </a:spcAft>
              <a:defRPr sz="1800" b="0">
                <a:solidFill>
                  <a:srgbClr val="172028"/>
                </a:solidFill>
                <a:latin typeface="Lato"/>
              </a:defRPr>
            </a:pPr>
            <a:r>
              <a:t>Explain the vehicle and purchase options</a:t>
            </a:r>
          </a:p>
          <a:p>
            <a:pPr>
              <a:spcAft>
                <a:spcPts val="700"/>
              </a:spcAft>
              <a:defRPr sz="1800" b="0">
                <a:solidFill>
                  <a:srgbClr val="172028"/>
                </a:solidFill>
                <a:latin typeface="Lato"/>
              </a:defRPr>
            </a:pPr>
            <a:r>
              <a:t>Coordinate test drive, booking and delivery</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Service and spares</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Receive service requests</a:t>
            </a:r>
          </a:p>
          <a:p>
            <a:pPr>
              <a:spcAft>
                <a:spcPts val="700"/>
              </a:spcAft>
              <a:defRPr sz="1800" b="0">
                <a:solidFill>
                  <a:srgbClr val="172028"/>
                </a:solidFill>
                <a:latin typeface="Lato"/>
              </a:defRPr>
            </a:pPr>
            <a:r>
              <a:t>Coordinate maintenance and parts</a:t>
            </a:r>
          </a:p>
          <a:p>
            <a:pPr>
              <a:spcAft>
                <a:spcPts val="700"/>
              </a:spcAft>
              <a:defRPr sz="1800" b="0">
                <a:solidFill>
                  <a:srgbClr val="172028"/>
                </a:solidFill>
                <a:latin typeface="Lato"/>
              </a:defRPr>
            </a:pPr>
            <a:r>
              <a:t>Record issues and follow through</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CRM relevance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Keep customer context available</a:t>
            </a:r>
          </a:p>
          <a:p>
            <a:pPr>
              <a:spcAft>
                <a:spcPts val="700"/>
              </a:spcAft>
              <a:defRPr sz="1800" b="0">
                <a:solidFill>
                  <a:srgbClr val="172028"/>
                </a:solidFill>
                <a:latin typeface="Lato"/>
              </a:defRPr>
            </a:pPr>
            <a:r>
              <a:t>Assign a responsible employee</a:t>
            </a:r>
          </a:p>
          <a:p>
            <a:pPr>
              <a:spcAft>
                <a:spcPts val="700"/>
              </a:spcAft>
              <a:defRPr sz="1800" b="0">
                <a:solidFill>
                  <a:srgbClr val="172028"/>
                </a:solidFill>
                <a:latin typeface="Lato"/>
              </a:defRPr>
            </a:pPr>
            <a:r>
              <a:t>Record the next action and outcome</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Project boundary: enquiry and complaint operations; vehicle inventory and workshop billing are outside this repository.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WORKPLACE</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My workplace: Kalamassery showroom</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Nippon Towers, NH 47, HMT Junction, Kalamassery P.O., Ernakulam, Cochin 683104</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05</a:t>
            </a:r>
          </a:p>
        </p:txBody>
      </p:sp>
      <p:pic>
        <p:nvPicPr>
          <p:cNvPr id="9" name="Picture 8" descr="kalamassery-showroom-2012.jpg"/>
          <p:cNvPicPr>
            <a:picLocks noChangeAspect="1"/>
          </p:cNvPicPr>
          <p:nvPr/>
        </p:nvPicPr>
        <p:blipFill>
          <a:blip r:embed="rId2"/>
          <a:stretch>
            <a:fillRect/>
          </a:stretch>
        </p:blipFill>
        <p:spPr>
          <a:xfrm>
            <a:off x="1136903" y="2212848"/>
            <a:ext cx="4364736" cy="3273552"/>
          </a:xfrm>
          <a:prstGeom prst="rect">
            <a:avLst/>
          </a:prstGeom>
        </p:spPr>
      </p:pic>
      <p:pic>
        <p:nvPicPr>
          <p:cNvPr id="10" name="Picture 9" descr="kalamassery-showroom-2011.jpg"/>
          <p:cNvPicPr>
            <a:picLocks noChangeAspect="1"/>
          </p:cNvPicPr>
          <p:nvPr/>
        </p:nvPicPr>
        <p:blipFill>
          <a:blip r:embed="rId3"/>
          <a:stretch>
            <a:fillRect/>
          </a:stretch>
        </p:blipFill>
        <p:spPr>
          <a:xfrm>
            <a:off x="6778752" y="2212848"/>
            <a:ext cx="4364736" cy="3273552"/>
          </a:xfrm>
          <a:prstGeom prst="rect">
            <a:avLst/>
          </a:prstGeom>
        </p:spPr>
      </p:pic>
      <p:sp>
        <p:nvSpPr>
          <p:cNvPr id="11" name="TextBox 10"/>
          <p:cNvSpPr txBox="1"/>
          <p:nvPr/>
        </p:nvSpPr>
        <p:spPr>
          <a:xfrm>
            <a:off x="630936" y="5550408"/>
            <a:ext cx="5394960" cy="201168"/>
          </a:xfrm>
          <a:prstGeom prst="rect">
            <a:avLst/>
          </a:prstGeom>
          <a:noFill/>
        </p:spPr>
        <p:txBody>
          <a:bodyPr wrap="square" lIns="0" rIns="0" tIns="0" bIns="0">
            <a:spAutoFit/>
          </a:bodyPr>
          <a:lstStyle/>
          <a:p>
            <a:pPr>
              <a:spcAft>
                <a:spcPts val="700"/>
              </a:spcAft>
              <a:defRPr sz="900" b="0">
                <a:solidFill>
                  <a:srgbClr val="59636A"/>
                </a:solidFill>
                <a:latin typeface="Lato"/>
              </a:defRPr>
            </a:pPr>
            <a:r>
              <a:t>13 Mar 2012 • Ranjithsiji • Wikimedia Commons • CC BY-SA 3.0</a:t>
            </a:r>
          </a:p>
        </p:txBody>
      </p:sp>
      <p:sp>
        <p:nvSpPr>
          <p:cNvPr id="12" name="TextBox 11"/>
          <p:cNvSpPr txBox="1"/>
          <p:nvPr/>
        </p:nvSpPr>
        <p:spPr>
          <a:xfrm>
            <a:off x="6364224" y="5550408"/>
            <a:ext cx="5166360" cy="201168"/>
          </a:xfrm>
          <a:prstGeom prst="rect">
            <a:avLst/>
          </a:prstGeom>
          <a:noFill/>
        </p:spPr>
        <p:txBody>
          <a:bodyPr wrap="square" lIns="0" rIns="0" tIns="0" bIns="0">
            <a:spAutoFit/>
          </a:bodyPr>
          <a:lstStyle/>
          <a:p>
            <a:pPr>
              <a:spcAft>
                <a:spcPts val="700"/>
              </a:spcAft>
              <a:defRPr sz="900" b="0">
                <a:solidFill>
                  <a:srgbClr val="59636A"/>
                </a:solidFill>
                <a:latin typeface="Lato"/>
              </a:defRPr>
            </a:pPr>
            <a:r>
              <a:t>22 Jul 2011 • Sreejith Sivadasan • Flickr • All rights reserved</a:t>
            </a:r>
          </a:p>
        </p:txBody>
      </p:sp>
      <p:sp>
        <p:nvSpPr>
          <p:cNvPr id="13" name="TextBox 12"/>
          <p:cNvSpPr txBox="1"/>
          <p:nvPr/>
        </p:nvSpPr>
        <p:spPr>
          <a:xfrm>
            <a:off x="640080" y="5934456"/>
            <a:ext cx="10789920" cy="219456"/>
          </a:xfrm>
          <a:prstGeom prst="rect">
            <a:avLst/>
          </a:prstGeom>
          <a:noFill/>
        </p:spPr>
        <p:txBody>
          <a:bodyPr wrap="square" lIns="0" rIns="0" tIns="0" bIns="0">
            <a:spAutoFit/>
          </a:bodyPr>
          <a:lstStyle/>
          <a:p>
            <a:pPr>
              <a:spcAft>
                <a:spcPts val="700"/>
              </a:spcAft>
              <a:defRPr sz="1100" b="1">
                <a:solidFill>
                  <a:srgbClr val="C8202F"/>
                </a:solidFill>
                <a:latin typeface="Lato"/>
              </a:defRPr>
            </a:pPr>
            <a:r>
              <a:t>Historical exterior photographs. Current office and personal workplace photographs have not been supplied.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 1 | COMPANY ORIENTATION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Company leadership and departmental hierarchy</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Published leadership above; illustrative departmental reporting structure below.</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06</a:t>
            </a:r>
          </a:p>
        </p:txBody>
      </p:sp>
      <p:sp>
        <p:nvSpPr>
          <p:cNvPr id="9" name="Rectangle 8"/>
          <p:cNvSpPr/>
          <p:nvPr/>
        </p:nvSpPr>
        <p:spPr>
          <a:xfrm>
            <a:off x="3685032" y="2194560"/>
            <a:ext cx="4818888" cy="9326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13048" y="2313432"/>
            <a:ext cx="4562855"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M. A. M. Babu Moopan</a:t>
            </a:r>
          </a:p>
        </p:txBody>
      </p:sp>
      <p:sp>
        <p:nvSpPr>
          <p:cNvPr id="11" name="TextBox 10"/>
          <p:cNvSpPr txBox="1"/>
          <p:nvPr/>
        </p:nvSpPr>
        <p:spPr>
          <a:xfrm>
            <a:off x="3813048" y="2743200"/>
            <a:ext cx="4562855" cy="3566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Dealer Principal</a:t>
            </a:r>
          </a:p>
        </p:txBody>
      </p:sp>
      <p:sp>
        <p:nvSpPr>
          <p:cNvPr id="12" name="Rectangle 11"/>
          <p:cNvSpPr/>
          <p:nvPr/>
        </p:nvSpPr>
        <p:spPr>
          <a:xfrm>
            <a:off x="685800" y="3401568"/>
            <a:ext cx="3127248" cy="91440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3520440"/>
            <a:ext cx="2871215"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Athif Moopan</a:t>
            </a:r>
          </a:p>
        </p:txBody>
      </p:sp>
      <p:sp>
        <p:nvSpPr>
          <p:cNvPr id="14" name="TextBox 13"/>
          <p:cNvSpPr txBox="1"/>
          <p:nvPr/>
        </p:nvSpPr>
        <p:spPr>
          <a:xfrm>
            <a:off x="813816" y="3950208"/>
            <a:ext cx="2871215" cy="33832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Director</a:t>
            </a:r>
          </a:p>
        </p:txBody>
      </p:sp>
      <p:sp>
        <p:nvSpPr>
          <p:cNvPr id="15" name="Rectangle 14"/>
          <p:cNvSpPr/>
          <p:nvPr/>
        </p:nvSpPr>
        <p:spPr>
          <a:xfrm>
            <a:off x="8366760" y="3401568"/>
            <a:ext cx="3127248" cy="91440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94776" y="3520440"/>
            <a:ext cx="2871215"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Naeem Shahul</a:t>
            </a:r>
          </a:p>
        </p:txBody>
      </p:sp>
      <p:sp>
        <p:nvSpPr>
          <p:cNvPr id="17" name="TextBox 16"/>
          <p:cNvSpPr txBox="1"/>
          <p:nvPr/>
        </p:nvSpPr>
        <p:spPr>
          <a:xfrm>
            <a:off x="8494776" y="3950208"/>
            <a:ext cx="2871215" cy="33832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Director</a:t>
            </a:r>
          </a:p>
        </p:txBody>
      </p:sp>
      <p:sp>
        <p:nvSpPr>
          <p:cNvPr id="18" name="Rectangle 17"/>
          <p:cNvSpPr/>
          <p:nvPr/>
        </p:nvSpPr>
        <p:spPr>
          <a:xfrm>
            <a:off x="4169663" y="3401568"/>
            <a:ext cx="3840480" cy="91440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79" y="3520440"/>
            <a:ext cx="358444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Branch / showroom management</a:t>
            </a:r>
          </a:p>
        </p:txBody>
      </p:sp>
      <p:sp>
        <p:nvSpPr>
          <p:cNvPr id="20" name="TextBox 19"/>
          <p:cNvSpPr txBox="1"/>
          <p:nvPr/>
        </p:nvSpPr>
        <p:spPr>
          <a:xfrm>
            <a:off x="4297679" y="3950208"/>
            <a:ext cx="3584448" cy="33832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Illustrative reporting layer</a:t>
            </a:r>
          </a:p>
        </p:txBody>
      </p:sp>
      <p:cxnSp>
        <p:nvCxnSpPr>
          <p:cNvPr id="21" name="Connector 20"/>
          <p:cNvCxnSpPr/>
          <p:nvPr/>
        </p:nvCxnSpPr>
        <p:spPr>
          <a:xfrm>
            <a:off x="6089904" y="3127248"/>
            <a:ext cx="0" cy="274320"/>
          </a:xfrm>
          <a:prstGeom prst="line">
            <a:avLst/>
          </a:prstGeom>
          <a:ln w="19050">
            <a:solidFill>
              <a:srgbClr val="59636A"/>
            </a:solidFill>
            <a:prstDash val="dash"/>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85800" y="4626864"/>
            <a:ext cx="3502152" cy="91440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4745736"/>
            <a:ext cx="3246120"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Sales / CRM</a:t>
            </a:r>
          </a:p>
        </p:txBody>
      </p:sp>
      <p:sp>
        <p:nvSpPr>
          <p:cNvPr id="24" name="TextBox 23"/>
          <p:cNvSpPr txBox="1"/>
          <p:nvPr/>
        </p:nvSpPr>
        <p:spPr>
          <a:xfrm>
            <a:off x="813816" y="5175503"/>
            <a:ext cx="3246120" cy="33832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Sales team · CE · reception</a:t>
            </a:r>
          </a:p>
        </p:txBody>
      </p:sp>
      <p:cxnSp>
        <p:nvCxnSpPr>
          <p:cNvPr id="25" name="Connector 24"/>
          <p:cNvCxnSpPr/>
          <p:nvPr/>
        </p:nvCxnSpPr>
        <p:spPr>
          <a:xfrm flipH="1">
            <a:off x="2432304" y="4315968"/>
            <a:ext cx="3657600" cy="310896"/>
          </a:xfrm>
          <a:prstGeom prst="line">
            <a:avLst/>
          </a:prstGeom>
          <a:ln w="19050">
            <a:solidFill>
              <a:srgbClr val="59636A"/>
            </a:solidFill>
            <a:prstDash val="dash"/>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507992" y="4626864"/>
            <a:ext cx="3502152" cy="91440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6007" y="4745736"/>
            <a:ext cx="3246120"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Service / spares</a:t>
            </a:r>
          </a:p>
        </p:txBody>
      </p:sp>
      <p:sp>
        <p:nvSpPr>
          <p:cNvPr id="28" name="TextBox 27"/>
          <p:cNvSpPr txBox="1"/>
          <p:nvPr/>
        </p:nvSpPr>
        <p:spPr>
          <a:xfrm>
            <a:off x="4636007" y="5175503"/>
            <a:ext cx="3246120" cy="33832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Service advisers · parts</a:t>
            </a:r>
          </a:p>
        </p:txBody>
      </p:sp>
      <p:cxnSp>
        <p:nvCxnSpPr>
          <p:cNvPr id="29" name="Connector 28"/>
          <p:cNvCxnSpPr/>
          <p:nvPr/>
        </p:nvCxnSpPr>
        <p:spPr>
          <a:xfrm>
            <a:off x="6089904" y="4315968"/>
            <a:ext cx="164592" cy="310896"/>
          </a:xfrm>
          <a:prstGeom prst="line">
            <a:avLst/>
          </a:prstGeom>
          <a:ln w="19050">
            <a:solidFill>
              <a:srgbClr val="59636A"/>
            </a:solidFill>
            <a:prstDash val="dash"/>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330183" y="4626864"/>
            <a:ext cx="3502152" cy="91440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745736"/>
            <a:ext cx="3246120"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Finance / HR / IT</a:t>
            </a:r>
          </a:p>
        </p:txBody>
      </p:sp>
      <p:sp>
        <p:nvSpPr>
          <p:cNvPr id="32" name="TextBox 31"/>
          <p:cNvSpPr txBox="1"/>
          <p:nvPr/>
        </p:nvSpPr>
        <p:spPr>
          <a:xfrm>
            <a:off x="8458200" y="5175503"/>
            <a:ext cx="3246120" cy="33832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Support · project mentor</a:t>
            </a:r>
          </a:p>
        </p:txBody>
      </p:sp>
      <p:cxnSp>
        <p:nvCxnSpPr>
          <p:cNvPr id="33" name="Connector 32"/>
          <p:cNvCxnSpPr/>
          <p:nvPr/>
        </p:nvCxnSpPr>
        <p:spPr>
          <a:xfrm>
            <a:off x="6089904" y="4315968"/>
            <a:ext cx="3986784" cy="310896"/>
          </a:xfrm>
          <a:prstGeom prst="line">
            <a:avLst/>
          </a:prstGeom>
          <a:ln w="19050">
            <a:solidFill>
              <a:srgbClr val="59636A"/>
            </a:solidFill>
            <a:prstDash val="dash"/>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Confirm the internal reporting lines and your mentor’s position before presenting.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LEARNING GOALS</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Internship objectives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Connect business observation with a working software implementation.</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07</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Understand the workplace</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Learn department responsibilities</a:t>
            </a:r>
          </a:p>
          <a:p>
            <a:pPr>
              <a:spcAft>
                <a:spcPts val="700"/>
              </a:spcAft>
              <a:defRPr sz="1800" b="0">
                <a:solidFill>
                  <a:srgbClr val="172028"/>
                </a:solidFill>
                <a:latin typeface="Lato"/>
              </a:defRPr>
            </a:pPr>
            <a:r>
              <a:t>Observe enquiry and follow-up practices</a:t>
            </a:r>
          </a:p>
          <a:p>
            <a:pPr>
              <a:spcAft>
                <a:spcPts val="700"/>
              </a:spcAft>
              <a:defRPr sz="1800" b="0">
                <a:solidFill>
                  <a:srgbClr val="172028"/>
                </a:solidFill>
                <a:latin typeface="Lato"/>
              </a:defRPr>
            </a:pPr>
            <a:r>
              <a:t>Understand escalation and reporting</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Develop the project</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Translate requirements into workflows</a:t>
            </a:r>
          </a:p>
          <a:p>
            <a:pPr>
              <a:spcAft>
                <a:spcPts val="700"/>
              </a:spcAft>
              <a:defRPr sz="1800" b="0">
                <a:solidFill>
                  <a:srgbClr val="172028"/>
                </a:solidFill>
                <a:latin typeface="Lato"/>
              </a:defRPr>
            </a:pPr>
            <a:r>
              <a:t>Build role-specific interfaces and APIs</a:t>
            </a:r>
          </a:p>
          <a:p>
            <a:pPr>
              <a:spcAft>
                <a:spcPts val="700"/>
              </a:spcAft>
              <a:defRPr sz="1800" b="0">
                <a:solidFill>
                  <a:srgbClr val="172028"/>
                </a:solidFill>
                <a:latin typeface="Lato"/>
              </a:defRPr>
            </a:pPr>
            <a:r>
              <a:t>Preserve ownership and history</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Build professional skills</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Discuss requirements with stakeholders</a:t>
            </a:r>
          </a:p>
          <a:p>
            <a:pPr>
              <a:spcAft>
                <a:spcPts val="700"/>
              </a:spcAft>
              <a:defRPr sz="1800" b="0">
                <a:solidFill>
                  <a:srgbClr val="172028"/>
                </a:solidFill>
                <a:latin typeface="Lato"/>
              </a:defRPr>
            </a:pPr>
            <a:r>
              <a:t>Test changes and explain findings</a:t>
            </a:r>
          </a:p>
          <a:p>
            <a:pPr>
              <a:spcAft>
                <a:spcPts val="700"/>
              </a:spcAft>
              <a:defRPr sz="1800" b="0">
                <a:solidFill>
                  <a:srgbClr val="172028"/>
                </a:solidFill>
                <a:latin typeface="Lato"/>
              </a:defRPr>
            </a:pPr>
            <a:r>
              <a:t>Document progress and technical decisions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PROJECT INTRODUCTION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Project context: a mobility CRM</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Repository name: Incheon Mobility CRM | Presented as a project undertaken during the Nippon Toyota internship.</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08</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Business problem</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Enquiries need an owner</a:t>
            </a:r>
          </a:p>
          <a:p>
            <a:pPr>
              <a:spcAft>
                <a:spcPts val="700"/>
              </a:spcAft>
              <a:defRPr sz="1800" b="0">
                <a:solidFill>
                  <a:srgbClr val="172028"/>
                </a:solidFill>
                <a:latin typeface="Lato"/>
              </a:defRPr>
            </a:pPr>
            <a:r>
              <a:t>Follow-ups need dates and outcomes</a:t>
            </a:r>
          </a:p>
          <a:p>
            <a:pPr>
              <a:spcAft>
                <a:spcPts val="700"/>
              </a:spcAft>
              <a:defRPr sz="1800" b="0">
                <a:solidFill>
                  <a:srgbClr val="172028"/>
                </a:solidFill>
                <a:latin typeface="Lato"/>
              </a:defRPr>
            </a:pPr>
            <a:r>
              <a:t>Managers need branch visibility</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Implemented scope</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Lead intake and allocation</a:t>
            </a:r>
          </a:p>
          <a:p>
            <a:pPr>
              <a:spcAft>
                <a:spcPts val="700"/>
              </a:spcAft>
              <a:defRPr sz="1800" b="0">
                <a:solidFill>
                  <a:srgbClr val="172028"/>
                </a:solidFill>
                <a:latin typeface="Lato"/>
              </a:defRPr>
            </a:pPr>
            <a:r>
              <a:t>CE-to-PS/SO sales handoff</a:t>
            </a:r>
          </a:p>
          <a:p>
            <a:pPr>
              <a:spcAft>
                <a:spcPts val="700"/>
              </a:spcAft>
              <a:defRPr sz="1800" b="0">
                <a:solidFill>
                  <a:srgbClr val="172028"/>
                </a:solidFill>
                <a:latin typeface="Lato"/>
              </a:defRPr>
            </a:pPr>
            <a:r>
              <a:t>Complaints, analytics and staff continuity</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Naming and ownership</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Current code includes River scooter settings</a:t>
            </a:r>
          </a:p>
          <a:p>
            <a:pPr>
              <a:spcAft>
                <a:spcPts val="700"/>
              </a:spcAft>
              <a:defRPr sz="1800" b="0">
                <a:solidFill>
                  <a:srgbClr val="172028"/>
                </a:solidFill>
                <a:latin typeface="Lato"/>
              </a:defRPr>
            </a:pPr>
            <a:r>
              <a:t>Confirm the official project name</a:t>
            </a:r>
          </a:p>
          <a:p>
            <a:pPr>
              <a:spcAft>
                <a:spcPts val="700"/>
              </a:spcAft>
              <a:defRPr sz="1800" b="0">
                <a:solidFill>
                  <a:srgbClr val="172028"/>
                </a:solidFill>
                <a:latin typeface="Lato"/>
              </a:defRPr>
            </a:pPr>
            <a:r>
              <a:t>Confirm which modules you personally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WORK PLAN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Weekly internship timeline</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Eight-week draft allocation | Week 1 and Week 2 themes supplied by the presenter.</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09</a:t>
            </a:r>
          </a:p>
        </p:txBody>
      </p:sp>
      <p:sp>
        <p:nvSpPr>
          <p:cNvPr id="9" name="Rectangle 8"/>
          <p:cNvSpPr/>
          <p:nvPr/>
        </p:nvSpPr>
        <p:spPr>
          <a:xfrm>
            <a:off x="640080" y="2221992"/>
            <a:ext cx="2688336" cy="1444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31720"/>
            <a:ext cx="2377440" cy="274320"/>
          </a:xfrm>
          <a:prstGeom prst="rect">
            <a:avLst/>
          </a:prstGeom>
          <a:noFill/>
        </p:spPr>
        <p:txBody>
          <a:bodyPr wrap="square" lIns="0" rIns="0" tIns="0" bIns="0">
            <a:spAutoFit/>
          </a:bodyPr>
          <a:lstStyle/>
          <a:p>
            <a:pPr>
              <a:spcAft>
                <a:spcPts val="700"/>
              </a:spcAft>
              <a:defRPr sz="1200" b="1">
                <a:solidFill>
                  <a:srgbClr val="C8202F"/>
                </a:solidFill>
                <a:latin typeface="Lato"/>
              </a:defRPr>
            </a:pPr>
            <a:r>
              <a:t>WEEK 01</a:t>
            </a:r>
          </a:p>
        </p:txBody>
      </p:sp>
      <p:sp>
        <p:nvSpPr>
          <p:cNvPr id="11" name="TextBox 10"/>
          <p:cNvSpPr txBox="1"/>
          <p:nvPr/>
        </p:nvSpPr>
        <p:spPr>
          <a:xfrm>
            <a:off x="777240" y="2679192"/>
            <a:ext cx="2377440" cy="640080"/>
          </a:xfrm>
          <a:prstGeom prst="rect">
            <a:avLst/>
          </a:prstGeom>
          <a:noFill/>
        </p:spPr>
        <p:txBody>
          <a:bodyPr wrap="square" lIns="0" rIns="0" tIns="0" bIns="0">
            <a:spAutoFit/>
          </a:bodyPr>
          <a:lstStyle/>
          <a:p>
            <a:pPr>
              <a:spcAft>
                <a:spcPts val="700"/>
              </a:spcAft>
              <a:defRPr sz="1800" b="1">
                <a:solidFill>
                  <a:srgbClr val="172028"/>
                </a:solidFill>
                <a:latin typeface="Lato"/>
              </a:defRPr>
            </a:pPr>
            <a:r>
              <a:t>Company induction</a:t>
            </a:r>
          </a:p>
        </p:txBody>
      </p:sp>
      <p:sp>
        <p:nvSpPr>
          <p:cNvPr id="12" name="TextBox 11"/>
          <p:cNvSpPr txBox="1"/>
          <p:nvPr/>
        </p:nvSpPr>
        <p:spPr>
          <a:xfrm>
            <a:off x="777240" y="3392424"/>
            <a:ext cx="2377440" cy="210312"/>
          </a:xfrm>
          <a:prstGeom prst="rect">
            <a:avLst/>
          </a:prstGeom>
          <a:noFill/>
        </p:spPr>
        <p:txBody>
          <a:bodyPr wrap="square" lIns="0" rIns="0" tIns="0" bIns="0">
            <a:spAutoFit/>
          </a:bodyPr>
          <a:lstStyle/>
          <a:p>
            <a:pPr>
              <a:spcAft>
                <a:spcPts val="700"/>
              </a:spcAft>
              <a:defRPr sz="1000" b="0">
                <a:solidFill>
                  <a:srgbClr val="59636A"/>
                </a:solidFill>
                <a:latin typeface="Lato"/>
              </a:defRPr>
            </a:pPr>
            <a:r>
              <a:t>Induction / R&amp;D</a:t>
            </a:r>
          </a:p>
        </p:txBody>
      </p:sp>
      <p:sp>
        <p:nvSpPr>
          <p:cNvPr id="13" name="Rectangle 12"/>
          <p:cNvSpPr/>
          <p:nvPr/>
        </p:nvSpPr>
        <p:spPr>
          <a:xfrm>
            <a:off x="3511296" y="2221992"/>
            <a:ext cx="2688336" cy="1444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48456" y="2331720"/>
            <a:ext cx="2377440" cy="274320"/>
          </a:xfrm>
          <a:prstGeom prst="rect">
            <a:avLst/>
          </a:prstGeom>
          <a:noFill/>
        </p:spPr>
        <p:txBody>
          <a:bodyPr wrap="square" lIns="0" rIns="0" tIns="0" bIns="0">
            <a:spAutoFit/>
          </a:bodyPr>
          <a:lstStyle/>
          <a:p>
            <a:pPr>
              <a:spcAft>
                <a:spcPts val="700"/>
              </a:spcAft>
              <a:defRPr sz="1200" b="1">
                <a:solidFill>
                  <a:srgbClr val="C8202F"/>
                </a:solidFill>
                <a:latin typeface="Lato"/>
              </a:defRPr>
            </a:pPr>
            <a:r>
              <a:t>WEEK 02</a:t>
            </a:r>
          </a:p>
        </p:txBody>
      </p:sp>
      <p:sp>
        <p:nvSpPr>
          <p:cNvPr id="15" name="TextBox 14"/>
          <p:cNvSpPr txBox="1"/>
          <p:nvPr/>
        </p:nvSpPr>
        <p:spPr>
          <a:xfrm>
            <a:off x="3648456" y="2679192"/>
            <a:ext cx="2377440" cy="640080"/>
          </a:xfrm>
          <a:prstGeom prst="rect">
            <a:avLst/>
          </a:prstGeom>
          <a:noFill/>
        </p:spPr>
        <p:txBody>
          <a:bodyPr wrap="square" lIns="0" rIns="0" tIns="0" bIns="0">
            <a:spAutoFit/>
          </a:bodyPr>
          <a:lstStyle/>
          <a:p>
            <a:pPr>
              <a:spcAft>
                <a:spcPts val="700"/>
              </a:spcAft>
              <a:defRPr sz="1800" b="1">
                <a:solidFill>
                  <a:srgbClr val="172028"/>
                </a:solidFill>
                <a:latin typeface="Lato"/>
              </a:defRPr>
            </a:pPr>
            <a:r>
              <a:t>R&amp;D and follow-up</a:t>
            </a:r>
          </a:p>
        </p:txBody>
      </p:sp>
      <p:sp>
        <p:nvSpPr>
          <p:cNvPr id="16" name="TextBox 15"/>
          <p:cNvSpPr txBox="1"/>
          <p:nvPr/>
        </p:nvSpPr>
        <p:spPr>
          <a:xfrm>
            <a:off x="3648456" y="3392424"/>
            <a:ext cx="2377440" cy="210312"/>
          </a:xfrm>
          <a:prstGeom prst="rect">
            <a:avLst/>
          </a:prstGeom>
          <a:noFill/>
        </p:spPr>
        <p:txBody>
          <a:bodyPr wrap="square" lIns="0" rIns="0" tIns="0" bIns="0">
            <a:spAutoFit/>
          </a:bodyPr>
          <a:lstStyle/>
          <a:p>
            <a:pPr>
              <a:spcAft>
                <a:spcPts val="700"/>
              </a:spcAft>
              <a:defRPr sz="1000" b="0">
                <a:solidFill>
                  <a:srgbClr val="59636A"/>
                </a:solidFill>
                <a:latin typeface="Lato"/>
              </a:defRPr>
            </a:pPr>
            <a:r>
              <a:t>Induction / R&amp;D</a:t>
            </a:r>
          </a:p>
        </p:txBody>
      </p:sp>
      <p:sp>
        <p:nvSpPr>
          <p:cNvPr id="17" name="Rectangle 16"/>
          <p:cNvSpPr/>
          <p:nvPr/>
        </p:nvSpPr>
        <p:spPr>
          <a:xfrm>
            <a:off x="6382512" y="2221992"/>
            <a:ext cx="2688336" cy="1444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331720"/>
            <a:ext cx="2377440" cy="274320"/>
          </a:xfrm>
          <a:prstGeom prst="rect">
            <a:avLst/>
          </a:prstGeom>
          <a:noFill/>
        </p:spPr>
        <p:txBody>
          <a:bodyPr wrap="square" lIns="0" rIns="0" tIns="0" bIns="0">
            <a:spAutoFit/>
          </a:bodyPr>
          <a:lstStyle/>
          <a:p>
            <a:pPr>
              <a:spcAft>
                <a:spcPts val="700"/>
              </a:spcAft>
              <a:defRPr sz="1200" b="1">
                <a:solidFill>
                  <a:srgbClr val="C8202F"/>
                </a:solidFill>
                <a:latin typeface="Lato"/>
              </a:defRPr>
            </a:pPr>
            <a:r>
              <a:t>WEEK 03</a:t>
            </a:r>
          </a:p>
        </p:txBody>
      </p:sp>
      <p:sp>
        <p:nvSpPr>
          <p:cNvPr id="19" name="TextBox 18"/>
          <p:cNvSpPr txBox="1"/>
          <p:nvPr/>
        </p:nvSpPr>
        <p:spPr>
          <a:xfrm>
            <a:off x="6519672" y="2679192"/>
            <a:ext cx="2377440" cy="640080"/>
          </a:xfrm>
          <a:prstGeom prst="rect">
            <a:avLst/>
          </a:prstGeom>
          <a:noFill/>
        </p:spPr>
        <p:txBody>
          <a:bodyPr wrap="square" lIns="0" rIns="0" tIns="0" bIns="0">
            <a:spAutoFit/>
          </a:bodyPr>
          <a:lstStyle/>
          <a:p>
            <a:pPr>
              <a:spcAft>
                <a:spcPts val="700"/>
              </a:spcAft>
              <a:defRPr sz="1800" b="1">
                <a:solidFill>
                  <a:srgbClr val="172028"/>
                </a:solidFill>
                <a:latin typeface="Lato"/>
              </a:defRPr>
            </a:pPr>
            <a:r>
              <a:t>Solution design</a:t>
            </a:r>
          </a:p>
        </p:txBody>
      </p:sp>
      <p:sp>
        <p:nvSpPr>
          <p:cNvPr id="20" name="TextBox 19"/>
          <p:cNvSpPr txBox="1"/>
          <p:nvPr/>
        </p:nvSpPr>
        <p:spPr>
          <a:xfrm>
            <a:off x="6519672" y="3392424"/>
            <a:ext cx="2377440" cy="210312"/>
          </a:xfrm>
          <a:prstGeom prst="rect">
            <a:avLst/>
          </a:prstGeom>
          <a:noFill/>
        </p:spPr>
        <p:txBody>
          <a:bodyPr wrap="square" lIns="0" rIns="0" tIns="0" bIns="0">
            <a:spAutoFit/>
          </a:bodyPr>
          <a:lstStyle/>
          <a:p>
            <a:pPr>
              <a:spcAft>
                <a:spcPts val="700"/>
              </a:spcAft>
              <a:defRPr sz="1000" b="0">
                <a:solidFill>
                  <a:srgbClr val="59636A"/>
                </a:solidFill>
                <a:latin typeface="Lato"/>
              </a:defRPr>
            </a:pPr>
            <a:r>
              <a:t>Proposed allocation</a:t>
            </a:r>
          </a:p>
        </p:txBody>
      </p:sp>
      <p:sp>
        <p:nvSpPr>
          <p:cNvPr id="21" name="Rectangle 20"/>
          <p:cNvSpPr/>
          <p:nvPr/>
        </p:nvSpPr>
        <p:spPr>
          <a:xfrm>
            <a:off x="9253728" y="2221992"/>
            <a:ext cx="2688336" cy="1444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90888" y="2331720"/>
            <a:ext cx="2377440" cy="274320"/>
          </a:xfrm>
          <a:prstGeom prst="rect">
            <a:avLst/>
          </a:prstGeom>
          <a:noFill/>
        </p:spPr>
        <p:txBody>
          <a:bodyPr wrap="square" lIns="0" rIns="0" tIns="0" bIns="0">
            <a:spAutoFit/>
          </a:bodyPr>
          <a:lstStyle/>
          <a:p>
            <a:pPr>
              <a:spcAft>
                <a:spcPts val="700"/>
              </a:spcAft>
              <a:defRPr sz="1200" b="1">
                <a:solidFill>
                  <a:srgbClr val="C8202F"/>
                </a:solidFill>
                <a:latin typeface="Lato"/>
              </a:defRPr>
            </a:pPr>
            <a:r>
              <a:t>WEEK 04</a:t>
            </a:r>
          </a:p>
        </p:txBody>
      </p:sp>
      <p:sp>
        <p:nvSpPr>
          <p:cNvPr id="23" name="TextBox 22"/>
          <p:cNvSpPr txBox="1"/>
          <p:nvPr/>
        </p:nvSpPr>
        <p:spPr>
          <a:xfrm>
            <a:off x="9390888" y="2679192"/>
            <a:ext cx="2377440" cy="640080"/>
          </a:xfrm>
          <a:prstGeom prst="rect">
            <a:avLst/>
          </a:prstGeom>
          <a:noFill/>
        </p:spPr>
        <p:txBody>
          <a:bodyPr wrap="square" lIns="0" rIns="0" tIns="0" bIns="0">
            <a:spAutoFit/>
          </a:bodyPr>
          <a:lstStyle/>
          <a:p>
            <a:pPr>
              <a:spcAft>
                <a:spcPts val="700"/>
              </a:spcAft>
              <a:defRPr sz="1800" b="1">
                <a:solidFill>
                  <a:srgbClr val="172028"/>
                </a:solidFill>
                <a:latin typeface="Lato"/>
              </a:defRPr>
            </a:pPr>
            <a:r>
              <a:t>Core implementation</a:t>
            </a:r>
          </a:p>
        </p:txBody>
      </p:sp>
      <p:sp>
        <p:nvSpPr>
          <p:cNvPr id="24" name="TextBox 23"/>
          <p:cNvSpPr txBox="1"/>
          <p:nvPr/>
        </p:nvSpPr>
        <p:spPr>
          <a:xfrm>
            <a:off x="9390888" y="3392424"/>
            <a:ext cx="2377440" cy="210312"/>
          </a:xfrm>
          <a:prstGeom prst="rect">
            <a:avLst/>
          </a:prstGeom>
          <a:noFill/>
        </p:spPr>
        <p:txBody>
          <a:bodyPr wrap="square" lIns="0" rIns="0" tIns="0" bIns="0">
            <a:spAutoFit/>
          </a:bodyPr>
          <a:lstStyle/>
          <a:p>
            <a:pPr>
              <a:spcAft>
                <a:spcPts val="700"/>
              </a:spcAft>
              <a:defRPr sz="1000" b="0">
                <a:solidFill>
                  <a:srgbClr val="59636A"/>
                </a:solidFill>
                <a:latin typeface="Lato"/>
              </a:defRPr>
            </a:pPr>
            <a:r>
              <a:t>Proposed allocation</a:t>
            </a:r>
          </a:p>
        </p:txBody>
      </p:sp>
      <p:sp>
        <p:nvSpPr>
          <p:cNvPr id="25" name="Rectangle 24"/>
          <p:cNvSpPr/>
          <p:nvPr/>
        </p:nvSpPr>
        <p:spPr>
          <a:xfrm>
            <a:off x="640080" y="3886200"/>
            <a:ext cx="2688336" cy="1444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995928"/>
            <a:ext cx="2377440" cy="274320"/>
          </a:xfrm>
          <a:prstGeom prst="rect">
            <a:avLst/>
          </a:prstGeom>
          <a:noFill/>
        </p:spPr>
        <p:txBody>
          <a:bodyPr wrap="square" lIns="0" rIns="0" tIns="0" bIns="0">
            <a:spAutoFit/>
          </a:bodyPr>
          <a:lstStyle/>
          <a:p>
            <a:pPr>
              <a:spcAft>
                <a:spcPts val="700"/>
              </a:spcAft>
              <a:defRPr sz="1200" b="1">
                <a:solidFill>
                  <a:srgbClr val="C8202F"/>
                </a:solidFill>
                <a:latin typeface="Lato"/>
              </a:defRPr>
            </a:pPr>
            <a:r>
              <a:t>WEEK 05</a:t>
            </a:r>
          </a:p>
        </p:txBody>
      </p:sp>
      <p:sp>
        <p:nvSpPr>
          <p:cNvPr id="27" name="TextBox 26"/>
          <p:cNvSpPr txBox="1"/>
          <p:nvPr/>
        </p:nvSpPr>
        <p:spPr>
          <a:xfrm>
            <a:off x="777240" y="4343400"/>
            <a:ext cx="2377440" cy="640080"/>
          </a:xfrm>
          <a:prstGeom prst="rect">
            <a:avLst/>
          </a:prstGeom>
          <a:noFill/>
        </p:spPr>
        <p:txBody>
          <a:bodyPr wrap="square" lIns="0" rIns="0" tIns="0" bIns="0">
            <a:spAutoFit/>
          </a:bodyPr>
          <a:lstStyle/>
          <a:p>
            <a:pPr>
              <a:spcAft>
                <a:spcPts val="700"/>
              </a:spcAft>
              <a:defRPr sz="1800" b="1">
                <a:solidFill>
                  <a:srgbClr val="172028"/>
                </a:solidFill>
                <a:latin typeface="Lato"/>
              </a:defRPr>
            </a:pPr>
            <a:r>
              <a:t>Sales workflow</a:t>
            </a:r>
          </a:p>
        </p:txBody>
      </p:sp>
      <p:sp>
        <p:nvSpPr>
          <p:cNvPr id="28" name="TextBox 27"/>
          <p:cNvSpPr txBox="1"/>
          <p:nvPr/>
        </p:nvSpPr>
        <p:spPr>
          <a:xfrm>
            <a:off x="777240" y="5056632"/>
            <a:ext cx="2377440" cy="210312"/>
          </a:xfrm>
          <a:prstGeom prst="rect">
            <a:avLst/>
          </a:prstGeom>
          <a:noFill/>
        </p:spPr>
        <p:txBody>
          <a:bodyPr wrap="square" lIns="0" rIns="0" tIns="0" bIns="0">
            <a:spAutoFit/>
          </a:bodyPr>
          <a:lstStyle/>
          <a:p>
            <a:pPr>
              <a:spcAft>
                <a:spcPts val="700"/>
              </a:spcAft>
              <a:defRPr sz="1000" b="0">
                <a:solidFill>
                  <a:srgbClr val="59636A"/>
                </a:solidFill>
                <a:latin typeface="Lato"/>
              </a:defRPr>
            </a:pPr>
            <a:r>
              <a:t>Proposed allocation</a:t>
            </a:r>
          </a:p>
        </p:txBody>
      </p:sp>
      <p:sp>
        <p:nvSpPr>
          <p:cNvPr id="29" name="Rectangle 28"/>
          <p:cNvSpPr/>
          <p:nvPr/>
        </p:nvSpPr>
        <p:spPr>
          <a:xfrm>
            <a:off x="3511296" y="3886200"/>
            <a:ext cx="2688336" cy="1444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48456" y="3995928"/>
            <a:ext cx="2377440" cy="274320"/>
          </a:xfrm>
          <a:prstGeom prst="rect">
            <a:avLst/>
          </a:prstGeom>
          <a:noFill/>
        </p:spPr>
        <p:txBody>
          <a:bodyPr wrap="square" lIns="0" rIns="0" tIns="0" bIns="0">
            <a:spAutoFit/>
          </a:bodyPr>
          <a:lstStyle/>
          <a:p>
            <a:pPr>
              <a:spcAft>
                <a:spcPts val="700"/>
              </a:spcAft>
              <a:defRPr sz="1200" b="1">
                <a:solidFill>
                  <a:srgbClr val="C8202F"/>
                </a:solidFill>
                <a:latin typeface="Lato"/>
              </a:defRPr>
            </a:pPr>
            <a:r>
              <a:t>WEEK 06</a:t>
            </a:r>
          </a:p>
        </p:txBody>
      </p:sp>
      <p:sp>
        <p:nvSpPr>
          <p:cNvPr id="31" name="TextBox 30"/>
          <p:cNvSpPr txBox="1"/>
          <p:nvPr/>
        </p:nvSpPr>
        <p:spPr>
          <a:xfrm>
            <a:off x="3648456" y="4343400"/>
            <a:ext cx="2377440" cy="640080"/>
          </a:xfrm>
          <a:prstGeom prst="rect">
            <a:avLst/>
          </a:prstGeom>
          <a:noFill/>
        </p:spPr>
        <p:txBody>
          <a:bodyPr wrap="square" lIns="0" rIns="0" tIns="0" bIns="0">
            <a:spAutoFit/>
          </a:bodyPr>
          <a:lstStyle/>
          <a:p>
            <a:pPr>
              <a:spcAft>
                <a:spcPts val="700"/>
              </a:spcAft>
              <a:defRPr sz="1800" b="1">
                <a:solidFill>
                  <a:srgbClr val="172028"/>
                </a:solidFill>
                <a:latin typeface="Lato"/>
              </a:defRPr>
            </a:pPr>
            <a:r>
              <a:t>Operations modules</a:t>
            </a:r>
          </a:p>
        </p:txBody>
      </p:sp>
      <p:sp>
        <p:nvSpPr>
          <p:cNvPr id="32" name="TextBox 31"/>
          <p:cNvSpPr txBox="1"/>
          <p:nvPr/>
        </p:nvSpPr>
        <p:spPr>
          <a:xfrm>
            <a:off x="3648456" y="5056632"/>
            <a:ext cx="2377440" cy="210312"/>
          </a:xfrm>
          <a:prstGeom prst="rect">
            <a:avLst/>
          </a:prstGeom>
          <a:noFill/>
        </p:spPr>
        <p:txBody>
          <a:bodyPr wrap="square" lIns="0" rIns="0" tIns="0" bIns="0">
            <a:spAutoFit/>
          </a:bodyPr>
          <a:lstStyle/>
          <a:p>
            <a:pPr>
              <a:spcAft>
                <a:spcPts val="700"/>
              </a:spcAft>
              <a:defRPr sz="1000" b="0">
                <a:solidFill>
                  <a:srgbClr val="59636A"/>
                </a:solidFill>
                <a:latin typeface="Lato"/>
              </a:defRPr>
            </a:pPr>
            <a:r>
              <a:t>Proposed allocation</a:t>
            </a:r>
          </a:p>
        </p:txBody>
      </p:sp>
      <p:sp>
        <p:nvSpPr>
          <p:cNvPr id="33" name="Rectangle 32"/>
          <p:cNvSpPr/>
          <p:nvPr/>
        </p:nvSpPr>
        <p:spPr>
          <a:xfrm>
            <a:off x="6382512" y="3886200"/>
            <a:ext cx="2688336" cy="1444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19672" y="3995928"/>
            <a:ext cx="2377440" cy="274320"/>
          </a:xfrm>
          <a:prstGeom prst="rect">
            <a:avLst/>
          </a:prstGeom>
          <a:noFill/>
        </p:spPr>
        <p:txBody>
          <a:bodyPr wrap="square" lIns="0" rIns="0" tIns="0" bIns="0">
            <a:spAutoFit/>
          </a:bodyPr>
          <a:lstStyle/>
          <a:p>
            <a:pPr>
              <a:spcAft>
                <a:spcPts val="700"/>
              </a:spcAft>
              <a:defRPr sz="1200" b="1">
                <a:solidFill>
                  <a:srgbClr val="C8202F"/>
                </a:solidFill>
                <a:latin typeface="Lato"/>
              </a:defRPr>
            </a:pPr>
            <a:r>
              <a:t>WEEK 07</a:t>
            </a:r>
          </a:p>
        </p:txBody>
      </p:sp>
      <p:sp>
        <p:nvSpPr>
          <p:cNvPr id="35" name="TextBox 34"/>
          <p:cNvSpPr txBox="1"/>
          <p:nvPr/>
        </p:nvSpPr>
        <p:spPr>
          <a:xfrm>
            <a:off x="6519672" y="4343400"/>
            <a:ext cx="2377440" cy="640080"/>
          </a:xfrm>
          <a:prstGeom prst="rect">
            <a:avLst/>
          </a:prstGeom>
          <a:noFill/>
        </p:spPr>
        <p:txBody>
          <a:bodyPr wrap="square" lIns="0" rIns="0" tIns="0" bIns="0">
            <a:spAutoFit/>
          </a:bodyPr>
          <a:lstStyle/>
          <a:p>
            <a:pPr>
              <a:spcAft>
                <a:spcPts val="700"/>
              </a:spcAft>
              <a:defRPr sz="1800" b="1">
                <a:solidFill>
                  <a:srgbClr val="172028"/>
                </a:solidFill>
                <a:latin typeface="Lato"/>
              </a:defRPr>
            </a:pPr>
            <a:r>
              <a:t>Analytics and verification</a:t>
            </a:r>
          </a:p>
        </p:txBody>
      </p:sp>
      <p:sp>
        <p:nvSpPr>
          <p:cNvPr id="36" name="TextBox 35"/>
          <p:cNvSpPr txBox="1"/>
          <p:nvPr/>
        </p:nvSpPr>
        <p:spPr>
          <a:xfrm>
            <a:off x="6519672" y="5056632"/>
            <a:ext cx="2377440" cy="210312"/>
          </a:xfrm>
          <a:prstGeom prst="rect">
            <a:avLst/>
          </a:prstGeom>
          <a:noFill/>
        </p:spPr>
        <p:txBody>
          <a:bodyPr wrap="square" lIns="0" rIns="0" tIns="0" bIns="0">
            <a:spAutoFit/>
          </a:bodyPr>
          <a:lstStyle/>
          <a:p>
            <a:pPr>
              <a:spcAft>
                <a:spcPts val="700"/>
              </a:spcAft>
              <a:defRPr sz="1000" b="0">
                <a:solidFill>
                  <a:srgbClr val="59636A"/>
                </a:solidFill>
                <a:latin typeface="Lato"/>
              </a:defRPr>
            </a:pPr>
            <a:r>
              <a:t>Proposed allocation</a:t>
            </a:r>
          </a:p>
        </p:txBody>
      </p:sp>
      <p:sp>
        <p:nvSpPr>
          <p:cNvPr id="37" name="Rectangle 36"/>
          <p:cNvSpPr/>
          <p:nvPr/>
        </p:nvSpPr>
        <p:spPr>
          <a:xfrm>
            <a:off x="9253728" y="3886200"/>
            <a:ext cx="2688336" cy="1444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90888" y="3995928"/>
            <a:ext cx="2377440" cy="274320"/>
          </a:xfrm>
          <a:prstGeom prst="rect">
            <a:avLst/>
          </a:prstGeom>
          <a:noFill/>
        </p:spPr>
        <p:txBody>
          <a:bodyPr wrap="square" lIns="0" rIns="0" tIns="0" bIns="0">
            <a:spAutoFit/>
          </a:bodyPr>
          <a:lstStyle/>
          <a:p>
            <a:pPr>
              <a:spcAft>
                <a:spcPts val="700"/>
              </a:spcAft>
              <a:defRPr sz="1200" b="1">
                <a:solidFill>
                  <a:srgbClr val="C8202F"/>
                </a:solidFill>
                <a:latin typeface="Lato"/>
              </a:defRPr>
            </a:pPr>
            <a:r>
              <a:t>WEEK 08</a:t>
            </a:r>
          </a:p>
        </p:txBody>
      </p:sp>
      <p:sp>
        <p:nvSpPr>
          <p:cNvPr id="39" name="TextBox 38"/>
          <p:cNvSpPr txBox="1"/>
          <p:nvPr/>
        </p:nvSpPr>
        <p:spPr>
          <a:xfrm>
            <a:off x="9390888" y="4343400"/>
            <a:ext cx="2377440" cy="640080"/>
          </a:xfrm>
          <a:prstGeom prst="rect">
            <a:avLst/>
          </a:prstGeom>
          <a:noFill/>
        </p:spPr>
        <p:txBody>
          <a:bodyPr wrap="square" lIns="0" rIns="0" tIns="0" bIns="0">
            <a:spAutoFit/>
          </a:bodyPr>
          <a:lstStyle/>
          <a:p>
            <a:pPr>
              <a:spcAft>
                <a:spcPts val="700"/>
              </a:spcAft>
              <a:defRPr sz="1800" b="1">
                <a:solidFill>
                  <a:srgbClr val="172028"/>
                </a:solidFill>
                <a:latin typeface="Lato"/>
              </a:defRPr>
            </a:pPr>
            <a:r>
              <a:t>Delivery and reflection</a:t>
            </a:r>
          </a:p>
        </p:txBody>
      </p:sp>
      <p:sp>
        <p:nvSpPr>
          <p:cNvPr id="40" name="TextBox 39"/>
          <p:cNvSpPr txBox="1"/>
          <p:nvPr/>
        </p:nvSpPr>
        <p:spPr>
          <a:xfrm>
            <a:off x="9390888" y="5056632"/>
            <a:ext cx="2377440" cy="210312"/>
          </a:xfrm>
          <a:prstGeom prst="rect">
            <a:avLst/>
          </a:prstGeom>
          <a:noFill/>
        </p:spPr>
        <p:txBody>
          <a:bodyPr wrap="square" lIns="0" rIns="0" tIns="0" bIns="0">
            <a:spAutoFit/>
          </a:bodyPr>
          <a:lstStyle/>
          <a:p>
            <a:pPr>
              <a:spcAft>
                <a:spcPts val="700"/>
              </a:spcAft>
              <a:defRPr sz="1000" b="0">
                <a:solidFill>
                  <a:srgbClr val="59636A"/>
                </a:solidFill>
                <a:latin typeface="Lato"/>
              </a:defRPr>
            </a:pPr>
            <a:r>
              <a:t>Proposed allocation</a:t>
            </a:r>
          </a:p>
        </p:txBody>
      </p:sp>
      <p:sp>
        <p:nvSpPr>
          <p:cNvPr id="41" name="Rectangle 4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Map these stages to your actual internship dates; no week-by-week completion dates have been invented.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WEEKLY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 01: Introduction, hierarchy and work culture</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Presenter-supplied theme; details to personalise.</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10</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Activities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Company introduction</a:t>
            </a:r>
          </a:p>
          <a:p>
            <a:pPr>
              <a:spcAft>
                <a:spcPts val="700"/>
              </a:spcAft>
              <a:defRPr sz="1800" b="0">
                <a:solidFill>
                  <a:srgbClr val="172028"/>
                </a:solidFill>
                <a:latin typeface="Lato"/>
              </a:defRPr>
            </a:pPr>
            <a:r>
              <a:t>Showroom and service overview</a:t>
            </a:r>
          </a:p>
          <a:p>
            <a:pPr>
              <a:spcAft>
                <a:spcPts val="700"/>
              </a:spcAft>
              <a:defRPr sz="1800" b="0">
                <a:solidFill>
                  <a:srgbClr val="172028"/>
                </a:solidFill>
                <a:latin typeface="Lato"/>
              </a:defRPr>
            </a:pPr>
            <a:r>
              <a:t>Department and reporting hierarchy</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Learning focus</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Customer service expectations</a:t>
            </a:r>
          </a:p>
          <a:p>
            <a:pPr>
              <a:spcAft>
                <a:spcPts val="700"/>
              </a:spcAft>
              <a:defRPr sz="1800" b="0">
                <a:solidFill>
                  <a:srgbClr val="172028"/>
                </a:solidFill>
                <a:latin typeface="Lato"/>
              </a:defRPr>
            </a:pPr>
            <a:r>
              <a:t>Employee responsibilities</a:t>
            </a:r>
          </a:p>
          <a:p>
            <a:pPr>
              <a:spcAft>
                <a:spcPts val="700"/>
              </a:spcAft>
              <a:defRPr sz="1800" b="0">
                <a:solidFill>
                  <a:srgbClr val="172028"/>
                </a:solidFill>
                <a:latin typeface="Lato"/>
              </a:defRPr>
            </a:pPr>
            <a:r>
              <a:t>Professional communication and data handling</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evidence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Induction notes</a:t>
            </a:r>
          </a:p>
          <a:p>
            <a:pPr>
              <a:spcAft>
                <a:spcPts val="700"/>
              </a:spcAft>
              <a:defRPr sz="1800" b="0">
                <a:solidFill>
                  <a:srgbClr val="172028"/>
                </a:solidFill>
                <a:latin typeface="Lato"/>
              </a:defRPr>
            </a:pPr>
            <a:r>
              <a:t>Department map</a:t>
            </a:r>
          </a:p>
          <a:p>
            <a:pPr>
              <a:spcAft>
                <a:spcPts val="700"/>
              </a:spcAft>
              <a:defRPr sz="1800" b="0">
                <a:solidFill>
                  <a:srgbClr val="172028"/>
                </a:solidFill>
                <a:latin typeface="Lato"/>
              </a:defRPr>
            </a:pPr>
            <a:r>
              <a:t>[Add mentor, visit and observation details]</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Output: Orientation notes and department 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WEEKLY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 02: R&amp;D, requirements and follow-up</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Presenter-supplied theme; details to personalise.</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11</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Activities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Study enquiry-to-sale flow</a:t>
            </a:r>
          </a:p>
          <a:p>
            <a:pPr>
              <a:spcAft>
                <a:spcPts val="700"/>
              </a:spcAft>
              <a:defRPr sz="1800" b="0">
                <a:solidFill>
                  <a:srgbClr val="172028"/>
                </a:solidFill>
                <a:latin typeface="Lato"/>
              </a:defRPr>
            </a:pPr>
            <a:r>
              <a:t>Identify data and reporting needs</a:t>
            </a:r>
          </a:p>
          <a:p>
            <a:pPr>
              <a:spcAft>
                <a:spcPts val="700"/>
              </a:spcAft>
              <a:defRPr sz="1800" b="0">
                <a:solidFill>
                  <a:srgbClr val="172028"/>
                </a:solidFill>
                <a:latin typeface="Lato"/>
              </a:defRPr>
            </a:pPr>
            <a:r>
              <a:t>Follow up on unclear requirements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Technical exploration</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Compare spreadsheet and web workflows</a:t>
            </a:r>
          </a:p>
          <a:p>
            <a:pPr>
              <a:spcAft>
                <a:spcPts val="700"/>
              </a:spcAft>
              <a:defRPr sz="1800" b="0">
                <a:solidFill>
                  <a:srgbClr val="172028"/>
                </a:solidFill>
                <a:latin typeface="Lato"/>
              </a:defRPr>
            </a:pPr>
            <a:r>
              <a:t>Review React/Next.js and Django options</a:t>
            </a:r>
          </a:p>
          <a:p>
            <a:pPr>
              <a:spcAft>
                <a:spcPts val="700"/>
              </a:spcAft>
              <a:defRPr sz="1800" b="0">
                <a:solidFill>
                  <a:srgbClr val="172028"/>
                </a:solidFill>
                <a:latin typeface="Lato"/>
              </a:defRPr>
            </a:pPr>
            <a:r>
              <a:t>Draft data model and role matrix</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evidence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Requirement questions and answers</a:t>
            </a:r>
          </a:p>
          <a:p>
            <a:pPr>
              <a:spcAft>
                <a:spcPts val="700"/>
              </a:spcAft>
              <a:defRPr sz="1800" b="0">
                <a:solidFill>
                  <a:srgbClr val="172028"/>
                </a:solidFill>
                <a:latin typeface="Lato"/>
              </a:defRPr>
            </a:pPr>
            <a:r>
              <a:t>Workflow sketch</a:t>
            </a:r>
          </a:p>
          <a:p>
            <a:pPr>
              <a:spcAft>
                <a:spcPts val="700"/>
              </a:spcAft>
              <a:defRPr sz="1800" b="0">
                <a:solidFill>
                  <a:srgbClr val="172028"/>
                </a:solidFill>
                <a:latin typeface="Lato"/>
              </a:defRPr>
            </a:pPr>
            <a:r>
              <a:t>[Add actual discussion or feedback]</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Output: Requirement list and workflow draft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WEEKLY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 03: Designing the solution</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Proposed allocation: verify against your internship diary.</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12</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Activities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Break requirements into modules</a:t>
            </a:r>
          </a:p>
          <a:p>
            <a:pPr>
              <a:spcAft>
                <a:spcPts val="700"/>
              </a:spcAft>
              <a:defRPr sz="1800" b="0">
                <a:solidFill>
                  <a:srgbClr val="172028"/>
                </a:solidFill>
                <a:latin typeface="Lato"/>
              </a:defRPr>
            </a:pPr>
            <a:r>
              <a:t>Map roles and visibility</a:t>
            </a:r>
          </a:p>
          <a:p>
            <a:pPr>
              <a:spcAft>
                <a:spcPts val="700"/>
              </a:spcAft>
              <a:defRPr sz="1800" b="0">
                <a:solidFill>
                  <a:srgbClr val="172028"/>
                </a:solidFill>
                <a:latin typeface="Lato"/>
              </a:defRPr>
            </a:pPr>
            <a:r>
              <a:t>Sketch screens and API interactions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Technical work</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User and Lead relationships</a:t>
            </a:r>
          </a:p>
          <a:p>
            <a:pPr>
              <a:spcAft>
                <a:spcPts val="700"/>
              </a:spcAft>
              <a:defRPr sz="1800" b="0">
                <a:solidFill>
                  <a:srgbClr val="172028"/>
                </a:solidFill>
                <a:latin typeface="Lato"/>
              </a:defRPr>
            </a:pPr>
            <a:r>
              <a:t>Separate lead status from sales outcome</a:t>
            </a:r>
          </a:p>
          <a:p>
            <a:pPr>
              <a:spcAft>
                <a:spcPts val="700"/>
              </a:spcAft>
              <a:defRPr sz="1800" b="0">
                <a:solidFill>
                  <a:srgbClr val="172028"/>
                </a:solidFill>
                <a:latin typeface="Lato"/>
              </a:defRPr>
            </a:pPr>
            <a:r>
              <a:t>Plan validation and audit events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evidence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Architecture diagram</a:t>
            </a:r>
          </a:p>
          <a:p>
            <a:pPr>
              <a:spcAft>
                <a:spcPts val="700"/>
              </a:spcAft>
              <a:defRPr sz="1800" b="0">
                <a:solidFill>
                  <a:srgbClr val="172028"/>
                </a:solidFill>
                <a:latin typeface="Lato"/>
              </a:defRPr>
            </a:pPr>
            <a:r>
              <a:t>Entity relationship diagram</a:t>
            </a:r>
          </a:p>
          <a:p>
            <a:pPr>
              <a:spcAft>
                <a:spcPts val="700"/>
              </a:spcAft>
              <a:defRPr sz="1800" b="0">
                <a:solidFill>
                  <a:srgbClr val="172028"/>
                </a:solidFill>
                <a:latin typeface="Lato"/>
              </a:defRPr>
            </a:pPr>
            <a:r>
              <a:t>API and screen inventory</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Output: Architecture and data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WEEKLY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 04: Building intake and allocation</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Proposed allocation: verify against your internship diary.</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13</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Activities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Implement role-specific forms</a:t>
            </a:r>
          </a:p>
          <a:p>
            <a:pPr>
              <a:spcAft>
                <a:spcPts val="700"/>
              </a:spcAft>
              <a:defRPr sz="1800" b="0">
                <a:solidFill>
                  <a:srgbClr val="172028"/>
                </a:solidFill>
                <a:latin typeface="Lato"/>
              </a:defRPr>
            </a:pPr>
            <a:r>
              <a:t>Capture digital and walk-in enquiries</a:t>
            </a:r>
          </a:p>
          <a:p>
            <a:pPr>
              <a:spcAft>
                <a:spcPts val="700"/>
              </a:spcAft>
              <a:defRPr sz="1800" b="0">
                <a:solidFill>
                  <a:srgbClr val="172028"/>
                </a:solidFill>
                <a:latin typeface="Lato"/>
              </a:defRPr>
            </a:pPr>
            <a:r>
              <a:t>Route records to eligible employees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Technical work</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Django serializers and viewsets</a:t>
            </a:r>
          </a:p>
          <a:p>
            <a:pPr>
              <a:spcAft>
                <a:spcPts val="700"/>
              </a:spcAft>
              <a:defRPr sz="1800" b="0">
                <a:solidFill>
                  <a:srgbClr val="172028"/>
                </a:solidFill>
                <a:latin typeface="Lato"/>
              </a:defRPr>
            </a:pPr>
            <a:r>
              <a:t>Typed frontend API calls</a:t>
            </a:r>
          </a:p>
          <a:p>
            <a:pPr>
              <a:spcAft>
                <a:spcPts val="700"/>
              </a:spcAft>
              <a:defRPr sz="1800" b="0">
                <a:solidFill>
                  <a:srgbClr val="172028"/>
                </a:solidFill>
                <a:latin typeface="Lato"/>
              </a:defRPr>
            </a:pPr>
            <a:r>
              <a:t>Ownership and branch checks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evidence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Lead creation and assignment flow</a:t>
            </a:r>
          </a:p>
          <a:p>
            <a:pPr>
              <a:spcAft>
                <a:spcPts val="700"/>
              </a:spcAft>
              <a:defRPr sz="1800" b="0">
                <a:solidFill>
                  <a:srgbClr val="172028"/>
                </a:solidFill>
                <a:latin typeface="Lato"/>
              </a:defRPr>
            </a:pPr>
            <a:r>
              <a:t>Validation examples</a:t>
            </a:r>
          </a:p>
          <a:p>
            <a:pPr>
              <a:spcAft>
                <a:spcPts val="700"/>
              </a:spcAft>
              <a:defRPr sz="1800" b="0">
                <a:solidFill>
                  <a:srgbClr val="172028"/>
                </a:solidFill>
                <a:latin typeface="Lato"/>
              </a:defRPr>
            </a:pPr>
            <a:r>
              <a:t>Role-based queue review</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Output: Working enquiry-to-owner flow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WEEKLY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 05: Implementing the sales journey</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Proposed allocation: verify against your internship diary.</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14</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Activities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Record qualification and call outcomes</a:t>
            </a:r>
          </a:p>
          <a:p>
            <a:pPr>
              <a:spcAft>
                <a:spcPts val="700"/>
              </a:spcAft>
              <a:defRPr sz="1800" b="0">
                <a:solidFill>
                  <a:srgbClr val="172028"/>
                </a:solidFill>
                <a:latin typeface="Lato"/>
              </a:defRPr>
            </a:pPr>
            <a:r>
              <a:t>Schedule follow-ups</a:t>
            </a:r>
          </a:p>
          <a:p>
            <a:pPr>
              <a:spcAft>
                <a:spcPts val="700"/>
              </a:spcAft>
              <a:defRPr sz="1800" b="0">
                <a:solidFill>
                  <a:srgbClr val="172028"/>
                </a:solidFill>
                <a:latin typeface="Lato"/>
              </a:defRPr>
            </a:pPr>
            <a:r>
              <a:t>Track booking, retail and test drives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Technical work</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State validation and transactions</a:t>
            </a:r>
          </a:p>
          <a:p>
            <a:pPr>
              <a:spcAft>
                <a:spcPts val="700"/>
              </a:spcAft>
              <a:defRPr sz="1800" b="0">
                <a:solidFill>
                  <a:srgbClr val="172028"/>
                </a:solidFill>
                <a:latin typeface="Lato"/>
              </a:defRPr>
            </a:pPr>
            <a:r>
              <a:t>Call logs and before/after audit</a:t>
            </a:r>
          </a:p>
          <a:p>
            <a:pPr>
              <a:spcAft>
                <a:spcPts val="700"/>
              </a:spcAft>
              <a:defRPr sz="1800" b="0">
                <a:solidFill>
                  <a:srgbClr val="172028"/>
                </a:solidFill>
                <a:latin typeface="Lato"/>
              </a:defRPr>
            </a:pPr>
            <a:r>
              <a:t>Idempotent test-drive completion</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evidence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CE-to-PS/SO handoff</a:t>
            </a:r>
          </a:p>
          <a:p>
            <a:pPr>
              <a:spcAft>
                <a:spcPts val="700"/>
              </a:spcAft>
              <a:defRPr sz="1800" b="0">
                <a:solidFill>
                  <a:srgbClr val="172028"/>
                </a:solidFill>
                <a:latin typeface="Lato"/>
              </a:defRPr>
            </a:pPr>
            <a:r>
              <a:t>Pending and lost scenarios</a:t>
            </a:r>
          </a:p>
          <a:p>
            <a:pPr>
              <a:spcAft>
                <a:spcPts val="700"/>
              </a:spcAft>
              <a:defRPr sz="1800" b="0">
                <a:solidFill>
                  <a:srgbClr val="172028"/>
                </a:solidFill>
                <a:latin typeface="Lato"/>
              </a:defRPr>
            </a:pPr>
            <a:r>
              <a:t>Booked-to-retailed walkthrough</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Output: Audited sales workflow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WEEKLY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 06: Adding operational support</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Proposed allocation: verify against your internship diary.</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15</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Activities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Complaint intake and resolution</a:t>
            </a:r>
          </a:p>
          <a:p>
            <a:pPr>
              <a:spcAft>
                <a:spcPts val="700"/>
              </a:spcAft>
              <a:defRPr sz="1800" b="0">
                <a:solidFill>
                  <a:srgbClr val="172028"/>
                </a:solidFill>
                <a:latin typeface="Lato"/>
              </a:defRPr>
            </a:pPr>
            <a:r>
              <a:t>CSV/XLSX import review</a:t>
            </a:r>
          </a:p>
          <a:p>
            <a:pPr>
              <a:spcAft>
                <a:spcPts val="700"/>
              </a:spcAft>
              <a:defRPr sz="1800" b="0">
                <a:solidFill>
                  <a:srgbClr val="172028"/>
                </a:solidFill>
                <a:latin typeface="Lato"/>
              </a:defRPr>
            </a:pPr>
            <a:r>
              <a:t>Lists and employee lifecycle controls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Technical work</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Type/subtype and activity validation</a:t>
            </a:r>
          </a:p>
          <a:p>
            <a:pPr>
              <a:spcAft>
                <a:spcPts val="700"/>
              </a:spcAft>
              <a:defRPr sz="1800" b="0">
                <a:solidFill>
                  <a:srgbClr val="172028"/>
                </a:solidFill>
                <a:latin typeface="Lato"/>
              </a:defRPr>
            </a:pPr>
            <a:r>
              <a:t>Duplicate-phone staging</a:t>
            </a:r>
          </a:p>
          <a:p>
            <a:pPr>
              <a:spcAft>
                <a:spcPts val="700"/>
              </a:spcAft>
              <a:defRPr sz="1800" b="0">
                <a:solidFill>
                  <a:srgbClr val="172028"/>
                </a:solidFill>
                <a:latin typeface="Lato"/>
              </a:defRPr>
            </a:pPr>
            <a:r>
              <a:t>Safe reassignment and reminder holds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evidence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Complaint workflow</a:t>
            </a:r>
          </a:p>
          <a:p>
            <a:pPr>
              <a:spcAft>
                <a:spcPts val="700"/>
              </a:spcAft>
              <a:defRPr sz="1800" b="0">
                <a:solidFill>
                  <a:srgbClr val="172028"/>
                </a:solidFill>
                <a:latin typeface="Lato"/>
              </a:defRPr>
            </a:pPr>
            <a:r>
              <a:t>Import summary and commit</a:t>
            </a:r>
          </a:p>
          <a:p>
            <a:pPr>
              <a:spcAft>
                <a:spcPts val="700"/>
              </a:spcAft>
              <a:defRPr sz="1800" b="0">
                <a:solidFill>
                  <a:srgbClr val="172028"/>
                </a:solidFill>
                <a:latin typeface="Lato"/>
              </a:defRPr>
            </a:pPr>
            <a:r>
              <a:t>Offboarding impact preview</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Output: Operations features and validations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WEEKLY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 07: Analytics, testing and refinement</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Proposed allocation: verify against your internship diary.</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16</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Activities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Review enquiry-stage metrics</a:t>
            </a:r>
          </a:p>
          <a:p>
            <a:pPr>
              <a:spcAft>
                <a:spcPts val="700"/>
              </a:spcAft>
              <a:defRPr sz="1800" b="0">
                <a:solidFill>
                  <a:srgbClr val="172028"/>
                </a:solidFill>
                <a:latin typeface="Lato"/>
              </a:defRPr>
            </a:pPr>
            <a:r>
              <a:t>Check branch and role scoping</a:t>
            </a:r>
          </a:p>
          <a:p>
            <a:pPr>
              <a:spcAft>
                <a:spcPts val="700"/>
              </a:spcAft>
              <a:defRPr sz="1800" b="0">
                <a:solidFill>
                  <a:srgbClr val="172028"/>
                </a:solidFill>
                <a:latin typeface="Lato"/>
              </a:defRPr>
            </a:pPr>
            <a:r>
              <a:t>Run regression and frontend checks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Technical work</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Distinct ETBR aggregates</a:t>
            </a:r>
          </a:p>
          <a:p>
            <a:pPr>
              <a:spcAft>
                <a:spcPts val="700"/>
              </a:spcAft>
              <a:defRPr sz="1800" b="0">
                <a:solidFill>
                  <a:srgbClr val="172028"/>
                </a:solidFill>
                <a:latin typeface="Lato"/>
              </a:defRPr>
            </a:pPr>
            <a:r>
              <a:t>Filter-aware cache keys</a:t>
            </a:r>
          </a:p>
          <a:p>
            <a:pPr>
              <a:spcAft>
                <a:spcPts val="700"/>
              </a:spcAft>
              <a:defRPr sz="1800" b="0">
                <a:solidFill>
                  <a:srgbClr val="172028"/>
                </a:solidFill>
                <a:latin typeface="Lato"/>
              </a:defRPr>
            </a:pPr>
            <a:r>
              <a:t>Permission and workflow tests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evidence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Test results and bug notes</a:t>
            </a:r>
          </a:p>
          <a:p>
            <a:pPr>
              <a:spcAft>
                <a:spcPts val="700"/>
              </a:spcAft>
              <a:defRPr sz="1800" b="0">
                <a:solidFill>
                  <a:srgbClr val="172028"/>
                </a:solidFill>
                <a:latin typeface="Lato"/>
              </a:defRPr>
            </a:pPr>
            <a:r>
              <a:t>Reporting definitions</a:t>
            </a:r>
          </a:p>
          <a:p>
            <a:pPr>
              <a:spcAft>
                <a:spcPts val="700"/>
              </a:spcAft>
              <a:defRPr sz="1800" b="0">
                <a:solidFill>
                  <a:srgbClr val="172028"/>
                </a:solidFill>
                <a:latin typeface="Lato"/>
              </a:defRPr>
            </a:pPr>
            <a:r>
              <a:t>Verified edge cases</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Output: Validated reporting and defect fixes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WEEKLY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Week 08: Delivery, documentation and review</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Proposed allocation: verify against your internship diary.</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17</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Activities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Review environment configuration</a:t>
            </a:r>
          </a:p>
          <a:p>
            <a:pPr>
              <a:spcAft>
                <a:spcPts val="700"/>
              </a:spcAft>
              <a:defRPr sz="1800" b="0">
                <a:solidFill>
                  <a:srgbClr val="172028"/>
                </a:solidFill>
                <a:latin typeface="Lato"/>
              </a:defRPr>
            </a:pPr>
            <a:r>
              <a:t>Prepare demo and technical notes</a:t>
            </a:r>
          </a:p>
          <a:p>
            <a:pPr>
              <a:spcAft>
                <a:spcPts val="700"/>
              </a:spcAft>
              <a:defRPr sz="1800" b="0">
                <a:solidFill>
                  <a:srgbClr val="172028"/>
                </a:solidFill>
                <a:latin typeface="Lato"/>
              </a:defRPr>
            </a:pPr>
            <a:r>
              <a:t>Summarise learning and remaining work</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Technical work</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Frontend and API deployment boundaries</a:t>
            </a:r>
          </a:p>
          <a:p>
            <a:pPr>
              <a:spcAft>
                <a:spcPts val="700"/>
              </a:spcAft>
              <a:defRPr sz="1800" b="0">
                <a:solidFill>
                  <a:srgbClr val="172028"/>
                </a:solidFill>
                <a:latin typeface="Lato"/>
              </a:defRPr>
            </a:pPr>
            <a:r>
              <a:t>Database migration and health checks</a:t>
            </a:r>
          </a:p>
          <a:p>
            <a:pPr>
              <a:spcAft>
                <a:spcPts val="700"/>
              </a:spcAft>
              <a:defRPr sz="1800" b="0">
                <a:solidFill>
                  <a:srgbClr val="172028"/>
                </a:solidFill>
                <a:latin typeface="Lato"/>
              </a:defRPr>
            </a:pPr>
            <a:r>
              <a:t>Worker/scheduler configuration review</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Weekly evidence</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Demo script and handover checklist</a:t>
            </a:r>
          </a:p>
          <a:p>
            <a:pPr>
              <a:spcAft>
                <a:spcPts val="700"/>
              </a:spcAft>
              <a:defRPr sz="1800" b="0">
                <a:solidFill>
                  <a:srgbClr val="172028"/>
                </a:solidFill>
                <a:latin typeface="Lato"/>
              </a:defRPr>
            </a:pPr>
            <a:r>
              <a:t>Architecture and API notes</a:t>
            </a:r>
          </a:p>
          <a:p>
            <a:pPr>
              <a:spcAft>
                <a:spcPts val="700"/>
              </a:spcAft>
              <a:defRPr sz="1800" b="0">
                <a:solidFill>
                  <a:srgbClr val="172028"/>
                </a:solidFill>
                <a:latin typeface="Lato"/>
              </a:defRPr>
            </a:pPr>
            <a:r>
              <a:t>[Add mentor feedback and final review]</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Output: Presentation and handover checklist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ANALYSIS</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Requirements translated into features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Business needs mapped to implementation and acceptance evidence.</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18</a:t>
            </a:r>
          </a:p>
        </p:txBody>
      </p:sp>
      <p:graphicFrame>
        <p:nvGraphicFramePr>
          <p:cNvPr id="9" name="Table 8"/>
          <p:cNvGraphicFramePr>
            <a:graphicFrameLocks noGrp="1"/>
          </p:cNvGraphicFramePr>
          <p:nvPr/>
        </p:nvGraphicFramePr>
        <p:xfrm>
          <a:off x="566928" y="2276856"/>
          <a:ext cx="11045952" cy="3218688"/>
        </p:xfrm>
        <a:graphic>
          <a:graphicData uri="http://schemas.openxmlformats.org/drawingml/2006/table">
            <a:tbl>
              <a:tblPr firstRow="1" bandRow="1">
                <a:tableStyleId>{5C22544A-7EE6-4342-B048-85BDC9FD1C3A}</a:tableStyleId>
              </a:tblPr>
              <a:tblGrid>
                <a:gridCol w="2148840"/>
                <a:gridCol w="4206240"/>
                <a:gridCol w="4690872"/>
              </a:tblGrid>
              <a:tr h="459812">
                <a:tc>
                  <a:txBody>
                    <a:bodyPr/>
                    <a:lstStyle/>
                    <a:p>
                      <a:pPr>
                        <a:defRPr sz="1500" b="1">
                          <a:solidFill>
                            <a:srgbClr val="FFFFFF"/>
                          </a:solidFill>
                          <a:latin typeface="Lato"/>
                        </a:defRPr>
                      </a:pPr>
                      <a:r>
                        <a:t>Need</a:t>
                      </a:r>
                    </a:p>
                  </a:txBody>
                  <a:tcPr anchor="ctr" marL="118872" marR="91440" marT="54864" marB="54864">
                    <a:solidFill>
                      <a:srgbClr val="172028"/>
                    </a:solidFill>
                  </a:tcPr>
                </a:tc>
                <a:tc>
                  <a:txBody>
                    <a:bodyPr/>
                    <a:lstStyle/>
                    <a:p>
                      <a:pPr>
                        <a:defRPr sz="1500" b="1">
                          <a:solidFill>
                            <a:srgbClr val="FFFFFF"/>
                          </a:solidFill>
                          <a:latin typeface="Lato"/>
                        </a:defRPr>
                      </a:pPr>
                      <a:r>
                        <a:t>Implemented response</a:t>
                      </a:r>
                    </a:p>
                  </a:txBody>
                  <a:tcPr anchor="ctr" marL="118872" marR="91440" marT="54864" marB="54864">
                    <a:solidFill>
                      <a:srgbClr val="172028"/>
                    </a:solidFill>
                  </a:tcPr>
                </a:tc>
                <a:tc>
                  <a:txBody>
                    <a:bodyPr/>
                    <a:lstStyle/>
                    <a:p>
                      <a:pPr>
                        <a:defRPr sz="1500" b="1">
                          <a:solidFill>
                            <a:srgbClr val="FFFFFF"/>
                          </a:solidFill>
                          <a:latin typeface="Lato"/>
                        </a:defRPr>
                      </a:pPr>
                      <a:r>
                        <a:t>Acceptance example</a:t>
                      </a:r>
                    </a:p>
                  </a:txBody>
                  <a:tcPr anchor="ctr" marL="118872" marR="91440" marT="54864" marB="54864">
                    <a:solidFill>
                      <a:srgbClr val="172028"/>
                    </a:solidFill>
                  </a:tcPr>
                </a:tc>
              </a:tr>
              <a:tr h="459812">
                <a:tc>
                  <a:txBody>
                    <a:bodyPr/>
                    <a:lstStyle/>
                    <a:p>
                      <a:pPr>
                        <a:defRPr sz="1500" b="1">
                          <a:solidFill>
                            <a:srgbClr val="172028"/>
                          </a:solidFill>
                          <a:latin typeface="Lato"/>
                        </a:defRPr>
                      </a:pPr>
                      <a:r>
                        <a:t>Clear ownership</a:t>
                      </a:r>
                    </a:p>
                  </a:txBody>
                  <a:tcPr anchor="ctr" marL="118872" marR="91440" marT="54864" marB="54864">
                    <a:solidFill>
                      <a:srgbClr val="FFFFFF"/>
                    </a:solidFill>
                  </a:tcPr>
                </a:tc>
                <a:tc>
                  <a:txBody>
                    <a:bodyPr/>
                    <a:lstStyle/>
                    <a:p>
                      <a:pPr>
                        <a:defRPr sz="1500" b="0">
                          <a:solidFill>
                            <a:srgbClr val="172028"/>
                          </a:solidFill>
                          <a:latin typeface="Lato"/>
                        </a:defRPr>
                      </a:pPr>
                      <a:r>
                        <a:t>CE and PS/SO assignment</a:t>
                      </a:r>
                    </a:p>
                  </a:txBody>
                  <a:tcPr anchor="ctr" marL="118872" marR="91440" marT="54864" marB="54864">
                    <a:solidFill>
                      <a:srgbClr val="FFFFFF"/>
                    </a:solidFill>
                  </a:tcPr>
                </a:tc>
                <a:tc>
                  <a:txBody>
                    <a:bodyPr/>
                    <a:lstStyle/>
                    <a:p>
                      <a:pPr>
                        <a:defRPr sz="1500" b="0">
                          <a:solidFill>
                            <a:srgbClr val="172028"/>
                          </a:solidFill>
                          <a:latin typeface="Lato"/>
                        </a:defRPr>
                      </a:pPr>
                      <a:r>
                        <a:t>Assigned employee sees the same lead</a:t>
                      </a:r>
                    </a:p>
                  </a:txBody>
                  <a:tcPr anchor="ctr" marL="118872" marR="91440" marT="54864" marB="54864">
                    <a:solidFill>
                      <a:srgbClr val="FFFFFF"/>
                    </a:solidFill>
                  </a:tcPr>
                </a:tc>
              </a:tr>
              <a:tr h="459812">
                <a:tc>
                  <a:txBody>
                    <a:bodyPr/>
                    <a:lstStyle/>
                    <a:p>
                      <a:pPr>
                        <a:defRPr sz="1500" b="1">
                          <a:solidFill>
                            <a:srgbClr val="172028"/>
                          </a:solidFill>
                          <a:latin typeface="Lato"/>
                        </a:defRPr>
                      </a:pPr>
                      <a:r>
                        <a:t>Consistent follow-up</a:t>
                      </a:r>
                    </a:p>
                  </a:txBody>
                  <a:tcPr anchor="ctr" marL="118872" marR="91440" marT="54864" marB="54864">
                    <a:solidFill>
                      <a:srgbClr val="EAEDEB"/>
                    </a:solidFill>
                  </a:tcPr>
                </a:tc>
                <a:tc>
                  <a:txBody>
                    <a:bodyPr/>
                    <a:lstStyle/>
                    <a:p>
                      <a:pPr>
                        <a:defRPr sz="1500" b="0">
                          <a:solidFill>
                            <a:srgbClr val="172028"/>
                          </a:solidFill>
                          <a:latin typeface="Lato"/>
                        </a:defRPr>
                      </a:pPr>
                      <a:r>
                        <a:t>Outcome, date, remarks and history</a:t>
                      </a:r>
                    </a:p>
                  </a:txBody>
                  <a:tcPr anchor="ctr" marL="118872" marR="91440" marT="54864" marB="54864">
                    <a:solidFill>
                      <a:srgbClr val="EAEDEB"/>
                    </a:solidFill>
                  </a:tcPr>
                </a:tc>
                <a:tc>
                  <a:txBody>
                    <a:bodyPr/>
                    <a:lstStyle/>
                    <a:p>
                      <a:pPr>
                        <a:defRPr sz="1500" b="0">
                          <a:solidFill>
                            <a:srgbClr val="172028"/>
                          </a:solidFill>
                          <a:latin typeface="Lato"/>
                        </a:defRPr>
                      </a:pPr>
                      <a:r>
                        <a:t>Invalid follow-up date is rejected</a:t>
                      </a:r>
                    </a:p>
                  </a:txBody>
                  <a:tcPr anchor="ctr" marL="118872" marR="91440" marT="54864" marB="54864">
                    <a:solidFill>
                      <a:srgbClr val="EAEDEB"/>
                    </a:solidFill>
                  </a:tcPr>
                </a:tc>
              </a:tr>
              <a:tr h="459812">
                <a:tc>
                  <a:txBody>
                    <a:bodyPr/>
                    <a:lstStyle/>
                    <a:p>
                      <a:pPr>
                        <a:defRPr sz="1500" b="1">
                          <a:solidFill>
                            <a:srgbClr val="172028"/>
                          </a:solidFill>
                          <a:latin typeface="Lato"/>
                        </a:defRPr>
                      </a:pPr>
                      <a:r>
                        <a:t>Controlled access</a:t>
                      </a:r>
                    </a:p>
                  </a:txBody>
                  <a:tcPr anchor="ctr" marL="118872" marR="91440" marT="54864" marB="54864">
                    <a:solidFill>
                      <a:srgbClr val="FFFFFF"/>
                    </a:solidFill>
                  </a:tcPr>
                </a:tc>
                <a:tc>
                  <a:txBody>
                    <a:bodyPr/>
                    <a:lstStyle/>
                    <a:p>
                      <a:pPr>
                        <a:defRPr sz="1500" b="0">
                          <a:solidFill>
                            <a:srgbClr val="172028"/>
                          </a:solidFill>
                          <a:latin typeface="Lato"/>
                        </a:defRPr>
                      </a:pPr>
                      <a:r>
                        <a:t>Role and branch-scoped API queries</a:t>
                      </a:r>
                    </a:p>
                  </a:txBody>
                  <a:tcPr anchor="ctr" marL="118872" marR="91440" marT="54864" marB="54864">
                    <a:solidFill>
                      <a:srgbClr val="FFFFFF"/>
                    </a:solidFill>
                  </a:tcPr>
                </a:tc>
                <a:tc>
                  <a:txBody>
                    <a:bodyPr/>
                    <a:lstStyle/>
                    <a:p>
                      <a:pPr>
                        <a:defRPr sz="1500" b="0">
                          <a:solidFill>
                            <a:srgbClr val="172028"/>
                          </a:solidFill>
                          <a:latin typeface="Lato"/>
                        </a:defRPr>
                      </a:pPr>
                      <a:r>
                        <a:t>Other branch records stay outside the result</a:t>
                      </a:r>
                    </a:p>
                  </a:txBody>
                  <a:tcPr anchor="ctr" marL="118872" marR="91440" marT="54864" marB="54864">
                    <a:solidFill>
                      <a:srgbClr val="FFFFFF"/>
                    </a:solidFill>
                  </a:tcPr>
                </a:tc>
              </a:tr>
              <a:tr h="459812">
                <a:tc>
                  <a:txBody>
                    <a:bodyPr/>
                    <a:lstStyle/>
                    <a:p>
                      <a:pPr>
                        <a:defRPr sz="1500" b="1">
                          <a:solidFill>
                            <a:srgbClr val="172028"/>
                          </a:solidFill>
                          <a:latin typeface="Lato"/>
                        </a:defRPr>
                      </a:pPr>
                      <a:r>
                        <a:t>Reliable intake</a:t>
                      </a:r>
                    </a:p>
                  </a:txBody>
                  <a:tcPr anchor="ctr" marL="118872" marR="91440" marT="54864" marB="54864">
                    <a:solidFill>
                      <a:srgbClr val="EAEDEB"/>
                    </a:solidFill>
                  </a:tcPr>
                </a:tc>
                <a:tc>
                  <a:txBody>
                    <a:bodyPr/>
                    <a:lstStyle/>
                    <a:p>
                      <a:pPr>
                        <a:defRPr sz="1500" b="0">
                          <a:solidFill>
                            <a:srgbClr val="172028"/>
                          </a:solidFill>
                          <a:latin typeface="Lato"/>
                        </a:defRPr>
                      </a:pPr>
                      <a:r>
                        <a:t>Configured lists and import staging</a:t>
                      </a:r>
                    </a:p>
                  </a:txBody>
                  <a:tcPr anchor="ctr" marL="118872" marR="91440" marT="54864" marB="54864">
                    <a:solidFill>
                      <a:srgbClr val="EAEDEB"/>
                    </a:solidFill>
                  </a:tcPr>
                </a:tc>
                <a:tc>
                  <a:txBody>
                    <a:bodyPr/>
                    <a:lstStyle/>
                    <a:p>
                      <a:pPr>
                        <a:defRPr sz="1500" b="0">
                          <a:solidFill>
                            <a:srgbClr val="172028"/>
                          </a:solidFill>
                          <a:latin typeface="Lato"/>
                        </a:defRPr>
                      </a:pPr>
                      <a:r>
                        <a:t>Invalid values and duplicate rows are identified</a:t>
                      </a:r>
                    </a:p>
                  </a:txBody>
                  <a:tcPr anchor="ctr" marL="118872" marR="91440" marT="54864" marB="54864">
                    <a:solidFill>
                      <a:srgbClr val="EAEDEB"/>
                    </a:solidFill>
                  </a:tcPr>
                </a:tc>
              </a:tr>
              <a:tr h="459812">
                <a:tc>
                  <a:txBody>
                    <a:bodyPr/>
                    <a:lstStyle/>
                    <a:p>
                      <a:pPr>
                        <a:defRPr sz="1500" b="1">
                          <a:solidFill>
                            <a:srgbClr val="172028"/>
                          </a:solidFill>
                          <a:latin typeface="Lato"/>
                        </a:defRPr>
                      </a:pPr>
                      <a:r>
                        <a:t>Management review</a:t>
                      </a:r>
                    </a:p>
                  </a:txBody>
                  <a:tcPr anchor="ctr" marL="118872" marR="91440" marT="54864" marB="54864">
                    <a:solidFill>
                      <a:srgbClr val="FFFFFF"/>
                    </a:solidFill>
                  </a:tcPr>
                </a:tc>
                <a:tc>
                  <a:txBody>
                    <a:bodyPr/>
                    <a:lstStyle/>
                    <a:p>
                      <a:pPr>
                        <a:defRPr sz="1500" b="0">
                          <a:solidFill>
                            <a:srgbClr val="172028"/>
                          </a:solidFill>
                          <a:latin typeface="Lato"/>
                        </a:defRPr>
                      </a:pPr>
                      <a:r>
                        <a:t>ETBR and role-specific analytics</a:t>
                      </a:r>
                    </a:p>
                  </a:txBody>
                  <a:tcPr anchor="ctr" marL="118872" marR="91440" marT="54864" marB="54864">
                    <a:solidFill>
                      <a:srgbClr val="FFFFFF"/>
                    </a:solidFill>
                  </a:tcPr>
                </a:tc>
                <a:tc>
                  <a:txBody>
                    <a:bodyPr/>
                    <a:lstStyle/>
                    <a:p>
                      <a:pPr>
                        <a:defRPr sz="1500" b="0">
                          <a:solidFill>
                            <a:srgbClr val="172028"/>
                          </a:solidFill>
                          <a:latin typeface="Lato"/>
                        </a:defRPr>
                      </a:pPr>
                      <a:r>
                        <a:t>Same scope and dates give comparable totals</a:t>
                      </a:r>
                    </a:p>
                  </a:txBody>
                  <a:tcPr anchor="ctr" marL="118872" marR="91440" marT="54864" marB="54864">
                    <a:solidFill>
                      <a:srgbClr val="FFFFFF"/>
                    </a:solidFill>
                  </a:tcPr>
                </a:tc>
              </a:tr>
              <a:tr h="459816">
                <a:tc>
                  <a:txBody>
                    <a:bodyPr/>
                    <a:lstStyle/>
                    <a:p>
                      <a:pPr>
                        <a:defRPr sz="1500" b="1">
                          <a:solidFill>
                            <a:srgbClr val="172028"/>
                          </a:solidFill>
                          <a:latin typeface="Lato"/>
                        </a:defRPr>
                      </a:pPr>
                      <a:r>
                        <a:t>Staff continuity</a:t>
                      </a:r>
                    </a:p>
                  </a:txBody>
                  <a:tcPr anchor="ctr" marL="118872" marR="91440" marT="54864" marB="54864">
                    <a:solidFill>
                      <a:srgbClr val="EAEDEB"/>
                    </a:solidFill>
                  </a:tcPr>
                </a:tc>
                <a:tc>
                  <a:txBody>
                    <a:bodyPr/>
                    <a:lstStyle/>
                    <a:p>
                      <a:pPr>
                        <a:defRPr sz="1500" b="0">
                          <a:solidFill>
                            <a:srgbClr val="172028"/>
                          </a:solidFill>
                          <a:latin typeface="Lato"/>
                        </a:defRPr>
                      </a:pPr>
                      <a:r>
                        <a:t>Impact preview and reassignment</a:t>
                      </a:r>
                    </a:p>
                  </a:txBody>
                  <a:tcPr anchor="ctr" marL="118872" marR="91440" marT="54864" marB="54864">
                    <a:solidFill>
                      <a:srgbClr val="EAEDEB"/>
                    </a:solidFill>
                  </a:tcPr>
                </a:tc>
                <a:tc>
                  <a:txBody>
                    <a:bodyPr/>
                    <a:lstStyle/>
                    <a:p>
                      <a:pPr>
                        <a:defRPr sz="1500" b="0">
                          <a:solidFill>
                            <a:srgbClr val="172028"/>
                          </a:solidFill>
                          <a:latin typeface="Lato"/>
                        </a:defRPr>
                      </a:pPr>
                      <a:r>
                        <a:t>Active work remains actionable after disable</a:t>
                      </a:r>
                    </a:p>
                  </a:txBody>
                  <a:tcPr anchor="ctr" marL="118872" marR="91440" marT="54864" marB="54864">
                    <a:solidFill>
                      <a:srgbClr val="EAEDEB"/>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WORKFLOW</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End-to-end customer enquiry workflow</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A lead keeps its identity while responsibility and sales progress change.</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19</a:t>
            </a:r>
          </a:p>
        </p:txBody>
      </p:sp>
      <p:sp>
        <p:nvSpPr>
          <p:cNvPr id="9" name="Rectangle 8"/>
          <p:cNvSpPr/>
          <p:nvPr/>
        </p:nvSpPr>
        <p:spPr>
          <a:xfrm>
            <a:off x="640080" y="2542032"/>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660903"/>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Capture</a:t>
            </a:r>
          </a:p>
        </p:txBody>
      </p:sp>
      <p:sp>
        <p:nvSpPr>
          <p:cNvPr id="11" name="TextBox 10"/>
          <p:cNvSpPr txBox="1"/>
          <p:nvPr/>
        </p:nvSpPr>
        <p:spPr>
          <a:xfrm>
            <a:off x="768096" y="3090672"/>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Admin / CE / import</a:t>
            </a:r>
          </a:p>
        </p:txBody>
      </p:sp>
      <p:cxnSp>
        <p:nvCxnSpPr>
          <p:cNvPr id="12" name="Connector 11"/>
          <p:cNvCxnSpPr/>
          <p:nvPr/>
        </p:nvCxnSpPr>
        <p:spPr>
          <a:xfrm>
            <a:off x="3246120" y="3118104"/>
            <a:ext cx="256032"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529584" y="2542032"/>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660903"/>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CE contact</a:t>
            </a:r>
          </a:p>
        </p:txBody>
      </p:sp>
      <p:sp>
        <p:nvSpPr>
          <p:cNvPr id="15" name="TextBox 14"/>
          <p:cNvSpPr txBox="1"/>
          <p:nvPr/>
        </p:nvSpPr>
        <p:spPr>
          <a:xfrm>
            <a:off x="3657600" y="3090672"/>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Assign and qualify</a:t>
            </a:r>
          </a:p>
        </p:txBody>
      </p:sp>
      <p:cxnSp>
        <p:nvCxnSpPr>
          <p:cNvPr id="16" name="Connector 15"/>
          <p:cNvCxnSpPr/>
          <p:nvPr/>
        </p:nvCxnSpPr>
        <p:spPr>
          <a:xfrm>
            <a:off x="6135624" y="3118104"/>
            <a:ext cx="256032"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419088" y="2542032"/>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2660903"/>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PS/SO follow-up</a:t>
            </a:r>
          </a:p>
        </p:txBody>
      </p:sp>
      <p:sp>
        <p:nvSpPr>
          <p:cNvPr id="19" name="TextBox 18"/>
          <p:cNvSpPr txBox="1"/>
          <p:nvPr/>
        </p:nvSpPr>
        <p:spPr>
          <a:xfrm>
            <a:off x="6547104" y="3090672"/>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Discuss / test drive</a:t>
            </a:r>
          </a:p>
        </p:txBody>
      </p:sp>
      <p:cxnSp>
        <p:nvCxnSpPr>
          <p:cNvPr id="20" name="Connector 19"/>
          <p:cNvCxnSpPr/>
          <p:nvPr/>
        </p:nvCxnSpPr>
        <p:spPr>
          <a:xfrm>
            <a:off x="9025128" y="3118104"/>
            <a:ext cx="256032"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308592" y="2542032"/>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6608" y="2660903"/>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Sale outcome</a:t>
            </a:r>
          </a:p>
        </p:txBody>
      </p:sp>
      <p:sp>
        <p:nvSpPr>
          <p:cNvPr id="23" name="TextBox 22"/>
          <p:cNvSpPr txBox="1"/>
          <p:nvPr/>
        </p:nvSpPr>
        <p:spPr>
          <a:xfrm>
            <a:off x="9436608" y="3090672"/>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Booked → Retailed</a:t>
            </a:r>
          </a:p>
        </p:txBody>
      </p:sp>
      <p:sp>
        <p:nvSpPr>
          <p:cNvPr id="24" name="Rectangle 23"/>
          <p:cNvSpPr/>
          <p:nvPr/>
        </p:nvSpPr>
        <p:spPr>
          <a:xfrm>
            <a:off x="640080" y="4325112"/>
            <a:ext cx="3383280" cy="96012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443984"/>
            <a:ext cx="3127248"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Walk-in / SO enquiry</a:t>
            </a:r>
          </a:p>
        </p:txBody>
      </p:sp>
      <p:sp>
        <p:nvSpPr>
          <p:cNvPr id="26" name="TextBox 25"/>
          <p:cNvSpPr txBox="1"/>
          <p:nvPr/>
        </p:nvSpPr>
        <p:spPr>
          <a:xfrm>
            <a:off x="768096" y="4873752"/>
            <a:ext cx="3127248" cy="38404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Direct sales entry</a:t>
            </a:r>
          </a:p>
        </p:txBody>
      </p:sp>
      <p:cxnSp>
        <p:nvCxnSpPr>
          <p:cNvPr id="27" name="Connector 26"/>
          <p:cNvCxnSpPr/>
          <p:nvPr/>
        </p:nvCxnSpPr>
        <p:spPr>
          <a:xfrm>
            <a:off x="4023360" y="4800600"/>
            <a:ext cx="3694176" cy="0"/>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717536" y="3703320"/>
            <a:ext cx="0" cy="1097280"/>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434840" y="3703320"/>
            <a:ext cx="2624328" cy="91440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62855" y="3822191"/>
            <a:ext cx="2368296" cy="384048"/>
          </a:xfrm>
          <a:prstGeom prst="rect">
            <a:avLst/>
          </a:prstGeom>
          <a:noFill/>
        </p:spPr>
        <p:txBody>
          <a:bodyPr wrap="square" lIns="0" rIns="0" tIns="0" bIns="0">
            <a:spAutoFit/>
          </a:bodyPr>
          <a:lstStyle/>
          <a:p>
            <a:pPr algn="ctr">
              <a:spcAft>
                <a:spcPts val="700"/>
              </a:spcAft>
              <a:defRPr sz="1900" b="1">
                <a:solidFill>
                  <a:srgbClr val="59636A"/>
                </a:solidFill>
                <a:latin typeface="Lato"/>
              </a:defRPr>
            </a:pPr>
            <a:r>
              <a:t>Pending or Lost</a:t>
            </a:r>
          </a:p>
        </p:txBody>
      </p:sp>
      <p:sp>
        <p:nvSpPr>
          <p:cNvPr id="31" name="TextBox 30"/>
          <p:cNvSpPr txBox="1"/>
          <p:nvPr/>
        </p:nvSpPr>
        <p:spPr>
          <a:xfrm>
            <a:off x="4562855" y="4251959"/>
            <a:ext cx="2368296" cy="33832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Reason and history</a:t>
            </a:r>
          </a:p>
        </p:txBody>
      </p:sp>
      <p:sp>
        <p:nvSpPr>
          <p:cNvPr id="32" name="Rectangle 31"/>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Managers review authorised branch records; complaints follow their own ticket workflow.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ACCESS CONTROL</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Roles and access boundaries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Six application roles; the CE role still uses the stored code CRE.</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20</a:t>
            </a:r>
          </a:p>
        </p:txBody>
      </p:sp>
      <p:graphicFrame>
        <p:nvGraphicFramePr>
          <p:cNvPr id="9" name="Table 8"/>
          <p:cNvGraphicFramePr>
            <a:graphicFrameLocks noGrp="1"/>
          </p:cNvGraphicFramePr>
          <p:nvPr/>
        </p:nvGraphicFramePr>
        <p:xfrm>
          <a:off x="566928" y="2276856"/>
          <a:ext cx="11045952" cy="3218688"/>
        </p:xfrm>
        <a:graphic>
          <a:graphicData uri="http://schemas.openxmlformats.org/drawingml/2006/table">
            <a:tbl>
              <a:tblPr firstRow="1" bandRow="1">
                <a:tableStyleId>{5C22544A-7EE6-4342-B048-85BDC9FD1C3A}</a:tableStyleId>
              </a:tblPr>
              <a:tblGrid>
                <a:gridCol w="1920240"/>
                <a:gridCol w="4114800"/>
                <a:gridCol w="5010912"/>
              </a:tblGrid>
              <a:tr h="459812">
                <a:tc>
                  <a:txBody>
                    <a:bodyPr/>
                    <a:lstStyle/>
                    <a:p>
                      <a:pPr>
                        <a:defRPr sz="1500" b="1">
                          <a:solidFill>
                            <a:srgbClr val="FFFFFF"/>
                          </a:solidFill>
                          <a:latin typeface="Lato"/>
                        </a:defRPr>
                      </a:pPr>
                      <a:r>
                        <a:t>Role</a:t>
                      </a:r>
                    </a:p>
                  </a:txBody>
                  <a:tcPr anchor="ctr" marL="118872" marR="91440" marT="54864" marB="54864">
                    <a:solidFill>
                      <a:srgbClr val="172028"/>
                    </a:solidFill>
                  </a:tcPr>
                </a:tc>
                <a:tc>
                  <a:txBody>
                    <a:bodyPr/>
                    <a:lstStyle/>
                    <a:p>
                      <a:pPr>
                        <a:defRPr sz="1500" b="1">
                          <a:solidFill>
                            <a:srgbClr val="FFFFFF"/>
                          </a:solidFill>
                          <a:latin typeface="Lato"/>
                        </a:defRPr>
                      </a:pPr>
                      <a:r>
                        <a:t>Main responsibility</a:t>
                      </a:r>
                    </a:p>
                  </a:txBody>
                  <a:tcPr anchor="ctr" marL="118872" marR="91440" marT="54864" marB="54864">
                    <a:solidFill>
                      <a:srgbClr val="172028"/>
                    </a:solidFill>
                  </a:tcPr>
                </a:tc>
                <a:tc>
                  <a:txBody>
                    <a:bodyPr/>
                    <a:lstStyle/>
                    <a:p>
                      <a:pPr>
                        <a:defRPr sz="1500" b="1">
                          <a:solidFill>
                            <a:srgbClr val="FFFFFF"/>
                          </a:solidFill>
                          <a:latin typeface="Lato"/>
                        </a:defRPr>
                      </a:pPr>
                      <a:r>
                        <a:t>Visibility / restriction</a:t>
                      </a:r>
                    </a:p>
                  </a:txBody>
                  <a:tcPr anchor="ctr" marL="118872" marR="91440" marT="54864" marB="54864">
                    <a:solidFill>
                      <a:srgbClr val="172028"/>
                    </a:solidFill>
                  </a:tcPr>
                </a:tc>
              </a:tr>
              <a:tr h="459812">
                <a:tc>
                  <a:txBody>
                    <a:bodyPr/>
                    <a:lstStyle/>
                    <a:p>
                      <a:pPr>
                        <a:defRPr sz="1500" b="1">
                          <a:solidFill>
                            <a:srgbClr val="172028"/>
                          </a:solidFill>
                          <a:latin typeface="Lato"/>
                        </a:defRPr>
                      </a:pPr>
                      <a:r>
                        <a:t>Admin</a:t>
                      </a:r>
                    </a:p>
                  </a:txBody>
                  <a:tcPr anchor="ctr" marL="118872" marR="91440" marT="54864" marB="54864">
                    <a:solidFill>
                      <a:srgbClr val="FFFFFF"/>
                    </a:solidFill>
                  </a:tcPr>
                </a:tc>
                <a:tc>
                  <a:txBody>
                    <a:bodyPr/>
                    <a:lstStyle/>
                    <a:p>
                      <a:pPr>
                        <a:defRPr sz="1500" b="0">
                          <a:solidFill>
                            <a:srgbClr val="172028"/>
                          </a:solidFill>
                          <a:latin typeface="Lato"/>
                        </a:defRPr>
                      </a:pPr>
                      <a:r>
                        <a:t>Configure, allocate and oversee</a:t>
                      </a:r>
                    </a:p>
                  </a:txBody>
                  <a:tcPr anchor="ctr" marL="118872" marR="91440" marT="54864" marB="54864">
                    <a:solidFill>
                      <a:srgbClr val="FFFFFF"/>
                    </a:solidFill>
                  </a:tcPr>
                </a:tc>
                <a:tc>
                  <a:txBody>
                    <a:bodyPr/>
                    <a:lstStyle/>
                    <a:p>
                      <a:pPr>
                        <a:defRPr sz="1500" b="0">
                          <a:solidFill>
                            <a:srgbClr val="172028"/>
                          </a:solidFill>
                          <a:latin typeface="Lato"/>
                        </a:defRPr>
                      </a:pPr>
                      <a:r>
                        <a:t>Broad CRM access; complaints read-only</a:t>
                      </a:r>
                    </a:p>
                  </a:txBody>
                  <a:tcPr anchor="ctr" marL="118872" marR="91440" marT="54864" marB="54864">
                    <a:solidFill>
                      <a:srgbClr val="FFFFFF"/>
                    </a:solidFill>
                  </a:tcPr>
                </a:tc>
              </a:tr>
              <a:tr h="459812">
                <a:tc>
                  <a:txBody>
                    <a:bodyPr/>
                    <a:lstStyle/>
                    <a:p>
                      <a:pPr>
                        <a:defRPr sz="1500" b="1">
                          <a:solidFill>
                            <a:srgbClr val="172028"/>
                          </a:solidFill>
                          <a:latin typeface="Lato"/>
                        </a:defRPr>
                      </a:pPr>
                      <a:r>
                        <a:t>CE (CRE)</a:t>
                      </a:r>
                    </a:p>
                  </a:txBody>
                  <a:tcPr anchor="ctr" marL="118872" marR="91440" marT="54864" marB="54864">
                    <a:solidFill>
                      <a:srgbClr val="EAEDEB"/>
                    </a:solidFill>
                  </a:tcPr>
                </a:tc>
                <a:tc>
                  <a:txBody>
                    <a:bodyPr/>
                    <a:lstStyle/>
                    <a:p>
                      <a:pPr>
                        <a:defRPr sz="1500" b="0">
                          <a:solidFill>
                            <a:srgbClr val="172028"/>
                          </a:solidFill>
                          <a:latin typeface="Lato"/>
                        </a:defRPr>
                      </a:pPr>
                      <a:r>
                        <a:t>Contact, qualify and log issues</a:t>
                      </a:r>
                    </a:p>
                  </a:txBody>
                  <a:tcPr anchor="ctr" marL="118872" marR="91440" marT="54864" marB="54864">
                    <a:solidFill>
                      <a:srgbClr val="EAEDEB"/>
                    </a:solidFill>
                  </a:tcPr>
                </a:tc>
                <a:tc>
                  <a:txBody>
                    <a:bodyPr/>
                    <a:lstStyle/>
                    <a:p>
                      <a:pPr>
                        <a:defRPr sz="1500" b="0">
                          <a:solidFill>
                            <a:srgbClr val="172028"/>
                          </a:solidFill>
                          <a:latin typeface="Lato"/>
                        </a:defRPr>
                      </a:pPr>
                      <a:r>
                        <a:t>Assigned leads; own logged complaints</a:t>
                      </a:r>
                    </a:p>
                  </a:txBody>
                  <a:tcPr anchor="ctr" marL="118872" marR="91440" marT="54864" marB="54864">
                    <a:solidFill>
                      <a:srgbClr val="EAEDEB"/>
                    </a:solidFill>
                  </a:tcPr>
                </a:tc>
              </a:tr>
              <a:tr h="459812">
                <a:tc>
                  <a:txBody>
                    <a:bodyPr/>
                    <a:lstStyle/>
                    <a:p>
                      <a:pPr>
                        <a:defRPr sz="1500" b="1">
                          <a:solidFill>
                            <a:srgbClr val="172028"/>
                          </a:solidFill>
                          <a:latin typeface="Lato"/>
                        </a:defRPr>
                      </a:pPr>
                      <a:r>
                        <a:t>PS/SO (SO)</a:t>
                      </a:r>
                    </a:p>
                  </a:txBody>
                  <a:tcPr anchor="ctr" marL="118872" marR="91440" marT="54864" marB="54864">
                    <a:solidFill>
                      <a:srgbClr val="FFFFFF"/>
                    </a:solidFill>
                  </a:tcPr>
                </a:tc>
                <a:tc>
                  <a:txBody>
                    <a:bodyPr/>
                    <a:lstStyle/>
                    <a:p>
                      <a:pPr>
                        <a:defRPr sz="1500" b="0">
                          <a:solidFill>
                            <a:srgbClr val="172028"/>
                          </a:solidFill>
                          <a:latin typeface="Lato"/>
                        </a:defRPr>
                      </a:pPr>
                      <a:r>
                        <a:t>Sales follow-up, booking and retail</a:t>
                      </a:r>
                    </a:p>
                  </a:txBody>
                  <a:tcPr anchor="ctr" marL="118872" marR="91440" marT="54864" marB="54864">
                    <a:solidFill>
                      <a:srgbClr val="FFFFFF"/>
                    </a:solidFill>
                  </a:tcPr>
                </a:tc>
                <a:tc>
                  <a:txBody>
                    <a:bodyPr/>
                    <a:lstStyle/>
                    <a:p>
                      <a:pPr>
                        <a:defRPr sz="1500" b="0">
                          <a:solidFill>
                            <a:srgbClr val="172028"/>
                          </a:solidFill>
                          <a:latin typeface="Lato"/>
                        </a:defRPr>
                      </a:pPr>
                      <a:r>
                        <a:t>Assigned sales leads and own intake</a:t>
                      </a:r>
                    </a:p>
                  </a:txBody>
                  <a:tcPr anchor="ctr" marL="118872" marR="91440" marT="54864" marB="54864">
                    <a:solidFill>
                      <a:srgbClr val="FFFFFF"/>
                    </a:solidFill>
                  </a:tcPr>
                </a:tc>
              </a:tr>
              <a:tr h="459812">
                <a:tc>
                  <a:txBody>
                    <a:bodyPr/>
                    <a:lstStyle/>
                    <a:p>
                      <a:pPr>
                        <a:defRPr sz="1500" b="1">
                          <a:solidFill>
                            <a:srgbClr val="172028"/>
                          </a:solidFill>
                          <a:latin typeface="Lato"/>
                        </a:defRPr>
                      </a:pPr>
                      <a:r>
                        <a:t>Sales Manager</a:t>
                      </a:r>
                    </a:p>
                  </a:txBody>
                  <a:tcPr anchor="ctr" marL="118872" marR="91440" marT="54864" marB="54864">
                    <a:solidFill>
                      <a:srgbClr val="EAEDEB"/>
                    </a:solidFill>
                  </a:tcPr>
                </a:tc>
                <a:tc>
                  <a:txBody>
                    <a:bodyPr/>
                    <a:lstStyle/>
                    <a:p>
                      <a:pPr>
                        <a:defRPr sz="1500" b="0">
                          <a:solidFill>
                            <a:srgbClr val="172028"/>
                          </a:solidFill>
                          <a:latin typeface="Lato"/>
                        </a:defRPr>
                      </a:pPr>
                      <a:r>
                        <a:t>Review sales performance</a:t>
                      </a:r>
                    </a:p>
                  </a:txBody>
                  <a:tcPr anchor="ctr" marL="118872" marR="91440" marT="54864" marB="54864">
                    <a:solidFill>
                      <a:srgbClr val="EAEDEB"/>
                    </a:solidFill>
                  </a:tcPr>
                </a:tc>
                <a:tc>
                  <a:txBody>
                    <a:bodyPr/>
                    <a:lstStyle/>
                    <a:p>
                      <a:pPr>
                        <a:defRPr sz="1500" b="0">
                          <a:solidFill>
                            <a:srgbClr val="172028"/>
                          </a:solidFill>
                          <a:latin typeface="Lato"/>
                        </a:defRPr>
                      </a:pPr>
                      <a:r>
                        <a:t>Configured branch; management views</a:t>
                      </a:r>
                    </a:p>
                  </a:txBody>
                  <a:tcPr anchor="ctr" marL="118872" marR="91440" marT="54864" marB="54864">
                    <a:solidFill>
                      <a:srgbClr val="EAEDEB"/>
                    </a:solidFill>
                  </a:tcPr>
                </a:tc>
              </a:tr>
              <a:tr h="459812">
                <a:tc>
                  <a:txBody>
                    <a:bodyPr/>
                    <a:lstStyle/>
                    <a:p>
                      <a:pPr>
                        <a:defRPr sz="1500" b="1">
                          <a:solidFill>
                            <a:srgbClr val="172028"/>
                          </a:solidFill>
                          <a:latin typeface="Lato"/>
                        </a:defRPr>
                      </a:pPr>
                      <a:r>
                        <a:t>Receptionist</a:t>
                      </a:r>
                    </a:p>
                  </a:txBody>
                  <a:tcPr anchor="ctr" marL="118872" marR="91440" marT="54864" marB="54864">
                    <a:solidFill>
                      <a:srgbClr val="FFFFFF"/>
                    </a:solidFill>
                  </a:tcPr>
                </a:tc>
                <a:tc>
                  <a:txBody>
                    <a:bodyPr/>
                    <a:lstStyle/>
                    <a:p>
                      <a:pPr>
                        <a:defRPr sz="1500" b="0">
                          <a:solidFill>
                            <a:srgbClr val="172028"/>
                          </a:solidFill>
                          <a:latin typeface="Lato"/>
                        </a:defRPr>
                      </a:pPr>
                      <a:r>
                        <a:t>Capture walk-ins and complaints</a:t>
                      </a:r>
                    </a:p>
                  </a:txBody>
                  <a:tcPr anchor="ctr" marL="118872" marR="91440" marT="54864" marB="54864">
                    <a:solidFill>
                      <a:srgbClr val="FFFFFF"/>
                    </a:solidFill>
                  </a:tcPr>
                </a:tc>
                <a:tc>
                  <a:txBody>
                    <a:bodyPr/>
                    <a:lstStyle/>
                    <a:p>
                      <a:pPr>
                        <a:defRPr sz="1500" b="0">
                          <a:solidFill>
                            <a:srgbClr val="172028"/>
                          </a:solidFill>
                          <a:latin typeface="Lato"/>
                        </a:defRPr>
                      </a:pPr>
                      <a:r>
                        <a:t>Own capture dashboard and tickets</a:t>
                      </a:r>
                    </a:p>
                  </a:txBody>
                  <a:tcPr anchor="ctr" marL="118872" marR="91440" marT="54864" marB="54864">
                    <a:solidFill>
                      <a:srgbClr val="FFFFFF"/>
                    </a:solidFill>
                  </a:tcPr>
                </a:tc>
              </a:tr>
              <a:tr h="459816">
                <a:tc>
                  <a:txBody>
                    <a:bodyPr/>
                    <a:lstStyle/>
                    <a:p>
                      <a:pPr>
                        <a:defRPr sz="1500" b="1">
                          <a:solidFill>
                            <a:srgbClr val="172028"/>
                          </a:solidFill>
                          <a:latin typeface="Lato"/>
                        </a:defRPr>
                      </a:pPr>
                      <a:r>
                        <a:t>Complaints team</a:t>
                      </a:r>
                    </a:p>
                  </a:txBody>
                  <a:tcPr anchor="ctr" marL="118872" marR="91440" marT="54864" marB="54864">
                    <a:solidFill>
                      <a:srgbClr val="EAEDEB"/>
                    </a:solidFill>
                  </a:tcPr>
                </a:tc>
                <a:tc>
                  <a:txBody>
                    <a:bodyPr/>
                    <a:lstStyle/>
                    <a:p>
                      <a:pPr>
                        <a:defRPr sz="1500" b="0">
                          <a:solidFill>
                            <a:srgbClr val="172028"/>
                          </a:solidFill>
                          <a:latin typeface="Lato"/>
                        </a:defRPr>
                      </a:pPr>
                      <a:r>
                        <a:t>Investigate and resolve issues</a:t>
                      </a:r>
                    </a:p>
                  </a:txBody>
                  <a:tcPr anchor="ctr" marL="118872" marR="91440" marT="54864" marB="54864">
                    <a:solidFill>
                      <a:srgbClr val="EAEDEB"/>
                    </a:solidFill>
                  </a:tcPr>
                </a:tc>
                <a:tc>
                  <a:txBody>
                    <a:bodyPr/>
                    <a:lstStyle/>
                    <a:p>
                      <a:pPr>
                        <a:defRPr sz="1500" b="0">
                          <a:solidFill>
                            <a:srgbClr val="172028"/>
                          </a:solidFill>
                          <a:latin typeface="Lato"/>
                        </a:defRPr>
                      </a:pPr>
                      <a:r>
                        <a:t>Complaint handling and complaint analytics</a:t>
                      </a:r>
                    </a:p>
                  </a:txBody>
                  <a:tcPr anchor="ctr" marL="118872" marR="91440" marT="54864" marB="54864">
                    <a:solidFill>
                      <a:srgbClr val="EAEDEB"/>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ARCHITECTURE</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Technology stack and responsibilities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Versions and capabilities described from the checked-in project configuration.</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21</a:t>
            </a:r>
          </a:p>
        </p:txBody>
      </p:sp>
      <p:graphicFrame>
        <p:nvGraphicFramePr>
          <p:cNvPr id="9" name="Table 8"/>
          <p:cNvGraphicFramePr>
            <a:graphicFrameLocks noGrp="1"/>
          </p:cNvGraphicFramePr>
          <p:nvPr/>
        </p:nvGraphicFramePr>
        <p:xfrm>
          <a:off x="566928" y="2276856"/>
          <a:ext cx="11045952" cy="3218688"/>
        </p:xfrm>
        <a:graphic>
          <a:graphicData uri="http://schemas.openxmlformats.org/drawingml/2006/table">
            <a:tbl>
              <a:tblPr firstRow="1" bandRow="1">
                <a:tableStyleId>{5C22544A-7EE6-4342-B048-85BDC9FD1C3A}</a:tableStyleId>
              </a:tblPr>
              <a:tblGrid>
                <a:gridCol w="1600200"/>
                <a:gridCol w="4416552"/>
                <a:gridCol w="5029200"/>
              </a:tblGrid>
              <a:tr h="459812">
                <a:tc>
                  <a:txBody>
                    <a:bodyPr/>
                    <a:lstStyle/>
                    <a:p>
                      <a:pPr>
                        <a:defRPr sz="1500" b="1">
                          <a:solidFill>
                            <a:srgbClr val="FFFFFF"/>
                          </a:solidFill>
                          <a:latin typeface="Lato"/>
                        </a:defRPr>
                      </a:pPr>
                      <a:r>
                        <a:t>Layer</a:t>
                      </a:r>
                    </a:p>
                  </a:txBody>
                  <a:tcPr anchor="ctr" marL="118872" marR="91440" marT="54864" marB="54864">
                    <a:solidFill>
                      <a:srgbClr val="172028"/>
                    </a:solidFill>
                  </a:tcPr>
                </a:tc>
                <a:tc>
                  <a:txBody>
                    <a:bodyPr/>
                    <a:lstStyle/>
                    <a:p>
                      <a:pPr>
                        <a:defRPr sz="1500" b="1">
                          <a:solidFill>
                            <a:srgbClr val="FFFFFF"/>
                          </a:solidFill>
                          <a:latin typeface="Lato"/>
                        </a:defRPr>
                      </a:pPr>
                      <a:r>
                        <a:t>Technology</a:t>
                      </a:r>
                    </a:p>
                  </a:txBody>
                  <a:tcPr anchor="ctr" marL="118872" marR="91440" marT="54864" marB="54864">
                    <a:solidFill>
                      <a:srgbClr val="172028"/>
                    </a:solidFill>
                  </a:tcPr>
                </a:tc>
                <a:tc>
                  <a:txBody>
                    <a:bodyPr/>
                    <a:lstStyle/>
                    <a:p>
                      <a:pPr>
                        <a:defRPr sz="1500" b="1">
                          <a:solidFill>
                            <a:srgbClr val="FFFFFF"/>
                          </a:solidFill>
                          <a:latin typeface="Lato"/>
                        </a:defRPr>
                      </a:pPr>
                      <a:r>
                        <a:t>Responsibility</a:t>
                      </a:r>
                    </a:p>
                  </a:txBody>
                  <a:tcPr anchor="ctr" marL="118872" marR="91440" marT="54864" marB="54864">
                    <a:solidFill>
                      <a:srgbClr val="172028"/>
                    </a:solidFill>
                  </a:tcPr>
                </a:tc>
              </a:tr>
              <a:tr h="459812">
                <a:tc>
                  <a:txBody>
                    <a:bodyPr/>
                    <a:lstStyle/>
                    <a:p>
                      <a:pPr>
                        <a:defRPr sz="1500" b="1">
                          <a:solidFill>
                            <a:srgbClr val="172028"/>
                          </a:solidFill>
                          <a:latin typeface="Lato"/>
                        </a:defRPr>
                      </a:pPr>
                      <a:r>
                        <a:t>Interface</a:t>
                      </a:r>
                    </a:p>
                  </a:txBody>
                  <a:tcPr anchor="ctr" marL="118872" marR="91440" marT="54864" marB="54864">
                    <a:solidFill>
                      <a:srgbClr val="FFFFFF"/>
                    </a:solidFill>
                  </a:tcPr>
                </a:tc>
                <a:tc>
                  <a:txBody>
                    <a:bodyPr/>
                    <a:lstStyle/>
                    <a:p>
                      <a:pPr>
                        <a:defRPr sz="1500" b="0">
                          <a:solidFill>
                            <a:srgbClr val="172028"/>
                          </a:solidFill>
                          <a:latin typeface="Lato"/>
                        </a:defRPr>
                      </a:pPr>
                      <a:r>
                        <a:t>Next.js, React, TypeScript, CSS</a:t>
                      </a:r>
                    </a:p>
                  </a:txBody>
                  <a:tcPr anchor="ctr" marL="118872" marR="91440" marT="54864" marB="54864">
                    <a:solidFill>
                      <a:srgbClr val="FFFFFF"/>
                    </a:solidFill>
                  </a:tcPr>
                </a:tc>
                <a:tc>
                  <a:txBody>
                    <a:bodyPr/>
                    <a:lstStyle/>
                    <a:p>
                      <a:pPr>
                        <a:defRPr sz="1500" b="0">
                          <a:solidFill>
                            <a:srgbClr val="172028"/>
                          </a:solidFill>
                          <a:latin typeface="Lato"/>
                        </a:defRPr>
                      </a:pPr>
                      <a:r>
                        <a:t>Role workspaces, forms, dashboards and routing</a:t>
                      </a:r>
                    </a:p>
                  </a:txBody>
                  <a:tcPr anchor="ctr" marL="118872" marR="91440" marT="54864" marB="54864">
                    <a:solidFill>
                      <a:srgbClr val="FFFFFF"/>
                    </a:solidFill>
                  </a:tcPr>
                </a:tc>
              </a:tr>
              <a:tr h="459812">
                <a:tc>
                  <a:txBody>
                    <a:bodyPr/>
                    <a:lstStyle/>
                    <a:p>
                      <a:pPr>
                        <a:defRPr sz="1500" b="1">
                          <a:solidFill>
                            <a:srgbClr val="172028"/>
                          </a:solidFill>
                          <a:latin typeface="Lato"/>
                        </a:defRPr>
                      </a:pPr>
                      <a:r>
                        <a:t>API</a:t>
                      </a:r>
                    </a:p>
                  </a:txBody>
                  <a:tcPr anchor="ctr" marL="118872" marR="91440" marT="54864" marB="54864">
                    <a:solidFill>
                      <a:srgbClr val="EAEDEB"/>
                    </a:solidFill>
                  </a:tcPr>
                </a:tc>
                <a:tc>
                  <a:txBody>
                    <a:bodyPr/>
                    <a:lstStyle/>
                    <a:p>
                      <a:pPr>
                        <a:defRPr sz="1500" b="0">
                          <a:solidFill>
                            <a:srgbClr val="172028"/>
                          </a:solidFill>
                          <a:latin typeface="Lato"/>
                        </a:defRPr>
                      </a:pPr>
                      <a:r>
                        <a:t>Python, Django 5.2 range, DRF</a:t>
                      </a:r>
                    </a:p>
                  </a:txBody>
                  <a:tcPr anchor="ctr" marL="118872" marR="91440" marT="54864" marB="54864">
                    <a:solidFill>
                      <a:srgbClr val="EAEDEB"/>
                    </a:solidFill>
                  </a:tcPr>
                </a:tc>
                <a:tc>
                  <a:txBody>
                    <a:bodyPr/>
                    <a:lstStyle/>
                    <a:p>
                      <a:pPr>
                        <a:defRPr sz="1500" b="0">
                          <a:solidFill>
                            <a:srgbClr val="172028"/>
                          </a:solidFill>
                          <a:latin typeface="Lato"/>
                        </a:defRPr>
                      </a:pPr>
                      <a:r>
                        <a:t>Validation, business actions and visibility</a:t>
                      </a:r>
                    </a:p>
                  </a:txBody>
                  <a:tcPr anchor="ctr" marL="118872" marR="91440" marT="54864" marB="54864">
                    <a:solidFill>
                      <a:srgbClr val="EAEDEB"/>
                    </a:solidFill>
                  </a:tcPr>
                </a:tc>
              </a:tr>
              <a:tr h="459812">
                <a:tc>
                  <a:txBody>
                    <a:bodyPr/>
                    <a:lstStyle/>
                    <a:p>
                      <a:pPr>
                        <a:defRPr sz="1500" b="1">
                          <a:solidFill>
                            <a:srgbClr val="172028"/>
                          </a:solidFill>
                          <a:latin typeface="Lato"/>
                        </a:defRPr>
                      </a:pPr>
                      <a:r>
                        <a:t>Identity</a:t>
                      </a:r>
                    </a:p>
                  </a:txBody>
                  <a:tcPr anchor="ctr" marL="118872" marR="91440" marT="54864" marB="54864">
                    <a:solidFill>
                      <a:srgbClr val="FFFFFF"/>
                    </a:solidFill>
                  </a:tcPr>
                </a:tc>
                <a:tc>
                  <a:txBody>
                    <a:bodyPr/>
                    <a:lstStyle/>
                    <a:p>
                      <a:pPr>
                        <a:defRPr sz="1500" b="0">
                          <a:solidFill>
                            <a:srgbClr val="172028"/>
                          </a:solidFill>
                          <a:latin typeface="Lato"/>
                        </a:defRPr>
                      </a:pPr>
                      <a:r>
                        <a:t>SimpleJWT + bcrypt-SHA256</a:t>
                      </a:r>
                    </a:p>
                  </a:txBody>
                  <a:tcPr anchor="ctr" marL="118872" marR="91440" marT="54864" marB="54864">
                    <a:solidFill>
                      <a:srgbClr val="FFFFFF"/>
                    </a:solidFill>
                  </a:tcPr>
                </a:tc>
                <a:tc>
                  <a:txBody>
                    <a:bodyPr/>
                    <a:lstStyle/>
                    <a:p>
                      <a:pPr>
                        <a:defRPr sz="1500" b="0">
                          <a:solidFill>
                            <a:srgbClr val="172028"/>
                          </a:solidFill>
                          <a:latin typeface="Lato"/>
                        </a:defRPr>
                      </a:pPr>
                      <a:r>
                        <a:t>Cookie authentication and password hashing</a:t>
                      </a:r>
                    </a:p>
                  </a:txBody>
                  <a:tcPr anchor="ctr" marL="118872" marR="91440" marT="54864" marB="54864">
                    <a:solidFill>
                      <a:srgbClr val="FFFFFF"/>
                    </a:solidFill>
                  </a:tcPr>
                </a:tc>
              </a:tr>
              <a:tr h="459812">
                <a:tc>
                  <a:txBody>
                    <a:bodyPr/>
                    <a:lstStyle/>
                    <a:p>
                      <a:pPr>
                        <a:defRPr sz="1500" b="1">
                          <a:solidFill>
                            <a:srgbClr val="172028"/>
                          </a:solidFill>
                          <a:latin typeface="Lato"/>
                        </a:defRPr>
                      </a:pPr>
                      <a:r>
                        <a:t>Data</a:t>
                      </a:r>
                    </a:p>
                  </a:txBody>
                  <a:tcPr anchor="ctr" marL="118872" marR="91440" marT="54864" marB="54864">
                    <a:solidFill>
                      <a:srgbClr val="EAEDEB"/>
                    </a:solidFill>
                  </a:tcPr>
                </a:tc>
                <a:tc>
                  <a:txBody>
                    <a:bodyPr/>
                    <a:lstStyle/>
                    <a:p>
                      <a:pPr>
                        <a:defRPr sz="1500" b="0">
                          <a:solidFill>
                            <a:srgbClr val="172028"/>
                          </a:solidFill>
                          <a:latin typeface="Lato"/>
                        </a:defRPr>
                      </a:pPr>
                      <a:r>
                        <a:t>Django ORM; environment-selected SQL DB</a:t>
                      </a:r>
                    </a:p>
                  </a:txBody>
                  <a:tcPr anchor="ctr" marL="118872" marR="91440" marT="54864" marB="54864">
                    <a:solidFill>
                      <a:srgbClr val="EAEDEB"/>
                    </a:solidFill>
                  </a:tcPr>
                </a:tc>
                <a:tc>
                  <a:txBody>
                    <a:bodyPr/>
                    <a:lstStyle/>
                    <a:p>
                      <a:pPr>
                        <a:defRPr sz="1500" b="0">
                          <a:solidFill>
                            <a:srgbClr val="172028"/>
                          </a:solidFill>
                          <a:latin typeface="Lato"/>
                        </a:defRPr>
                      </a:pPr>
                      <a:r>
                        <a:t>Relations, constraints, transactions and migrations</a:t>
                      </a:r>
                    </a:p>
                  </a:txBody>
                  <a:tcPr anchor="ctr" marL="118872" marR="91440" marT="54864" marB="54864">
                    <a:solidFill>
                      <a:srgbClr val="EAEDEB"/>
                    </a:solidFill>
                  </a:tcPr>
                </a:tc>
              </a:tr>
              <a:tr h="459812">
                <a:tc>
                  <a:txBody>
                    <a:bodyPr/>
                    <a:lstStyle/>
                    <a:p>
                      <a:pPr>
                        <a:defRPr sz="1500" b="1">
                          <a:solidFill>
                            <a:srgbClr val="172028"/>
                          </a:solidFill>
                          <a:latin typeface="Lato"/>
                        </a:defRPr>
                      </a:pPr>
                      <a:r>
                        <a:t>Files / tasks</a:t>
                      </a:r>
                    </a:p>
                  </a:txBody>
                  <a:tcPr anchor="ctr" marL="118872" marR="91440" marT="54864" marB="54864">
                    <a:solidFill>
                      <a:srgbClr val="FFFFFF"/>
                    </a:solidFill>
                  </a:tcPr>
                </a:tc>
                <a:tc>
                  <a:txBody>
                    <a:bodyPr/>
                    <a:lstStyle/>
                    <a:p>
                      <a:pPr>
                        <a:defRPr sz="1500" b="0">
                          <a:solidFill>
                            <a:srgbClr val="172028"/>
                          </a:solidFill>
                          <a:latin typeface="Lato"/>
                        </a:defRPr>
                      </a:pPr>
                      <a:r>
                        <a:t>openpyxl; Supabase storage; Celery</a:t>
                      </a:r>
                    </a:p>
                  </a:txBody>
                  <a:tcPr anchor="ctr" marL="118872" marR="91440" marT="54864" marB="54864">
                    <a:solidFill>
                      <a:srgbClr val="FFFFFF"/>
                    </a:solidFill>
                  </a:tcPr>
                </a:tc>
                <a:tc>
                  <a:txBody>
                    <a:bodyPr/>
                    <a:lstStyle/>
                    <a:p>
                      <a:pPr>
                        <a:defRPr sz="1500" b="0">
                          <a:solidFill>
                            <a:srgbClr val="172028"/>
                          </a:solidFill>
                          <a:latin typeface="Lato"/>
                        </a:defRPr>
                      </a:pPr>
                      <a:r>
                        <a:t>Spreadsheet parsing, file storage and tasks</a:t>
                      </a:r>
                    </a:p>
                  </a:txBody>
                  <a:tcPr anchor="ctr" marL="118872" marR="91440" marT="54864" marB="54864">
                    <a:solidFill>
                      <a:srgbClr val="FFFFFF"/>
                    </a:solidFill>
                  </a:tcPr>
                </a:tc>
              </a:tr>
              <a:tr h="459816">
                <a:tc>
                  <a:txBody>
                    <a:bodyPr/>
                    <a:lstStyle/>
                    <a:p>
                      <a:pPr>
                        <a:defRPr sz="1500" b="1">
                          <a:solidFill>
                            <a:srgbClr val="172028"/>
                          </a:solidFill>
                          <a:latin typeface="Lato"/>
                        </a:defRPr>
                      </a:pPr>
                      <a:r>
                        <a:t>Operations</a:t>
                      </a:r>
                    </a:p>
                  </a:txBody>
                  <a:tcPr anchor="ctr" marL="118872" marR="91440" marT="54864" marB="54864">
                    <a:solidFill>
                      <a:srgbClr val="EAEDEB"/>
                    </a:solidFill>
                  </a:tcPr>
                </a:tc>
                <a:tc>
                  <a:txBody>
                    <a:bodyPr/>
                    <a:lstStyle/>
                    <a:p>
                      <a:pPr>
                        <a:defRPr sz="1500" b="0">
                          <a:solidFill>
                            <a:srgbClr val="172028"/>
                          </a:solidFill>
                          <a:latin typeface="Lato"/>
                        </a:defRPr>
                      </a:pPr>
                      <a:r>
                        <a:t>Redis cache; Gunicorn/Uvicorn; OpenAPI</a:t>
                      </a:r>
                    </a:p>
                  </a:txBody>
                  <a:tcPr anchor="ctr" marL="118872" marR="91440" marT="54864" marB="54864">
                    <a:solidFill>
                      <a:srgbClr val="EAEDEB"/>
                    </a:solidFill>
                  </a:tcPr>
                </a:tc>
                <a:tc>
                  <a:txBody>
                    <a:bodyPr/>
                    <a:lstStyle/>
                    <a:p>
                      <a:pPr>
                        <a:defRPr sz="1500" b="0">
                          <a:solidFill>
                            <a:srgbClr val="172028"/>
                          </a:solidFill>
                          <a:latin typeface="Lato"/>
                        </a:defRPr>
                      </a:pPr>
                      <a:r>
                        <a:t>Analytics caching, API serving and documentation</a:t>
                      </a:r>
                    </a:p>
                  </a:txBody>
                  <a:tcPr anchor="ctr" marL="118872" marR="91440" marT="54864" marB="54864">
                    <a:solidFill>
                      <a:srgbClr val="EAEDEB"/>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ARCHITECTURE</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System architecture</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Browser → Django REST API → data and supporting services</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22</a:t>
            </a:r>
          </a:p>
        </p:txBody>
      </p:sp>
      <p:sp>
        <p:nvSpPr>
          <p:cNvPr id="9" name="Rectangle 8"/>
          <p:cNvSpPr/>
          <p:nvPr/>
        </p:nvSpPr>
        <p:spPr>
          <a:xfrm>
            <a:off x="640080" y="2834640"/>
            <a:ext cx="2514600" cy="105156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953512"/>
            <a:ext cx="2258568"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Browser UI</a:t>
            </a:r>
          </a:p>
        </p:txBody>
      </p:sp>
      <p:sp>
        <p:nvSpPr>
          <p:cNvPr id="11" name="TextBox 10"/>
          <p:cNvSpPr txBox="1"/>
          <p:nvPr/>
        </p:nvSpPr>
        <p:spPr>
          <a:xfrm>
            <a:off x="768096" y="3383280"/>
            <a:ext cx="2258568" cy="475487"/>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Next.js / React / TS</a:t>
            </a:r>
          </a:p>
        </p:txBody>
      </p:sp>
      <p:sp>
        <p:nvSpPr>
          <p:cNvPr id="12" name="Rectangle 11"/>
          <p:cNvSpPr/>
          <p:nvPr/>
        </p:nvSpPr>
        <p:spPr>
          <a:xfrm>
            <a:off x="3904487" y="2834640"/>
            <a:ext cx="3995928" cy="105156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32503" y="2953512"/>
            <a:ext cx="3739896"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Django REST API</a:t>
            </a:r>
          </a:p>
        </p:txBody>
      </p:sp>
      <p:sp>
        <p:nvSpPr>
          <p:cNvPr id="14" name="TextBox 13"/>
          <p:cNvSpPr txBox="1"/>
          <p:nvPr/>
        </p:nvSpPr>
        <p:spPr>
          <a:xfrm>
            <a:off x="4032503" y="3383280"/>
            <a:ext cx="3739896" cy="475487"/>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Auth · serializers · roles · workflows</a:t>
            </a:r>
          </a:p>
        </p:txBody>
      </p:sp>
      <p:sp>
        <p:nvSpPr>
          <p:cNvPr id="15" name="Rectangle 14"/>
          <p:cNvSpPr/>
          <p:nvPr/>
        </p:nvSpPr>
        <p:spPr>
          <a:xfrm>
            <a:off x="8641080" y="2834640"/>
            <a:ext cx="2852928" cy="105156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69096" y="2953512"/>
            <a:ext cx="2596896" cy="384048"/>
          </a:xfrm>
          <a:prstGeom prst="rect">
            <a:avLst/>
          </a:prstGeom>
          <a:noFill/>
        </p:spPr>
        <p:txBody>
          <a:bodyPr wrap="square" lIns="0" rIns="0" tIns="0" bIns="0">
            <a:spAutoFit/>
          </a:bodyPr>
          <a:lstStyle/>
          <a:p>
            <a:pPr algn="ctr">
              <a:spcAft>
                <a:spcPts val="700"/>
              </a:spcAft>
              <a:defRPr sz="1900" b="1">
                <a:solidFill>
                  <a:srgbClr val="216B59"/>
                </a:solidFill>
                <a:latin typeface="Lato"/>
              </a:defRPr>
            </a:pPr>
            <a:r>
              <a:t>SQL database</a:t>
            </a:r>
          </a:p>
        </p:txBody>
      </p:sp>
      <p:sp>
        <p:nvSpPr>
          <p:cNvPr id="17" name="TextBox 16"/>
          <p:cNvSpPr txBox="1"/>
          <p:nvPr/>
        </p:nvSpPr>
        <p:spPr>
          <a:xfrm>
            <a:off x="8769096" y="3383280"/>
            <a:ext cx="2596896" cy="475487"/>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ORM · audit · transactions</a:t>
            </a:r>
          </a:p>
        </p:txBody>
      </p:sp>
      <p:cxnSp>
        <p:nvCxnSpPr>
          <p:cNvPr id="18" name="Connector 17"/>
          <p:cNvCxnSpPr/>
          <p:nvPr/>
        </p:nvCxnSpPr>
        <p:spPr>
          <a:xfrm>
            <a:off x="3154680" y="3355848"/>
            <a:ext cx="749807" cy="0"/>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900416" y="3355848"/>
            <a:ext cx="740664" cy="0"/>
          </a:xfrm>
          <a:prstGeom prst="line">
            <a:avLst/>
          </a:prstGeom>
          <a:ln w="25400">
            <a:solidFill>
              <a:srgbClr val="216B59"/>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904487" y="4507992"/>
            <a:ext cx="3474720" cy="9326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32503" y="4626864"/>
            <a:ext cx="3218687"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File storage</a:t>
            </a:r>
          </a:p>
        </p:txBody>
      </p:sp>
      <p:sp>
        <p:nvSpPr>
          <p:cNvPr id="22" name="TextBox 21"/>
          <p:cNvSpPr txBox="1"/>
          <p:nvPr/>
        </p:nvSpPr>
        <p:spPr>
          <a:xfrm>
            <a:off x="4032503" y="5056631"/>
            <a:ext cx="3218687" cy="3566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Supabase / local fallback</a:t>
            </a:r>
          </a:p>
        </p:txBody>
      </p:sp>
      <p:sp>
        <p:nvSpPr>
          <p:cNvPr id="23" name="Rectangle 22"/>
          <p:cNvSpPr/>
          <p:nvPr/>
        </p:nvSpPr>
        <p:spPr>
          <a:xfrm>
            <a:off x="7863840" y="4507992"/>
            <a:ext cx="3630168" cy="9326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6" y="4626864"/>
            <a:ext cx="3374136" cy="384048"/>
          </a:xfrm>
          <a:prstGeom prst="rect">
            <a:avLst/>
          </a:prstGeom>
          <a:noFill/>
        </p:spPr>
        <p:txBody>
          <a:bodyPr wrap="square" lIns="0" rIns="0" tIns="0" bIns="0">
            <a:spAutoFit/>
          </a:bodyPr>
          <a:lstStyle/>
          <a:p>
            <a:pPr algn="ctr">
              <a:spcAft>
                <a:spcPts val="700"/>
              </a:spcAft>
              <a:defRPr sz="1900" b="1">
                <a:solidFill>
                  <a:srgbClr val="59636A"/>
                </a:solidFill>
                <a:latin typeface="Lato"/>
              </a:defRPr>
            </a:pPr>
            <a:r>
              <a:t>Cache / task services</a:t>
            </a:r>
          </a:p>
        </p:txBody>
      </p:sp>
      <p:sp>
        <p:nvSpPr>
          <p:cNvPr id="25" name="TextBox 24"/>
          <p:cNvSpPr txBox="1"/>
          <p:nvPr/>
        </p:nvSpPr>
        <p:spPr>
          <a:xfrm>
            <a:off x="7991856" y="5056631"/>
            <a:ext cx="3374136" cy="3566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Redis / Celery when configured</a:t>
            </a:r>
          </a:p>
        </p:txBody>
      </p:sp>
      <p:cxnSp>
        <p:nvCxnSpPr>
          <p:cNvPr id="26" name="Connector 25"/>
          <p:cNvCxnSpPr/>
          <p:nvPr/>
        </p:nvCxnSpPr>
        <p:spPr>
          <a:xfrm>
            <a:off x="5641848" y="3886200"/>
            <a:ext cx="0" cy="621792"/>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068312" y="3886200"/>
            <a:ext cx="2606040" cy="621792"/>
          </a:xfrm>
          <a:prstGeom prst="line">
            <a:avLst/>
          </a:prstGeom>
          <a:ln w="25400">
            <a:solidFill>
              <a:srgbClr val="59636A"/>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995928" y="2267712"/>
            <a:ext cx="3803904" cy="256032"/>
          </a:xfrm>
          <a:prstGeom prst="rect">
            <a:avLst/>
          </a:prstGeom>
          <a:noFill/>
        </p:spPr>
        <p:txBody>
          <a:bodyPr wrap="square" lIns="0" rIns="0" tIns="0" bIns="0">
            <a:spAutoFit/>
          </a:bodyPr>
          <a:lstStyle/>
          <a:p>
            <a:pPr algn="ctr">
              <a:spcAft>
                <a:spcPts val="700"/>
              </a:spcAft>
              <a:defRPr sz="1300" b="0">
                <a:solidFill>
                  <a:srgbClr val="59636A"/>
                </a:solidFill>
                <a:latin typeface="Lato"/>
              </a:defRPr>
            </a:pPr>
            <a:r>
              <a:t>HTTPS JSON + authenticated cookies</a:t>
            </a:r>
          </a:p>
        </p:txBody>
      </p:sp>
      <p:sp>
        <p:nvSpPr>
          <p:cNvPr id="29" name="Rectangle 28"/>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The checked-in Render service uses eager Celery tasks; a separate worker and scheduler are not declared.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IMPLEMENTATION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Frontend structure and API communication</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Feature-based UI with a shared API helper and role-specific routes.</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23</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Screens and components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App Router role groups</a:t>
            </a:r>
          </a:p>
          <a:p>
            <a:pPr>
              <a:spcAft>
                <a:spcPts val="700"/>
              </a:spcAft>
              <a:defRPr sz="1800" b="0">
                <a:solidFill>
                  <a:srgbClr val="172028"/>
                </a:solidFill>
                <a:latin typeface="Lato"/>
              </a:defRPr>
            </a:pPr>
            <a:r>
              <a:t>Sales workspace and lead desk</a:t>
            </a:r>
          </a:p>
          <a:p>
            <a:pPr>
              <a:spcAft>
                <a:spcPts val="700"/>
              </a:spcAft>
              <a:defRPr sz="1800" b="0">
                <a:solidFill>
                  <a:srgbClr val="172028"/>
                </a:solidFill>
                <a:latin typeface="Lato"/>
              </a:defRPr>
            </a:pPr>
            <a:r>
              <a:t>Shared shell, forms and ETBR tiles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Typed API layer</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Request/response types in crm.ts</a:t>
            </a:r>
          </a:p>
          <a:p>
            <a:pPr>
              <a:spcAft>
                <a:spcPts val="700"/>
              </a:spcAft>
              <a:defRPr sz="1800" b="0">
                <a:solidFill>
                  <a:srgbClr val="172028"/>
                </a:solidFill>
                <a:latin typeface="Lato"/>
              </a:defRPr>
            </a:pPr>
            <a:r>
              <a:t>Snake-case API mapping to UI fields</a:t>
            </a:r>
          </a:p>
          <a:p>
            <a:pPr>
              <a:spcAft>
                <a:spcPts val="700"/>
              </a:spcAft>
              <a:defRPr sz="1800" b="0">
                <a:solidFill>
                  <a:srgbClr val="172028"/>
                </a:solidFill>
                <a:latin typeface="Lato"/>
              </a:defRPr>
            </a:pPr>
            <a:r>
              <a:t>Credentials and CSRF headers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Error and session handling</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Field errors shown to users</a:t>
            </a:r>
          </a:p>
          <a:p>
            <a:pPr>
              <a:spcAft>
                <a:spcPts val="700"/>
              </a:spcAft>
              <a:defRPr sz="1800" b="0">
                <a:solidFill>
                  <a:srgbClr val="172028"/>
                </a:solidFill>
                <a:latin typeface="Lato"/>
              </a:defRPr>
            </a:pPr>
            <a:r>
              <a:t>Refresh on an unauthorised response</a:t>
            </a:r>
          </a:p>
          <a:p>
            <a:pPr>
              <a:spcAft>
                <a:spcPts val="700"/>
              </a:spcAft>
              <a:defRPr sz="1800" b="0">
                <a:solidFill>
                  <a:srgbClr val="172028"/>
                </a:solidFill>
                <a:latin typeface="Lato"/>
              </a:defRPr>
            </a:pPr>
            <a:r>
              <a:t>One retry after successful refresh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IMPLEMENTATION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Backend modules and request processing</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Django apps separate customer operations from shared platform concerns.</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24</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Domain modules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accounts: roles and staff lifecycle</a:t>
            </a:r>
          </a:p>
          <a:p>
            <a:pPr>
              <a:spcAft>
                <a:spcPts val="700"/>
              </a:spcAft>
              <a:defRPr sz="1800" b="0">
                <a:solidFill>
                  <a:srgbClr val="172028"/>
                </a:solidFill>
                <a:latin typeface="Lato"/>
              </a:defRPr>
            </a:pPr>
            <a:r>
              <a:t>leads: ownership and sales actions</a:t>
            </a:r>
          </a:p>
          <a:p>
            <a:pPr>
              <a:spcAft>
                <a:spcPts val="700"/>
              </a:spcAft>
              <a:defRPr sz="1800" b="0">
                <a:solidFill>
                  <a:srgbClr val="172028"/>
                </a:solidFill>
                <a:latin typeface="Lato"/>
              </a:defRPr>
            </a:pPr>
            <a:r>
              <a:t>complaints: ticket workflow</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Supporting modules</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uploads: staging and import</a:t>
            </a:r>
          </a:p>
          <a:p>
            <a:pPr>
              <a:spcAft>
                <a:spcPts val="700"/>
              </a:spcAft>
              <a:defRPr sz="1800" b="0">
                <a:solidFill>
                  <a:srgbClr val="172028"/>
                </a:solidFill>
                <a:latin typeface="Lato"/>
              </a:defRPr>
            </a:pPr>
            <a:r>
              <a:t>analytics: scoped aggregates</a:t>
            </a:r>
          </a:p>
          <a:p>
            <a:pPr>
              <a:spcAft>
                <a:spcPts val="700"/>
              </a:spcAft>
              <a:defRPr sz="1800" b="0">
                <a:solidFill>
                  <a:srgbClr val="172028"/>
                </a:solidFill>
                <a:latin typeface="Lato"/>
              </a:defRPr>
            </a:pPr>
            <a:r>
              <a:t>notifications: due follow-up records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Request path</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URL/router selects the action</a:t>
            </a:r>
          </a:p>
          <a:p>
            <a:pPr>
              <a:spcAft>
                <a:spcPts val="700"/>
              </a:spcAft>
              <a:defRPr sz="1800" b="0">
                <a:solidFill>
                  <a:srgbClr val="172028"/>
                </a:solidFill>
                <a:latin typeface="Lato"/>
              </a:defRPr>
            </a:pPr>
            <a:r>
              <a:t>Serializer validates the payload</a:t>
            </a:r>
          </a:p>
          <a:p>
            <a:pPr>
              <a:spcAft>
                <a:spcPts val="700"/>
              </a:spcAft>
              <a:defRPr sz="1800" b="0">
                <a:solidFill>
                  <a:srgbClr val="172028"/>
                </a:solidFill>
                <a:latin typeface="Lato"/>
              </a:defRPr>
            </a:pPr>
            <a:r>
              <a:t>Action checks permissions and saves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DATA MODEL</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Core database relationships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Simplified entity relationship diagram; connectors show relationships and cardinality.</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25</a:t>
            </a:r>
          </a:p>
        </p:txBody>
      </p:sp>
      <p:sp>
        <p:nvSpPr>
          <p:cNvPr id="9" name="Rectangle 8"/>
          <p:cNvSpPr/>
          <p:nvPr/>
        </p:nvSpPr>
        <p:spPr>
          <a:xfrm>
            <a:off x="685800" y="2514600"/>
            <a:ext cx="3063240" cy="100584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2633472"/>
            <a:ext cx="2807208"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User</a:t>
            </a:r>
          </a:p>
        </p:txBody>
      </p:sp>
      <p:sp>
        <p:nvSpPr>
          <p:cNvPr id="11" name="TextBox 10"/>
          <p:cNvSpPr txBox="1"/>
          <p:nvPr/>
        </p:nvSpPr>
        <p:spPr>
          <a:xfrm>
            <a:off x="813816" y="3063240"/>
            <a:ext cx="2807208" cy="42976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id · email · role · location</a:t>
            </a:r>
          </a:p>
        </p:txBody>
      </p:sp>
      <p:sp>
        <p:nvSpPr>
          <p:cNvPr id="12" name="Rectangle 11"/>
          <p:cNvSpPr/>
          <p:nvPr/>
        </p:nvSpPr>
        <p:spPr>
          <a:xfrm>
            <a:off x="4572000" y="2514600"/>
            <a:ext cx="3108960" cy="100584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0016" y="2633472"/>
            <a:ext cx="285292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Lead</a:t>
            </a:r>
          </a:p>
        </p:txBody>
      </p:sp>
      <p:sp>
        <p:nvSpPr>
          <p:cNvPr id="14" name="TextBox 13"/>
          <p:cNvSpPr txBox="1"/>
          <p:nvPr/>
        </p:nvSpPr>
        <p:spPr>
          <a:xfrm>
            <a:off x="4700016" y="3063240"/>
            <a:ext cx="2852928" cy="42976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id · uid · status · sales_outcome</a:t>
            </a:r>
          </a:p>
        </p:txBody>
      </p:sp>
      <p:sp>
        <p:nvSpPr>
          <p:cNvPr id="15" name="Rectangle 14"/>
          <p:cNvSpPr/>
          <p:nvPr/>
        </p:nvSpPr>
        <p:spPr>
          <a:xfrm>
            <a:off x="8458200" y="2514600"/>
            <a:ext cx="3017520" cy="100584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86216" y="2633472"/>
            <a:ext cx="2761487" cy="384048"/>
          </a:xfrm>
          <a:prstGeom prst="rect">
            <a:avLst/>
          </a:prstGeom>
          <a:noFill/>
        </p:spPr>
        <p:txBody>
          <a:bodyPr wrap="square" lIns="0" rIns="0" tIns="0" bIns="0">
            <a:spAutoFit/>
          </a:bodyPr>
          <a:lstStyle/>
          <a:p>
            <a:pPr algn="ctr">
              <a:spcAft>
                <a:spcPts val="700"/>
              </a:spcAft>
              <a:defRPr sz="1900" b="1">
                <a:solidFill>
                  <a:srgbClr val="216B59"/>
                </a:solidFill>
                <a:latin typeface="Lato"/>
              </a:defRPr>
            </a:pPr>
            <a:r>
              <a:t>LeadQualification</a:t>
            </a:r>
          </a:p>
        </p:txBody>
      </p:sp>
      <p:sp>
        <p:nvSpPr>
          <p:cNvPr id="17" name="TextBox 16"/>
          <p:cNvSpPr txBox="1"/>
          <p:nvPr/>
        </p:nvSpPr>
        <p:spPr>
          <a:xfrm>
            <a:off x="8586216" y="3063240"/>
            <a:ext cx="2761487" cy="42976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lead_id (unique) · finance · notes</a:t>
            </a:r>
          </a:p>
        </p:txBody>
      </p:sp>
      <p:cxnSp>
        <p:nvCxnSpPr>
          <p:cNvPr id="18" name="Connector 17"/>
          <p:cNvCxnSpPr/>
          <p:nvPr/>
        </p:nvCxnSpPr>
        <p:spPr>
          <a:xfrm>
            <a:off x="3749039" y="3017520"/>
            <a:ext cx="822961" cy="0"/>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85615" y="2487168"/>
            <a:ext cx="731520" cy="274320"/>
          </a:xfrm>
          <a:prstGeom prst="rect">
            <a:avLst/>
          </a:prstGeom>
          <a:noFill/>
        </p:spPr>
        <p:txBody>
          <a:bodyPr wrap="square" lIns="0" rIns="0" tIns="0" bIns="0">
            <a:spAutoFit/>
          </a:bodyPr>
          <a:lstStyle/>
          <a:p>
            <a:pPr algn="ctr">
              <a:spcAft>
                <a:spcPts val="700"/>
              </a:spcAft>
              <a:defRPr sz="1100" b="0">
                <a:solidFill>
                  <a:srgbClr val="285D80"/>
                </a:solidFill>
                <a:latin typeface="Lato"/>
              </a:defRPr>
            </a:pPr>
            <a:r>
              <a:t>1 → N</a:t>
            </a:r>
          </a:p>
        </p:txBody>
      </p:sp>
      <p:cxnSp>
        <p:nvCxnSpPr>
          <p:cNvPr id="20" name="Connector 19"/>
          <p:cNvCxnSpPr/>
          <p:nvPr/>
        </p:nvCxnSpPr>
        <p:spPr>
          <a:xfrm>
            <a:off x="7680960" y="3017520"/>
            <a:ext cx="777240" cy="0"/>
          </a:xfrm>
          <a:prstGeom prst="line">
            <a:avLst/>
          </a:prstGeom>
          <a:ln w="25400">
            <a:solidFill>
              <a:srgbClr val="216B59"/>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08392" y="2487168"/>
            <a:ext cx="749808" cy="274320"/>
          </a:xfrm>
          <a:prstGeom prst="rect">
            <a:avLst/>
          </a:prstGeom>
          <a:noFill/>
        </p:spPr>
        <p:txBody>
          <a:bodyPr wrap="square" lIns="0" rIns="0" tIns="0" bIns="0">
            <a:spAutoFit/>
          </a:bodyPr>
          <a:lstStyle/>
          <a:p>
            <a:pPr algn="ctr">
              <a:spcAft>
                <a:spcPts val="700"/>
              </a:spcAft>
              <a:defRPr sz="1000" b="0">
                <a:solidFill>
                  <a:srgbClr val="216B59"/>
                </a:solidFill>
                <a:latin typeface="Lato"/>
              </a:defRPr>
            </a:pPr>
            <a:r>
              <a:t>1 → 0..1</a:t>
            </a:r>
          </a:p>
        </p:txBody>
      </p:sp>
      <p:sp>
        <p:nvSpPr>
          <p:cNvPr id="22" name="Rectangle 21"/>
          <p:cNvSpPr/>
          <p:nvPr/>
        </p:nvSpPr>
        <p:spPr>
          <a:xfrm>
            <a:off x="685800" y="4489704"/>
            <a:ext cx="3474720" cy="96012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4608576"/>
            <a:ext cx="3218687"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CallLog</a:t>
            </a:r>
          </a:p>
        </p:txBody>
      </p:sp>
      <p:sp>
        <p:nvSpPr>
          <p:cNvPr id="24" name="TextBox 23"/>
          <p:cNvSpPr txBox="1"/>
          <p:nvPr/>
        </p:nvSpPr>
        <p:spPr>
          <a:xfrm>
            <a:off x="813816" y="5038344"/>
            <a:ext cx="3218687" cy="38404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lead_id · outcome · remarks</a:t>
            </a:r>
          </a:p>
        </p:txBody>
      </p:sp>
      <p:cxnSp>
        <p:nvCxnSpPr>
          <p:cNvPr id="25" name="Connector 24"/>
          <p:cNvCxnSpPr/>
          <p:nvPr/>
        </p:nvCxnSpPr>
        <p:spPr>
          <a:xfrm flipH="1">
            <a:off x="2423160" y="3520440"/>
            <a:ext cx="3703320" cy="969264"/>
          </a:xfrm>
          <a:prstGeom prst="line">
            <a:avLst/>
          </a:prstGeom>
          <a:ln w="16510">
            <a:solidFill>
              <a:srgbClr val="59636A"/>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911095" y="4169663"/>
            <a:ext cx="1024128" cy="228600"/>
          </a:xfrm>
          <a:prstGeom prst="rect">
            <a:avLst/>
          </a:prstGeom>
          <a:noFill/>
        </p:spPr>
        <p:txBody>
          <a:bodyPr wrap="square" lIns="0" rIns="0" tIns="0" bIns="0">
            <a:spAutoFit/>
          </a:bodyPr>
          <a:lstStyle/>
          <a:p>
            <a:pPr algn="ctr">
              <a:spcAft>
                <a:spcPts val="700"/>
              </a:spcAft>
              <a:defRPr sz="1000" b="0">
                <a:solidFill>
                  <a:srgbClr val="59636A"/>
                </a:solidFill>
                <a:latin typeface="Lato"/>
              </a:defRPr>
            </a:pPr>
            <a:r>
              <a:t>1 → many</a:t>
            </a:r>
          </a:p>
        </p:txBody>
      </p:sp>
      <p:sp>
        <p:nvSpPr>
          <p:cNvPr id="27" name="Rectangle 26"/>
          <p:cNvSpPr/>
          <p:nvPr/>
        </p:nvSpPr>
        <p:spPr>
          <a:xfrm>
            <a:off x="4535424" y="4489704"/>
            <a:ext cx="3474720" cy="96012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4608576"/>
            <a:ext cx="3218687"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FollowUp</a:t>
            </a:r>
          </a:p>
        </p:txBody>
      </p:sp>
      <p:sp>
        <p:nvSpPr>
          <p:cNvPr id="29" name="TextBox 28"/>
          <p:cNvSpPr txBox="1"/>
          <p:nvPr/>
        </p:nvSpPr>
        <p:spPr>
          <a:xfrm>
            <a:off x="4663440" y="5038344"/>
            <a:ext cx="3218687" cy="38404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lead_id · owner · scheduled_for</a:t>
            </a:r>
          </a:p>
        </p:txBody>
      </p:sp>
      <p:cxnSp>
        <p:nvCxnSpPr>
          <p:cNvPr id="30" name="Connector 29"/>
          <p:cNvCxnSpPr/>
          <p:nvPr/>
        </p:nvCxnSpPr>
        <p:spPr>
          <a:xfrm>
            <a:off x="6126480" y="3520440"/>
            <a:ext cx="146303" cy="969264"/>
          </a:xfrm>
          <a:prstGeom prst="line">
            <a:avLst/>
          </a:prstGeom>
          <a:ln w="16510">
            <a:solidFill>
              <a:srgbClr val="59636A"/>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760720" y="4169663"/>
            <a:ext cx="1024128" cy="228600"/>
          </a:xfrm>
          <a:prstGeom prst="rect">
            <a:avLst/>
          </a:prstGeom>
          <a:noFill/>
        </p:spPr>
        <p:txBody>
          <a:bodyPr wrap="square" lIns="0" rIns="0" tIns="0" bIns="0">
            <a:spAutoFit/>
          </a:bodyPr>
          <a:lstStyle/>
          <a:p>
            <a:pPr algn="ctr">
              <a:spcAft>
                <a:spcPts val="700"/>
              </a:spcAft>
              <a:defRPr sz="1000" b="0">
                <a:solidFill>
                  <a:srgbClr val="59636A"/>
                </a:solidFill>
                <a:latin typeface="Lato"/>
              </a:defRPr>
            </a:pPr>
            <a:r>
              <a:t>1 → many</a:t>
            </a:r>
          </a:p>
        </p:txBody>
      </p:sp>
      <p:sp>
        <p:nvSpPr>
          <p:cNvPr id="32" name="Rectangle 31"/>
          <p:cNvSpPr/>
          <p:nvPr/>
        </p:nvSpPr>
        <p:spPr>
          <a:xfrm>
            <a:off x="8385048" y="4489704"/>
            <a:ext cx="3474720" cy="96012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13064" y="4608576"/>
            <a:ext cx="3218687"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LeadAudit</a:t>
            </a:r>
          </a:p>
        </p:txBody>
      </p:sp>
      <p:sp>
        <p:nvSpPr>
          <p:cNvPr id="34" name="TextBox 33"/>
          <p:cNvSpPr txBox="1"/>
          <p:nvPr/>
        </p:nvSpPr>
        <p:spPr>
          <a:xfrm>
            <a:off x="8513064" y="5038344"/>
            <a:ext cx="3218687" cy="38404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lead_id · actor · before / after</a:t>
            </a:r>
          </a:p>
        </p:txBody>
      </p:sp>
      <p:cxnSp>
        <p:nvCxnSpPr>
          <p:cNvPr id="35" name="Connector 34"/>
          <p:cNvCxnSpPr/>
          <p:nvPr/>
        </p:nvCxnSpPr>
        <p:spPr>
          <a:xfrm>
            <a:off x="6126480" y="3520440"/>
            <a:ext cx="3995928" cy="969264"/>
          </a:xfrm>
          <a:prstGeom prst="line">
            <a:avLst/>
          </a:prstGeom>
          <a:ln w="16510">
            <a:solidFill>
              <a:srgbClr val="59636A"/>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610344" y="4169663"/>
            <a:ext cx="1024128" cy="228600"/>
          </a:xfrm>
          <a:prstGeom prst="rect">
            <a:avLst/>
          </a:prstGeom>
          <a:noFill/>
        </p:spPr>
        <p:txBody>
          <a:bodyPr wrap="square" lIns="0" rIns="0" tIns="0" bIns="0">
            <a:spAutoFit/>
          </a:bodyPr>
          <a:lstStyle/>
          <a:p>
            <a:pPr algn="ctr">
              <a:spcAft>
                <a:spcPts val="700"/>
              </a:spcAft>
              <a:defRPr sz="1000" b="0">
                <a:solidFill>
                  <a:srgbClr val="59636A"/>
                </a:solidFill>
                <a:latin typeface="Lato"/>
              </a:defRPr>
            </a:pPr>
            <a:r>
              <a:t>1 → many</a:t>
            </a:r>
          </a:p>
        </p:txBody>
      </p:sp>
      <p:sp>
        <p:nvSpPr>
          <p:cNvPr id="37" name="Rectangle 36"/>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Each lead can also have many complaints; each complaint can have many complaint notes.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DATA MODEL</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Lead fields and business meaning</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Two ownership fields and separate progress fields preserve the handoff context.</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26</a:t>
            </a:r>
          </a:p>
        </p:txBody>
      </p:sp>
      <p:graphicFrame>
        <p:nvGraphicFramePr>
          <p:cNvPr id="9" name="Table 8"/>
          <p:cNvGraphicFramePr>
            <a:graphicFrameLocks noGrp="1"/>
          </p:cNvGraphicFramePr>
          <p:nvPr/>
        </p:nvGraphicFramePr>
        <p:xfrm>
          <a:off x="566928" y="2276856"/>
          <a:ext cx="11045952" cy="3218688"/>
        </p:xfrm>
        <a:graphic>
          <a:graphicData uri="http://schemas.openxmlformats.org/drawingml/2006/table">
            <a:tbl>
              <a:tblPr firstRow="1" bandRow="1">
                <a:tableStyleId>{5C22544A-7EE6-4342-B048-85BDC9FD1C3A}</a:tableStyleId>
              </a:tblPr>
              <a:tblGrid>
                <a:gridCol w="2889504"/>
                <a:gridCol w="3520440"/>
                <a:gridCol w="4636008"/>
              </a:tblGrid>
              <a:tr h="459812">
                <a:tc>
                  <a:txBody>
                    <a:bodyPr/>
                    <a:lstStyle/>
                    <a:p>
                      <a:pPr>
                        <a:defRPr sz="1500" b="1">
                          <a:solidFill>
                            <a:srgbClr val="FFFFFF"/>
                          </a:solidFill>
                          <a:latin typeface="Lato"/>
                        </a:defRPr>
                      </a:pPr>
                      <a:r>
                        <a:t>Field / relationship</a:t>
                      </a:r>
                    </a:p>
                  </a:txBody>
                  <a:tcPr anchor="ctr" marL="118872" marR="91440" marT="54864" marB="54864">
                    <a:solidFill>
                      <a:srgbClr val="172028"/>
                    </a:solidFill>
                  </a:tcPr>
                </a:tc>
                <a:tc>
                  <a:txBody>
                    <a:bodyPr/>
                    <a:lstStyle/>
                    <a:p>
                      <a:pPr>
                        <a:defRPr sz="1500" b="1">
                          <a:solidFill>
                            <a:srgbClr val="FFFFFF"/>
                          </a:solidFill>
                          <a:latin typeface="Lato"/>
                        </a:defRPr>
                      </a:pPr>
                      <a:r>
                        <a:t>Purpose</a:t>
                      </a:r>
                    </a:p>
                  </a:txBody>
                  <a:tcPr anchor="ctr" marL="118872" marR="91440" marT="54864" marB="54864">
                    <a:solidFill>
                      <a:srgbClr val="172028"/>
                    </a:solidFill>
                  </a:tcPr>
                </a:tc>
                <a:tc>
                  <a:txBody>
                    <a:bodyPr/>
                    <a:lstStyle/>
                    <a:p>
                      <a:pPr>
                        <a:defRPr sz="1500" b="1">
                          <a:solidFill>
                            <a:srgbClr val="FFFFFF"/>
                          </a:solidFill>
                          <a:latin typeface="Lato"/>
                        </a:defRPr>
                      </a:pPr>
                      <a:r>
                        <a:t>Implementation detail</a:t>
                      </a:r>
                    </a:p>
                  </a:txBody>
                  <a:tcPr anchor="ctr" marL="118872" marR="91440" marT="54864" marB="54864">
                    <a:solidFill>
                      <a:srgbClr val="172028"/>
                    </a:solidFill>
                  </a:tcPr>
                </a:tc>
              </a:tr>
              <a:tr h="459812">
                <a:tc>
                  <a:txBody>
                    <a:bodyPr/>
                    <a:lstStyle/>
                    <a:p>
                      <a:pPr>
                        <a:defRPr sz="1500" b="1">
                          <a:solidFill>
                            <a:srgbClr val="172028"/>
                          </a:solidFill>
                          <a:latin typeface="Lato"/>
                        </a:defRPr>
                      </a:pPr>
                      <a:r>
                        <a:t>assigned_so / assigned_ps</a:t>
                      </a:r>
                    </a:p>
                  </a:txBody>
                  <a:tcPr anchor="ctr" marL="118872" marR="91440" marT="54864" marB="54864">
                    <a:solidFill>
                      <a:srgbClr val="FFFFFF"/>
                    </a:solidFill>
                  </a:tcPr>
                </a:tc>
                <a:tc>
                  <a:txBody>
                    <a:bodyPr/>
                    <a:lstStyle/>
                    <a:p>
                      <a:pPr>
                        <a:defRPr sz="1500" b="0">
                          <a:solidFill>
                            <a:srgbClr val="172028"/>
                          </a:solidFill>
                          <a:latin typeface="Lato"/>
                        </a:defRPr>
                      </a:pPr>
                      <a:r>
                        <a:t>CE owner / PS-SO owner</a:t>
                      </a:r>
                    </a:p>
                  </a:txBody>
                  <a:tcPr anchor="ctr" marL="118872" marR="91440" marT="54864" marB="54864">
                    <a:solidFill>
                      <a:srgbClr val="FFFFFF"/>
                    </a:solidFill>
                  </a:tcPr>
                </a:tc>
                <a:tc>
                  <a:txBody>
                    <a:bodyPr/>
                    <a:lstStyle/>
                    <a:p>
                      <a:pPr>
                        <a:defRPr sz="1500" b="0">
                          <a:solidFill>
                            <a:srgbClr val="172028"/>
                          </a:solidFill>
                          <a:latin typeface="Lato"/>
                        </a:defRPr>
                      </a:pPr>
                      <a:r>
                        <a:t>Both point to accounts.User; history protected</a:t>
                      </a:r>
                    </a:p>
                  </a:txBody>
                  <a:tcPr anchor="ctr" marL="118872" marR="91440" marT="54864" marB="54864">
                    <a:solidFill>
                      <a:srgbClr val="FFFFFF"/>
                    </a:solidFill>
                  </a:tcPr>
                </a:tc>
              </a:tr>
              <a:tr h="459812">
                <a:tc>
                  <a:txBody>
                    <a:bodyPr/>
                    <a:lstStyle/>
                    <a:p>
                      <a:pPr>
                        <a:defRPr sz="1500" b="1">
                          <a:solidFill>
                            <a:srgbClr val="172028"/>
                          </a:solidFill>
                          <a:latin typeface="Lato"/>
                        </a:defRPr>
                      </a:pPr>
                      <a:r>
                        <a:t>status / sales_outcome</a:t>
                      </a:r>
                    </a:p>
                  </a:txBody>
                  <a:tcPr anchor="ctr" marL="118872" marR="91440" marT="54864" marB="54864">
                    <a:solidFill>
                      <a:srgbClr val="EAEDEB"/>
                    </a:solidFill>
                  </a:tcPr>
                </a:tc>
                <a:tc>
                  <a:txBody>
                    <a:bodyPr/>
                    <a:lstStyle/>
                    <a:p>
                      <a:pPr>
                        <a:defRPr sz="1500" b="0">
                          <a:solidFill>
                            <a:srgbClr val="172028"/>
                          </a:solidFill>
                          <a:latin typeface="Lato"/>
                        </a:defRPr>
                      </a:pPr>
                      <a:r>
                        <a:t>Contact stage / sales progress</a:t>
                      </a:r>
                    </a:p>
                  </a:txBody>
                  <a:tcPr anchor="ctr" marL="118872" marR="91440" marT="54864" marB="54864">
                    <a:solidFill>
                      <a:srgbClr val="EAEDEB"/>
                    </a:solidFill>
                  </a:tcPr>
                </a:tc>
                <a:tc>
                  <a:txBody>
                    <a:bodyPr/>
                    <a:lstStyle/>
                    <a:p>
                      <a:pPr>
                        <a:defRPr sz="1500" b="0">
                          <a:solidFill>
                            <a:srgbClr val="172028"/>
                          </a:solidFill>
                          <a:latin typeface="Lato"/>
                        </a:defRPr>
                      </a:pPr>
                      <a:r>
                        <a:t>Separate enums; category stores Hot/Warm/Cold</a:t>
                      </a:r>
                    </a:p>
                  </a:txBody>
                  <a:tcPr anchor="ctr" marL="118872" marR="91440" marT="54864" marB="54864">
                    <a:solidFill>
                      <a:srgbClr val="EAEDEB"/>
                    </a:solidFill>
                  </a:tcPr>
                </a:tc>
              </a:tr>
              <a:tr h="459812">
                <a:tc>
                  <a:txBody>
                    <a:bodyPr/>
                    <a:lstStyle/>
                    <a:p>
                      <a:pPr>
                        <a:defRPr sz="1500" b="1">
                          <a:solidFill>
                            <a:srgbClr val="172028"/>
                          </a:solidFill>
                          <a:latin typeface="Lato"/>
                        </a:defRPr>
                      </a:pPr>
                      <a:r>
                        <a:t>source / activity / sub_activity</a:t>
                      </a:r>
                    </a:p>
                  </a:txBody>
                  <a:tcPr anchor="ctr" marL="118872" marR="91440" marT="54864" marB="54864">
                    <a:solidFill>
                      <a:srgbClr val="FFFFFF"/>
                    </a:solidFill>
                  </a:tcPr>
                </a:tc>
                <a:tc>
                  <a:txBody>
                    <a:bodyPr/>
                    <a:lstStyle/>
                    <a:p>
                      <a:pPr>
                        <a:defRPr sz="1500" b="0">
                          <a:solidFill>
                            <a:srgbClr val="172028"/>
                          </a:solidFill>
                          <a:latin typeface="Lato"/>
                        </a:defRPr>
                      </a:pPr>
                      <a:r>
                        <a:t>Origin and marketing context</a:t>
                      </a:r>
                    </a:p>
                  </a:txBody>
                  <a:tcPr anchor="ctr" marL="118872" marR="91440" marT="54864" marB="54864">
                    <a:solidFill>
                      <a:srgbClr val="FFFFFF"/>
                    </a:solidFill>
                  </a:tcPr>
                </a:tc>
                <a:tc>
                  <a:txBody>
                    <a:bodyPr/>
                    <a:lstStyle/>
                    <a:p>
                      <a:pPr>
                        <a:defRPr sz="1500" b="0">
                          <a:solidFill>
                            <a:srgbClr val="172028"/>
                          </a:solidFill>
                          <a:latin typeface="Lato"/>
                        </a:defRPr>
                      </a:pPr>
                      <a:r>
                        <a:t>Sub-activity belongs to a configured activity</a:t>
                      </a:r>
                    </a:p>
                  </a:txBody>
                  <a:tcPr anchor="ctr" marL="118872" marR="91440" marT="54864" marB="54864">
                    <a:solidFill>
                      <a:srgbClr val="FFFFFF"/>
                    </a:solidFill>
                  </a:tcPr>
                </a:tc>
              </a:tr>
              <a:tr h="459812">
                <a:tc>
                  <a:txBody>
                    <a:bodyPr/>
                    <a:lstStyle/>
                    <a:p>
                      <a:pPr>
                        <a:defRPr sz="1500" b="1">
                          <a:solidFill>
                            <a:srgbClr val="172028"/>
                          </a:solidFill>
                          <a:latin typeface="Lato"/>
                        </a:defRPr>
                      </a:pPr>
                      <a:r>
                        <a:t>branch / rto / enquiry_date</a:t>
                      </a:r>
                    </a:p>
                  </a:txBody>
                  <a:tcPr anchor="ctr" marL="118872" marR="91440" marT="54864" marB="54864">
                    <a:solidFill>
                      <a:srgbClr val="EAEDEB"/>
                    </a:solidFill>
                  </a:tcPr>
                </a:tc>
                <a:tc>
                  <a:txBody>
                    <a:bodyPr/>
                    <a:lstStyle/>
                    <a:p>
                      <a:pPr>
                        <a:defRPr sz="1500" b="0">
                          <a:solidFill>
                            <a:srgbClr val="172028"/>
                          </a:solidFill>
                          <a:latin typeface="Lato"/>
                        </a:defRPr>
                      </a:pPr>
                      <a:r>
                        <a:t>Location and reporting context</a:t>
                      </a:r>
                    </a:p>
                  </a:txBody>
                  <a:tcPr anchor="ctr" marL="118872" marR="91440" marT="54864" marB="54864">
                    <a:solidFill>
                      <a:srgbClr val="EAEDEB"/>
                    </a:solidFill>
                  </a:tcPr>
                </a:tc>
                <a:tc>
                  <a:txBody>
                    <a:bodyPr/>
                    <a:lstStyle/>
                    <a:p>
                      <a:pPr>
                        <a:defRPr sz="1500" b="0">
                          <a:solidFill>
                            <a:srgbClr val="172028"/>
                          </a:solidFill>
                          <a:latin typeface="Lato"/>
                        </a:defRPr>
                      </a:pPr>
                      <a:r>
                        <a:t>RTO choices; date validation and filters</a:t>
                      </a:r>
                    </a:p>
                  </a:txBody>
                  <a:tcPr anchor="ctr" marL="118872" marR="91440" marT="54864" marB="54864">
                    <a:solidFill>
                      <a:srgbClr val="EAEDEB"/>
                    </a:solidFill>
                  </a:tcPr>
                </a:tc>
              </a:tr>
              <a:tr h="459812">
                <a:tc>
                  <a:txBody>
                    <a:bodyPr/>
                    <a:lstStyle/>
                    <a:p>
                      <a:pPr>
                        <a:defRPr sz="1500" b="1">
                          <a:solidFill>
                            <a:srgbClr val="172028"/>
                          </a:solidFill>
                          <a:latin typeface="Lato"/>
                        </a:defRPr>
                      </a:pPr>
                      <a:r>
                        <a:t>test_drive_completed_at</a:t>
                      </a:r>
                    </a:p>
                  </a:txBody>
                  <a:tcPr anchor="ctr" marL="118872" marR="91440" marT="54864" marB="54864">
                    <a:solidFill>
                      <a:srgbClr val="FFFFFF"/>
                    </a:solidFill>
                  </a:tcPr>
                </a:tc>
                <a:tc>
                  <a:txBody>
                    <a:bodyPr/>
                    <a:lstStyle/>
                    <a:p>
                      <a:pPr>
                        <a:defRPr sz="1500" b="0">
                          <a:solidFill>
                            <a:srgbClr val="172028"/>
                          </a:solidFill>
                          <a:latin typeface="Lato"/>
                        </a:defRPr>
                      </a:pPr>
                      <a:r>
                        <a:t>Recorded completion evidence</a:t>
                      </a:r>
                    </a:p>
                  </a:txBody>
                  <a:tcPr anchor="ctr" marL="118872" marR="91440" marT="54864" marB="54864">
                    <a:solidFill>
                      <a:srgbClr val="FFFFFF"/>
                    </a:solidFill>
                  </a:tcPr>
                </a:tc>
                <a:tc>
                  <a:txBody>
                    <a:bodyPr/>
                    <a:lstStyle/>
                    <a:p>
                      <a:pPr>
                        <a:defRPr sz="1500" b="0">
                          <a:solidFill>
                            <a:srgbClr val="172028"/>
                          </a:solidFill>
                          <a:latin typeface="Lato"/>
                        </a:defRPr>
                      </a:pPr>
                      <a:r>
                        <a:t>One audited timestamp; repeated action is safe</a:t>
                      </a:r>
                    </a:p>
                  </a:txBody>
                  <a:tcPr anchor="ctr" marL="118872" marR="91440" marT="54864" marB="54864">
                    <a:solidFill>
                      <a:srgbClr val="FFFFFF"/>
                    </a:solidFill>
                  </a:tcPr>
                </a:tc>
              </a:tr>
              <a:tr h="459816">
                <a:tc>
                  <a:txBody>
                    <a:bodyPr/>
                    <a:lstStyle/>
                    <a:p>
                      <a:pPr>
                        <a:defRPr sz="1500" b="1">
                          <a:solidFill>
                            <a:srgbClr val="172028"/>
                          </a:solidFill>
                          <a:latin typeface="Lato"/>
                        </a:defRPr>
                      </a:pPr>
                      <a:r>
                        <a:t>deleted_at / reassignment flags</a:t>
                      </a:r>
                    </a:p>
                  </a:txBody>
                  <a:tcPr anchor="ctr" marL="118872" marR="91440" marT="54864" marB="54864">
                    <a:solidFill>
                      <a:srgbClr val="EAEDEB"/>
                    </a:solidFill>
                  </a:tcPr>
                </a:tc>
                <a:tc>
                  <a:txBody>
                    <a:bodyPr/>
                    <a:lstStyle/>
                    <a:p>
                      <a:pPr>
                        <a:defRPr sz="1500" b="0">
                          <a:solidFill>
                            <a:srgbClr val="172028"/>
                          </a:solidFill>
                          <a:latin typeface="Lato"/>
                        </a:defRPr>
                      </a:pPr>
                      <a:r>
                        <a:t>Record lifecycle and work routing</a:t>
                      </a:r>
                    </a:p>
                  </a:txBody>
                  <a:tcPr anchor="ctr" marL="118872" marR="91440" marT="54864" marB="54864">
                    <a:solidFill>
                      <a:srgbClr val="EAEDEB"/>
                    </a:solidFill>
                  </a:tcPr>
                </a:tc>
                <a:tc>
                  <a:txBody>
                    <a:bodyPr/>
                    <a:lstStyle/>
                    <a:p>
                      <a:pPr>
                        <a:defRPr sz="1500" b="0">
                          <a:solidFill>
                            <a:srgbClr val="172028"/>
                          </a:solidFill>
                          <a:latin typeface="Lato"/>
                        </a:defRPr>
                      </a:pPr>
                      <a:r>
                        <a:t>Soft deletion and explicit reassignment queues</a:t>
                      </a:r>
                    </a:p>
                  </a:txBody>
                  <a:tcPr anchor="ctr" marL="118872" marR="91440" marT="54864" marB="54864">
                    <a:solidFill>
                      <a:srgbClr val="EAEDEB"/>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WORKFLOW</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CE qualification and sales-state workflow</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Qualification starts sales work; booking and retail are separate outcomes.</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27</a:t>
            </a:r>
          </a:p>
        </p:txBody>
      </p:sp>
      <p:sp>
        <p:nvSpPr>
          <p:cNvPr id="9" name="Rectangle 8"/>
          <p:cNvSpPr/>
          <p:nvPr/>
        </p:nvSpPr>
        <p:spPr>
          <a:xfrm>
            <a:off x="640080" y="2468880"/>
            <a:ext cx="2057400" cy="97840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587752"/>
            <a:ext cx="180136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Fresh</a:t>
            </a:r>
          </a:p>
        </p:txBody>
      </p:sp>
      <p:sp>
        <p:nvSpPr>
          <p:cNvPr id="11" name="TextBox 10"/>
          <p:cNvSpPr txBox="1"/>
          <p:nvPr/>
        </p:nvSpPr>
        <p:spPr>
          <a:xfrm>
            <a:off x="768096" y="3017520"/>
            <a:ext cx="1801368" cy="40233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New enquiry</a:t>
            </a:r>
          </a:p>
        </p:txBody>
      </p:sp>
      <p:sp>
        <p:nvSpPr>
          <p:cNvPr id="12" name="Rectangle 11"/>
          <p:cNvSpPr/>
          <p:nvPr/>
        </p:nvSpPr>
        <p:spPr>
          <a:xfrm>
            <a:off x="3657600" y="2468880"/>
            <a:ext cx="3127248" cy="97840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85615" y="2587752"/>
            <a:ext cx="2871215" cy="384048"/>
          </a:xfrm>
          <a:prstGeom prst="rect">
            <a:avLst/>
          </a:prstGeom>
          <a:noFill/>
        </p:spPr>
        <p:txBody>
          <a:bodyPr wrap="square" lIns="0" rIns="0" tIns="0" bIns="0">
            <a:spAutoFit/>
          </a:bodyPr>
          <a:lstStyle/>
          <a:p>
            <a:pPr algn="ctr">
              <a:spcAft>
                <a:spcPts val="700"/>
              </a:spcAft>
              <a:defRPr sz="1900" b="1">
                <a:solidFill>
                  <a:srgbClr val="216B59"/>
                </a:solidFill>
                <a:latin typeface="Lato"/>
              </a:defRPr>
            </a:pPr>
            <a:r>
              <a:t>Qualified</a:t>
            </a:r>
          </a:p>
        </p:txBody>
      </p:sp>
      <p:sp>
        <p:nvSpPr>
          <p:cNvPr id="14" name="TextBox 13"/>
          <p:cNvSpPr txBox="1"/>
          <p:nvPr/>
        </p:nvSpPr>
        <p:spPr>
          <a:xfrm>
            <a:off x="3785615" y="3017520"/>
            <a:ext cx="2871215" cy="40233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CE context + named PS/SO</a:t>
            </a:r>
          </a:p>
        </p:txBody>
      </p:sp>
      <p:sp>
        <p:nvSpPr>
          <p:cNvPr id="15" name="Rectangle 14"/>
          <p:cNvSpPr/>
          <p:nvPr/>
        </p:nvSpPr>
        <p:spPr>
          <a:xfrm>
            <a:off x="7626096" y="2468880"/>
            <a:ext cx="3877056" cy="97840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2587752"/>
            <a:ext cx="3621024" cy="384048"/>
          </a:xfrm>
          <a:prstGeom prst="rect">
            <a:avLst/>
          </a:prstGeom>
          <a:noFill/>
        </p:spPr>
        <p:txBody>
          <a:bodyPr wrap="square" lIns="0" rIns="0" tIns="0" bIns="0">
            <a:spAutoFit/>
          </a:bodyPr>
          <a:lstStyle/>
          <a:p>
            <a:pPr algn="ctr">
              <a:spcAft>
                <a:spcPts val="700"/>
              </a:spcAft>
              <a:defRPr sz="1900" b="1">
                <a:solidFill>
                  <a:srgbClr val="216B59"/>
                </a:solidFill>
                <a:latin typeface="Lato"/>
              </a:defRPr>
            </a:pPr>
            <a:r>
              <a:t>Sales progress</a:t>
            </a:r>
          </a:p>
        </p:txBody>
      </p:sp>
      <p:sp>
        <p:nvSpPr>
          <p:cNvPr id="17" name="TextBox 16"/>
          <p:cNvSpPr txBox="1"/>
          <p:nvPr/>
        </p:nvSpPr>
        <p:spPr>
          <a:xfrm>
            <a:off x="7754112" y="3017520"/>
            <a:ext cx="3621024" cy="40233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Pending → Booked → Retailed</a:t>
            </a:r>
          </a:p>
        </p:txBody>
      </p:sp>
      <p:cxnSp>
        <p:nvCxnSpPr>
          <p:cNvPr id="18" name="Connector 17"/>
          <p:cNvCxnSpPr/>
          <p:nvPr/>
        </p:nvCxnSpPr>
        <p:spPr>
          <a:xfrm>
            <a:off x="2697480" y="2944368"/>
            <a:ext cx="960120"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784848" y="2944368"/>
            <a:ext cx="841248" cy="0"/>
          </a:xfrm>
          <a:prstGeom prst="line">
            <a:avLst/>
          </a:prstGeom>
          <a:ln w="25400">
            <a:solidFill>
              <a:srgbClr val="216B59"/>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40080" y="4334256"/>
            <a:ext cx="3401568" cy="102412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453128"/>
            <a:ext cx="3145536"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Contact pending</a:t>
            </a:r>
          </a:p>
        </p:txBody>
      </p:sp>
      <p:sp>
        <p:nvSpPr>
          <p:cNvPr id="22" name="TextBox 21"/>
          <p:cNvSpPr txBox="1"/>
          <p:nvPr/>
        </p:nvSpPr>
        <p:spPr>
          <a:xfrm>
            <a:off x="768096" y="4882896"/>
            <a:ext cx="3145536" cy="44805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RNR / switched off / callback</a:t>
            </a:r>
          </a:p>
        </p:txBody>
      </p:sp>
      <p:cxnSp>
        <p:nvCxnSpPr>
          <p:cNvPr id="23" name="Connector 22"/>
          <p:cNvCxnSpPr/>
          <p:nvPr/>
        </p:nvCxnSpPr>
        <p:spPr>
          <a:xfrm>
            <a:off x="1682496" y="3447288"/>
            <a:ext cx="0" cy="886968"/>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590288" y="4334256"/>
            <a:ext cx="2624328" cy="102412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18303" y="4453128"/>
            <a:ext cx="2368296"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Lost</a:t>
            </a:r>
          </a:p>
        </p:txBody>
      </p:sp>
      <p:sp>
        <p:nvSpPr>
          <p:cNvPr id="26" name="TextBox 25"/>
          <p:cNvSpPr txBox="1"/>
          <p:nvPr/>
        </p:nvSpPr>
        <p:spPr>
          <a:xfrm>
            <a:off x="4718303" y="4882896"/>
            <a:ext cx="2368296" cy="44805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Reason + remarks</a:t>
            </a:r>
          </a:p>
        </p:txBody>
      </p:sp>
      <p:cxnSp>
        <p:nvCxnSpPr>
          <p:cNvPr id="27" name="Connector 26"/>
          <p:cNvCxnSpPr/>
          <p:nvPr/>
        </p:nvCxnSpPr>
        <p:spPr>
          <a:xfrm>
            <a:off x="5212080" y="3447288"/>
            <a:ext cx="685800" cy="886968"/>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754112" y="4334256"/>
            <a:ext cx="3749039" cy="102412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82128" y="4453128"/>
            <a:ext cx="3493007"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Test drive completed</a:t>
            </a:r>
          </a:p>
        </p:txBody>
      </p:sp>
      <p:sp>
        <p:nvSpPr>
          <p:cNvPr id="30" name="TextBox 29"/>
          <p:cNvSpPr txBox="1"/>
          <p:nvPr/>
        </p:nvSpPr>
        <p:spPr>
          <a:xfrm>
            <a:off x="7882128" y="4882896"/>
            <a:ext cx="3493007" cy="44805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Audited event alongside the pipeline</a:t>
            </a:r>
          </a:p>
        </p:txBody>
      </p:sp>
      <p:sp>
        <p:nvSpPr>
          <p:cNvPr id="31" name="Rectangle 3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Requested test drive ≠ completed test drive. A completed drive does not itself mark the lead booked.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WORKFLOW</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Follow-up loop and reminder conditions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A next action needs an owner, a future date and an outcome when the call is made.</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28</a:t>
            </a:r>
          </a:p>
        </p:txBody>
      </p:sp>
      <p:sp>
        <p:nvSpPr>
          <p:cNvPr id="9" name="Rectangle 8"/>
          <p:cNvSpPr/>
          <p:nvPr/>
        </p:nvSpPr>
        <p:spPr>
          <a:xfrm>
            <a:off x="640080" y="2651760"/>
            <a:ext cx="2606040" cy="1133856"/>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77063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Record outcome</a:t>
            </a:r>
          </a:p>
        </p:txBody>
      </p:sp>
      <p:sp>
        <p:nvSpPr>
          <p:cNvPr id="11" name="TextBox 10"/>
          <p:cNvSpPr txBox="1"/>
          <p:nvPr/>
        </p:nvSpPr>
        <p:spPr>
          <a:xfrm>
            <a:off x="768096" y="3200400"/>
            <a:ext cx="2350008" cy="557784"/>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Call result + remarks</a:t>
            </a:r>
          </a:p>
        </p:txBody>
      </p:sp>
      <p:cxnSp>
        <p:nvCxnSpPr>
          <p:cNvPr id="12" name="Connector 11"/>
          <p:cNvCxnSpPr/>
          <p:nvPr/>
        </p:nvCxnSpPr>
        <p:spPr>
          <a:xfrm>
            <a:off x="3246120" y="3200400"/>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529584" y="2651760"/>
            <a:ext cx="2606040" cy="1133856"/>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77063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Set next action</a:t>
            </a:r>
          </a:p>
        </p:txBody>
      </p:sp>
      <p:sp>
        <p:nvSpPr>
          <p:cNvPr id="15" name="TextBox 14"/>
          <p:cNvSpPr txBox="1"/>
          <p:nvPr/>
        </p:nvSpPr>
        <p:spPr>
          <a:xfrm>
            <a:off x="3657600" y="3200400"/>
            <a:ext cx="2350008" cy="557784"/>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Owner + scheduled date</a:t>
            </a:r>
          </a:p>
        </p:txBody>
      </p:sp>
      <p:cxnSp>
        <p:nvCxnSpPr>
          <p:cNvPr id="16" name="Connector 15"/>
          <p:cNvCxnSpPr/>
          <p:nvPr/>
        </p:nvCxnSpPr>
        <p:spPr>
          <a:xfrm>
            <a:off x="6135624" y="3200400"/>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419088" y="2651760"/>
            <a:ext cx="2606040" cy="1133856"/>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277063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Review due queue</a:t>
            </a:r>
          </a:p>
        </p:txBody>
      </p:sp>
      <p:sp>
        <p:nvSpPr>
          <p:cNvPr id="19" name="TextBox 18"/>
          <p:cNvSpPr txBox="1"/>
          <p:nvPr/>
        </p:nvSpPr>
        <p:spPr>
          <a:xfrm>
            <a:off x="6547104" y="3200400"/>
            <a:ext cx="2350008" cy="557784"/>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Due / overdue follow-up</a:t>
            </a:r>
          </a:p>
        </p:txBody>
      </p:sp>
      <p:cxnSp>
        <p:nvCxnSpPr>
          <p:cNvPr id="20" name="Connector 19"/>
          <p:cNvCxnSpPr/>
          <p:nvPr/>
        </p:nvCxnSpPr>
        <p:spPr>
          <a:xfrm>
            <a:off x="9025128" y="3200400"/>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308592" y="2651760"/>
            <a:ext cx="2606040" cy="1133856"/>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6608" y="277063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Call and update</a:t>
            </a:r>
          </a:p>
        </p:txBody>
      </p:sp>
      <p:sp>
        <p:nvSpPr>
          <p:cNvPr id="23" name="TextBox 22"/>
          <p:cNvSpPr txBox="1"/>
          <p:nvPr/>
        </p:nvSpPr>
        <p:spPr>
          <a:xfrm>
            <a:off x="9436608" y="3200400"/>
            <a:ext cx="2350008" cy="557784"/>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Resolve / replace next action</a:t>
            </a:r>
          </a:p>
        </p:txBody>
      </p:sp>
      <p:cxnSp>
        <p:nvCxnSpPr>
          <p:cNvPr id="24" name="Connector 23"/>
          <p:cNvCxnSpPr/>
          <p:nvPr/>
        </p:nvCxnSpPr>
        <p:spPr>
          <a:xfrm>
            <a:off x="10588752" y="3785615"/>
            <a:ext cx="0" cy="466345"/>
          </a:xfrm>
          <a:prstGeom prst="line">
            <a:avLst/>
          </a:prstGeom>
          <a:ln w="25400">
            <a:solidFill>
              <a:srgbClr val="285D8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947672" y="4251960"/>
            <a:ext cx="8641080" cy="0"/>
          </a:xfrm>
          <a:prstGeom prst="line">
            <a:avLst/>
          </a:prstGeom>
          <a:ln w="25400">
            <a:solidFill>
              <a:srgbClr val="285D8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947672" y="3785615"/>
            <a:ext cx="0" cy="466345"/>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4727448"/>
            <a:ext cx="10424160" cy="548640"/>
          </a:xfrm>
          <a:prstGeom prst="rect">
            <a:avLst/>
          </a:prstGeom>
          <a:noFill/>
        </p:spPr>
        <p:txBody>
          <a:bodyPr wrap="square" lIns="0" rIns="0" tIns="0" bIns="0">
            <a:spAutoFit/>
          </a:bodyPr>
          <a:lstStyle/>
          <a:p>
            <a:pPr algn="ctr">
              <a:spcAft>
                <a:spcPts val="700"/>
              </a:spcAft>
              <a:defRPr sz="1800" b="1">
                <a:solidFill>
                  <a:srgbClr val="285D80"/>
                </a:solidFill>
                <a:latin typeface="Lato"/>
              </a:defRPr>
            </a:pPr>
            <a:r>
              <a:t>Reminder task: unresolved + due + active owner + not held + not already notified</a:t>
            </a:r>
          </a:p>
        </p:txBody>
      </p:sp>
      <p:sp>
        <p:nvSpPr>
          <p:cNvPr id="28" name="Rectangle 27"/>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Scheduler setting: every 900 seconds. Live reminder execution has not been verified.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SECURITY</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Authentication request sequence</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Cookie-based JWT authentication, CSRF checks and one refresh retry in the frontend.</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29</a:t>
            </a:r>
          </a:p>
        </p:txBody>
      </p:sp>
      <p:sp>
        <p:nvSpPr>
          <p:cNvPr id="9" name="TextBox 8"/>
          <p:cNvSpPr txBox="1"/>
          <p:nvPr/>
        </p:nvSpPr>
        <p:spPr>
          <a:xfrm>
            <a:off x="548640" y="2194560"/>
            <a:ext cx="1828800" cy="365760"/>
          </a:xfrm>
          <a:prstGeom prst="rect">
            <a:avLst/>
          </a:prstGeom>
          <a:noFill/>
        </p:spPr>
        <p:txBody>
          <a:bodyPr wrap="square" lIns="0" rIns="0" tIns="0" bIns="0">
            <a:spAutoFit/>
          </a:bodyPr>
          <a:lstStyle/>
          <a:p>
            <a:pPr algn="ctr">
              <a:spcAft>
                <a:spcPts val="700"/>
              </a:spcAft>
              <a:defRPr sz="2000" b="1">
                <a:solidFill>
                  <a:srgbClr val="C8202F"/>
                </a:solidFill>
                <a:latin typeface="Lato"/>
              </a:defRPr>
            </a:pPr>
            <a:r>
              <a:t>Browser</a:t>
            </a:r>
          </a:p>
        </p:txBody>
      </p:sp>
      <p:cxnSp>
        <p:nvCxnSpPr>
          <p:cNvPr id="10" name="Connector 9"/>
          <p:cNvCxnSpPr/>
          <p:nvPr/>
        </p:nvCxnSpPr>
        <p:spPr>
          <a:xfrm>
            <a:off x="1463040" y="2697480"/>
            <a:ext cx="0" cy="2651760"/>
          </a:xfrm>
          <a:prstGeom prst="line">
            <a:avLst/>
          </a:prstGeom>
          <a:ln w="19050">
            <a:solidFill>
              <a:srgbClr val="DADDD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120640" y="2194560"/>
            <a:ext cx="1828800" cy="365760"/>
          </a:xfrm>
          <a:prstGeom prst="rect">
            <a:avLst/>
          </a:prstGeom>
          <a:noFill/>
        </p:spPr>
        <p:txBody>
          <a:bodyPr wrap="square" lIns="0" rIns="0" tIns="0" bIns="0">
            <a:spAutoFit/>
          </a:bodyPr>
          <a:lstStyle/>
          <a:p>
            <a:pPr algn="ctr">
              <a:spcAft>
                <a:spcPts val="700"/>
              </a:spcAft>
              <a:defRPr sz="2000" b="1">
                <a:solidFill>
                  <a:srgbClr val="C8202F"/>
                </a:solidFill>
                <a:latin typeface="Lato"/>
              </a:defRPr>
            </a:pPr>
            <a:r>
              <a:t>Django API</a:t>
            </a:r>
          </a:p>
        </p:txBody>
      </p:sp>
      <p:cxnSp>
        <p:nvCxnSpPr>
          <p:cNvPr id="12" name="Connector 11"/>
          <p:cNvCxnSpPr/>
          <p:nvPr/>
        </p:nvCxnSpPr>
        <p:spPr>
          <a:xfrm>
            <a:off x="6035040" y="2697480"/>
            <a:ext cx="0" cy="2651760"/>
          </a:xfrm>
          <a:prstGeom prst="line">
            <a:avLst/>
          </a:prstGeom>
          <a:ln w="19050">
            <a:solidFill>
              <a:srgbClr val="DADDD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692640" y="2194560"/>
            <a:ext cx="1828800" cy="365760"/>
          </a:xfrm>
          <a:prstGeom prst="rect">
            <a:avLst/>
          </a:prstGeom>
          <a:noFill/>
        </p:spPr>
        <p:txBody>
          <a:bodyPr wrap="square" lIns="0" rIns="0" tIns="0" bIns="0">
            <a:spAutoFit/>
          </a:bodyPr>
          <a:lstStyle/>
          <a:p>
            <a:pPr algn="ctr">
              <a:spcAft>
                <a:spcPts val="700"/>
              </a:spcAft>
              <a:defRPr sz="2000" b="1">
                <a:solidFill>
                  <a:srgbClr val="C8202F"/>
                </a:solidFill>
                <a:latin typeface="Lato"/>
              </a:defRPr>
            </a:pPr>
            <a:r>
              <a:t>Database</a:t>
            </a:r>
          </a:p>
        </p:txBody>
      </p:sp>
      <p:cxnSp>
        <p:nvCxnSpPr>
          <p:cNvPr id="14" name="Connector 13"/>
          <p:cNvCxnSpPr/>
          <p:nvPr/>
        </p:nvCxnSpPr>
        <p:spPr>
          <a:xfrm>
            <a:off x="10607040" y="2697480"/>
            <a:ext cx="0" cy="2651760"/>
          </a:xfrm>
          <a:prstGeom prst="line">
            <a:avLst/>
          </a:prstGeom>
          <a:ln w="19050">
            <a:solidFill>
              <a:srgbClr val="DADDD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463040" y="2898648"/>
            <a:ext cx="4572000" cy="0"/>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591056" y="2551176"/>
            <a:ext cx="4343400" cy="274320"/>
          </a:xfrm>
          <a:prstGeom prst="rect">
            <a:avLst/>
          </a:prstGeom>
          <a:noFill/>
        </p:spPr>
        <p:txBody>
          <a:bodyPr wrap="square" lIns="0" rIns="0" tIns="0" bIns="0">
            <a:spAutoFit/>
          </a:bodyPr>
          <a:lstStyle/>
          <a:p>
            <a:pPr algn="ctr">
              <a:spcAft>
                <a:spcPts val="700"/>
              </a:spcAft>
              <a:defRPr sz="1300" b="0">
                <a:solidFill>
                  <a:srgbClr val="172028"/>
                </a:solidFill>
                <a:latin typeface="Lato"/>
              </a:defRPr>
            </a:pPr>
            <a:r>
              <a:t>1  POST login: credentials</a:t>
            </a:r>
          </a:p>
        </p:txBody>
      </p:sp>
      <p:cxnSp>
        <p:nvCxnSpPr>
          <p:cNvPr id="17" name="Connector 16"/>
          <p:cNvCxnSpPr/>
          <p:nvPr/>
        </p:nvCxnSpPr>
        <p:spPr>
          <a:xfrm>
            <a:off x="6035040" y="3474720"/>
            <a:ext cx="4572000"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63055" y="3127248"/>
            <a:ext cx="4343400" cy="274320"/>
          </a:xfrm>
          <a:prstGeom prst="rect">
            <a:avLst/>
          </a:prstGeom>
          <a:noFill/>
        </p:spPr>
        <p:txBody>
          <a:bodyPr wrap="square" lIns="0" rIns="0" tIns="0" bIns="0">
            <a:spAutoFit/>
          </a:bodyPr>
          <a:lstStyle/>
          <a:p>
            <a:pPr algn="ctr">
              <a:spcAft>
                <a:spcPts val="700"/>
              </a:spcAft>
              <a:defRPr sz="1300" b="0">
                <a:solidFill>
                  <a:srgbClr val="172028"/>
                </a:solidFill>
                <a:latin typeface="Lato"/>
              </a:defRPr>
            </a:pPr>
            <a:r>
              <a:t>2  Load account; API verifies password</a:t>
            </a:r>
          </a:p>
        </p:txBody>
      </p:sp>
      <p:cxnSp>
        <p:nvCxnSpPr>
          <p:cNvPr id="19" name="Connector 18"/>
          <p:cNvCxnSpPr/>
          <p:nvPr/>
        </p:nvCxnSpPr>
        <p:spPr>
          <a:xfrm flipH="1">
            <a:off x="1463040" y="4050791"/>
            <a:ext cx="4572000"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91056" y="3703320"/>
            <a:ext cx="4343400" cy="274320"/>
          </a:xfrm>
          <a:prstGeom prst="rect">
            <a:avLst/>
          </a:prstGeom>
          <a:noFill/>
        </p:spPr>
        <p:txBody>
          <a:bodyPr wrap="square" lIns="0" rIns="0" tIns="0" bIns="0">
            <a:spAutoFit/>
          </a:bodyPr>
          <a:lstStyle/>
          <a:p>
            <a:pPr algn="ctr">
              <a:spcAft>
                <a:spcPts val="700"/>
              </a:spcAft>
              <a:defRPr sz="1300" b="0">
                <a:solidFill>
                  <a:srgbClr val="172028"/>
                </a:solidFill>
                <a:latin typeface="Lato"/>
              </a:defRPr>
            </a:pPr>
            <a:r>
              <a:t>3  Set HttpOnly cookies + return user</a:t>
            </a:r>
          </a:p>
        </p:txBody>
      </p:sp>
      <p:cxnSp>
        <p:nvCxnSpPr>
          <p:cNvPr id="21" name="Connector 20"/>
          <p:cNvCxnSpPr/>
          <p:nvPr/>
        </p:nvCxnSpPr>
        <p:spPr>
          <a:xfrm>
            <a:off x="1463040" y="4626864"/>
            <a:ext cx="4572000" cy="0"/>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591056" y="4279392"/>
            <a:ext cx="4343400" cy="274320"/>
          </a:xfrm>
          <a:prstGeom prst="rect">
            <a:avLst/>
          </a:prstGeom>
          <a:noFill/>
        </p:spPr>
        <p:txBody>
          <a:bodyPr wrap="square" lIns="0" rIns="0" tIns="0" bIns="0">
            <a:spAutoFit/>
          </a:bodyPr>
          <a:lstStyle/>
          <a:p>
            <a:pPr algn="ctr">
              <a:spcAft>
                <a:spcPts val="700"/>
              </a:spcAft>
              <a:defRPr sz="1300" b="0">
                <a:solidFill>
                  <a:srgbClr val="172028"/>
                </a:solidFill>
                <a:latin typeface="Lato"/>
              </a:defRPr>
            </a:pPr>
            <a:r>
              <a:t>4  API request: cookie + CSRF header</a:t>
            </a:r>
          </a:p>
        </p:txBody>
      </p:sp>
      <p:cxnSp>
        <p:nvCxnSpPr>
          <p:cNvPr id="23" name="Connector 22"/>
          <p:cNvCxnSpPr/>
          <p:nvPr/>
        </p:nvCxnSpPr>
        <p:spPr>
          <a:xfrm flipH="1">
            <a:off x="1463040" y="5202936"/>
            <a:ext cx="4572000"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591056" y="4855464"/>
            <a:ext cx="4343400" cy="274320"/>
          </a:xfrm>
          <a:prstGeom prst="rect">
            <a:avLst/>
          </a:prstGeom>
          <a:noFill/>
        </p:spPr>
        <p:txBody>
          <a:bodyPr wrap="square" lIns="0" rIns="0" tIns="0" bIns="0">
            <a:spAutoFit/>
          </a:bodyPr>
          <a:lstStyle/>
          <a:p>
            <a:pPr algn="ctr">
              <a:spcAft>
                <a:spcPts val="700"/>
              </a:spcAft>
              <a:defRPr sz="1300" b="0">
                <a:solidFill>
                  <a:srgbClr val="172028"/>
                </a:solidFill>
                <a:latin typeface="Lato"/>
              </a:defRPr>
            </a:pPr>
            <a:r>
              <a:t>5  Authorised JSON response</a:t>
            </a:r>
          </a:p>
        </p:txBody>
      </p:sp>
      <p:sp>
        <p:nvSpPr>
          <p:cNvPr id="25" name="Rectangle 24"/>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Access: 15 minutes | Refresh: 7 days | Password hashing: bcrypt-SHA256 | Backend role checks remain essential.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SECURITY</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Security and data integrity controls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Existing protections and the reasons they matter.</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30</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Trust boundaries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Authenticated API by default</a:t>
            </a:r>
          </a:p>
          <a:p>
            <a:pPr>
              <a:spcAft>
                <a:spcPts val="700"/>
              </a:spcAft>
              <a:defRPr sz="1800" b="0">
                <a:solidFill>
                  <a:srgbClr val="172028"/>
                </a:solidFill>
                <a:latin typeface="Lato"/>
              </a:defRPr>
            </a:pPr>
            <a:r>
              <a:t>Role and branch checks on queries</a:t>
            </a:r>
          </a:p>
          <a:p>
            <a:pPr>
              <a:spcAft>
                <a:spcPts val="700"/>
              </a:spcAft>
              <a:defRPr sz="1800" b="0">
                <a:solidFill>
                  <a:srgbClr val="172028"/>
                </a:solidFill>
                <a:latin typeface="Lato"/>
              </a:defRPr>
            </a:pPr>
            <a:r>
              <a:t>Configured values validated on input</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Consistent updates</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transaction.atomic for related writes</a:t>
            </a:r>
          </a:p>
          <a:p>
            <a:pPr>
              <a:spcAft>
                <a:spcPts val="700"/>
              </a:spcAft>
              <a:defRPr sz="1800" b="0">
                <a:solidFill>
                  <a:srgbClr val="172028"/>
                </a:solidFill>
                <a:latin typeface="Lato"/>
              </a:defRPr>
            </a:pPr>
            <a:r>
              <a:t>select_for_update on sensitive actions</a:t>
            </a:r>
          </a:p>
          <a:p>
            <a:pPr>
              <a:spcAft>
                <a:spcPts val="700"/>
              </a:spcAft>
              <a:defRPr sz="1800" b="0">
                <a:solidFill>
                  <a:srgbClr val="172028"/>
                </a:solidFill>
                <a:latin typeface="Lato"/>
              </a:defRPr>
            </a:pPr>
            <a:r>
              <a:t>Audit actor, event and before/after data</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Operational controls</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Secrets read from environment</a:t>
            </a:r>
          </a:p>
          <a:p>
            <a:pPr>
              <a:spcAft>
                <a:spcPts val="700"/>
              </a:spcAft>
              <a:defRPr sz="1800" b="0">
                <a:solidFill>
                  <a:srgbClr val="172028"/>
                </a:solidFill>
                <a:latin typeface="Lato"/>
              </a:defRPr>
            </a:pPr>
            <a:r>
              <a:t>Request throttling configured</a:t>
            </a:r>
          </a:p>
          <a:p>
            <a:pPr>
              <a:spcAft>
                <a:spcPts val="700"/>
              </a:spcAft>
              <a:defRPr sz="1800" b="0">
                <a:solidFill>
                  <a:srgbClr val="172028"/>
                </a:solidFill>
                <a:latin typeface="Lato"/>
              </a:defRPr>
            </a:pPr>
            <a:r>
              <a:t>Protected history and lifecycle records</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Security review scope: code-level controls and workflow tests; no penetration-test or compliance certification claim.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DATA INGESTION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CSV / XLSX import pipeline</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Review staged rows before adding them to the active CRM.</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31</a:t>
            </a:r>
          </a:p>
        </p:txBody>
      </p:sp>
      <p:sp>
        <p:nvSpPr>
          <p:cNvPr id="9" name="Rectangle 8"/>
          <p:cNvSpPr/>
          <p:nvPr/>
        </p:nvSpPr>
        <p:spPr>
          <a:xfrm>
            <a:off x="640080" y="2606040"/>
            <a:ext cx="2606040" cy="1124712"/>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72491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Upload</a:t>
            </a:r>
          </a:p>
        </p:txBody>
      </p:sp>
      <p:sp>
        <p:nvSpPr>
          <p:cNvPr id="11" name="TextBox 10"/>
          <p:cNvSpPr txBox="1"/>
          <p:nvPr/>
        </p:nvSpPr>
        <p:spPr>
          <a:xfrm>
            <a:off x="768096" y="3154680"/>
            <a:ext cx="2350008" cy="548640"/>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CSV / XLSX · ≤10 MB</a:t>
            </a:r>
          </a:p>
        </p:txBody>
      </p:sp>
      <p:cxnSp>
        <p:nvCxnSpPr>
          <p:cNvPr id="12" name="Connector 11"/>
          <p:cNvCxnSpPr/>
          <p:nvPr/>
        </p:nvCxnSpPr>
        <p:spPr>
          <a:xfrm>
            <a:off x="3246120" y="3172968"/>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529584" y="2606040"/>
            <a:ext cx="2606040" cy="1124712"/>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72491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Parse</a:t>
            </a:r>
          </a:p>
        </p:txBody>
      </p:sp>
      <p:sp>
        <p:nvSpPr>
          <p:cNvPr id="15" name="TextBox 14"/>
          <p:cNvSpPr txBox="1"/>
          <p:nvPr/>
        </p:nvSpPr>
        <p:spPr>
          <a:xfrm>
            <a:off x="3657600" y="3154680"/>
            <a:ext cx="2350008" cy="548640"/>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Normalise and validate</a:t>
            </a:r>
          </a:p>
        </p:txBody>
      </p:sp>
      <p:cxnSp>
        <p:nvCxnSpPr>
          <p:cNvPr id="16" name="Connector 15"/>
          <p:cNvCxnSpPr/>
          <p:nvPr/>
        </p:nvCxnSpPr>
        <p:spPr>
          <a:xfrm>
            <a:off x="6135624" y="3172968"/>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419088" y="2606040"/>
            <a:ext cx="2606040" cy="1124712"/>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272491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Stage / review</a:t>
            </a:r>
          </a:p>
        </p:txBody>
      </p:sp>
      <p:sp>
        <p:nvSpPr>
          <p:cNvPr id="19" name="TextBox 18"/>
          <p:cNvSpPr txBox="1"/>
          <p:nvPr/>
        </p:nvSpPr>
        <p:spPr>
          <a:xfrm>
            <a:off x="6547104" y="3154680"/>
            <a:ext cx="2350008" cy="548640"/>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Valid · skipped · errors</a:t>
            </a:r>
          </a:p>
        </p:txBody>
      </p:sp>
      <p:cxnSp>
        <p:nvCxnSpPr>
          <p:cNvPr id="20" name="Connector 19"/>
          <p:cNvCxnSpPr/>
          <p:nvPr/>
        </p:nvCxnSpPr>
        <p:spPr>
          <a:xfrm>
            <a:off x="9025128" y="3172968"/>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308592" y="2606040"/>
            <a:ext cx="2606040" cy="1124712"/>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6608" y="272491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Commit</a:t>
            </a:r>
          </a:p>
        </p:txBody>
      </p:sp>
      <p:sp>
        <p:nvSpPr>
          <p:cNvPr id="23" name="TextBox 22"/>
          <p:cNvSpPr txBox="1"/>
          <p:nvPr/>
        </p:nvSpPr>
        <p:spPr>
          <a:xfrm>
            <a:off x="9436608" y="3154680"/>
            <a:ext cx="2350008" cy="548640"/>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Leads + audit + batch state</a:t>
            </a:r>
          </a:p>
        </p:txBody>
      </p:sp>
      <p:sp>
        <p:nvSpPr>
          <p:cNvPr id="24" name="Rectangle 23"/>
          <p:cNvSpPr/>
          <p:nvPr/>
        </p:nvSpPr>
        <p:spPr>
          <a:xfrm>
            <a:off x="640080" y="4251960"/>
            <a:ext cx="5321808" cy="1243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251960"/>
            <a:ext cx="41148" cy="1243584"/>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434840"/>
            <a:ext cx="4956048"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Duplicate handling</a:t>
            </a:r>
          </a:p>
        </p:txBody>
      </p:sp>
      <p:sp>
        <p:nvSpPr>
          <p:cNvPr id="27" name="TextBox 26"/>
          <p:cNvSpPr txBox="1"/>
          <p:nvPr/>
        </p:nvSpPr>
        <p:spPr>
          <a:xfrm>
            <a:off x="822959" y="4910328"/>
            <a:ext cx="4956048" cy="512064"/>
          </a:xfrm>
          <a:prstGeom prst="rect">
            <a:avLst/>
          </a:prstGeom>
          <a:noFill/>
        </p:spPr>
        <p:txBody>
          <a:bodyPr wrap="square" lIns="0" rIns="0" tIns="0" bIns="0">
            <a:spAutoFit/>
          </a:bodyPr>
          <a:lstStyle/>
          <a:p>
            <a:pPr>
              <a:spcAft>
                <a:spcPts val="700"/>
              </a:spcAft>
              <a:defRPr sz="1500" b="0">
                <a:solidFill>
                  <a:srgbClr val="172028"/>
                </a:solidFill>
                <a:latin typeface="Lato"/>
              </a:defRPr>
            </a:pPr>
            <a:r>
              <a:t>CRM matches and repeated file phones default to skip.</a:t>
            </a:r>
          </a:p>
        </p:txBody>
      </p:sp>
      <p:sp>
        <p:nvSpPr>
          <p:cNvPr id="28" name="Rectangle 27"/>
          <p:cNvSpPr/>
          <p:nvPr/>
        </p:nvSpPr>
        <p:spPr>
          <a:xfrm>
            <a:off x="6181344" y="4251960"/>
            <a:ext cx="5321808" cy="1243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1344" y="4251960"/>
            <a:ext cx="41148" cy="1243584"/>
          </a:xfrm>
          <a:prstGeom prst="rect">
            <a:avLst/>
          </a:prstGeom>
          <a:solidFill>
            <a:srgbClr val="285D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4434840"/>
            <a:ext cx="4956048" cy="594360"/>
          </a:xfrm>
          <a:prstGeom prst="rect">
            <a:avLst/>
          </a:prstGeom>
          <a:noFill/>
        </p:spPr>
        <p:txBody>
          <a:bodyPr wrap="square" lIns="0" rIns="0" tIns="0" bIns="0">
            <a:spAutoFit/>
          </a:bodyPr>
          <a:lstStyle/>
          <a:p>
            <a:pPr>
              <a:spcAft>
                <a:spcPts val="700"/>
              </a:spcAft>
              <a:defRPr sz="2000" b="1">
                <a:solidFill>
                  <a:srgbClr val="285D80"/>
                </a:solidFill>
                <a:latin typeface="Lato"/>
              </a:defRPr>
            </a:pPr>
            <a:r>
              <a:t>State tracking</a:t>
            </a:r>
          </a:p>
        </p:txBody>
      </p:sp>
      <p:sp>
        <p:nvSpPr>
          <p:cNvPr id="31" name="TextBox 30"/>
          <p:cNvSpPr txBox="1"/>
          <p:nvPr/>
        </p:nvSpPr>
        <p:spPr>
          <a:xfrm>
            <a:off x="6364224" y="4910328"/>
            <a:ext cx="4956048" cy="512064"/>
          </a:xfrm>
          <a:prstGeom prst="rect">
            <a:avLst/>
          </a:prstGeom>
          <a:noFill/>
        </p:spPr>
        <p:txBody>
          <a:bodyPr wrap="square" lIns="0" rIns="0" tIns="0" bIns="0">
            <a:spAutoFit/>
          </a:bodyPr>
          <a:lstStyle/>
          <a:p>
            <a:pPr>
              <a:spcAft>
                <a:spcPts val="700"/>
              </a:spcAft>
              <a:defRPr sz="1500" b="0">
                <a:solidFill>
                  <a:srgbClr val="172028"/>
                </a:solidFill>
                <a:latin typeface="Lato"/>
              </a:defRPr>
            </a:pPr>
            <a:r>
              <a:t>PARSING → READY → COMMITTED; failures → FAILED.</a:t>
            </a:r>
          </a:p>
        </p:txBody>
      </p:sp>
      <p:sp>
        <p:nvSpPr>
          <p:cNvPr id="32" name="Rectangle 31"/>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Manual lead entry does not have a unique-phone database constraint; import checks are a separate control.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CUSTOMER SUPPORT</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Complaint management workflow</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CE/reception log the issue; the complaints department handles resolution.</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32</a:t>
            </a:r>
          </a:p>
        </p:txBody>
      </p:sp>
      <p:sp>
        <p:nvSpPr>
          <p:cNvPr id="9" name="Rectangle 8"/>
          <p:cNvSpPr/>
          <p:nvPr/>
        </p:nvSpPr>
        <p:spPr>
          <a:xfrm>
            <a:off x="640080" y="2606040"/>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72491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Open</a:t>
            </a:r>
          </a:p>
        </p:txBody>
      </p:sp>
      <p:sp>
        <p:nvSpPr>
          <p:cNvPr id="11" name="TextBox 10"/>
          <p:cNvSpPr txBox="1"/>
          <p:nvPr/>
        </p:nvSpPr>
        <p:spPr>
          <a:xfrm>
            <a:off x="768096" y="3154680"/>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Category + subtype + priority</a:t>
            </a:r>
          </a:p>
        </p:txBody>
      </p:sp>
      <p:cxnSp>
        <p:nvCxnSpPr>
          <p:cNvPr id="12" name="Connector 11"/>
          <p:cNvCxnSpPr/>
          <p:nvPr/>
        </p:nvCxnSpPr>
        <p:spPr>
          <a:xfrm>
            <a:off x="3246120" y="3182112"/>
            <a:ext cx="256032"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529584" y="2606040"/>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72491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In progress</a:t>
            </a:r>
          </a:p>
        </p:txBody>
      </p:sp>
      <p:sp>
        <p:nvSpPr>
          <p:cNvPr id="15" name="TextBox 14"/>
          <p:cNvSpPr txBox="1"/>
          <p:nvPr/>
        </p:nvSpPr>
        <p:spPr>
          <a:xfrm>
            <a:off x="3657600" y="3154680"/>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Investigate and add notes</a:t>
            </a:r>
          </a:p>
        </p:txBody>
      </p:sp>
      <p:cxnSp>
        <p:nvCxnSpPr>
          <p:cNvPr id="16" name="Connector 15"/>
          <p:cNvCxnSpPr/>
          <p:nvPr/>
        </p:nvCxnSpPr>
        <p:spPr>
          <a:xfrm>
            <a:off x="6135624" y="3182112"/>
            <a:ext cx="256032"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419088" y="2606040"/>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272491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Resolved</a:t>
            </a:r>
          </a:p>
        </p:txBody>
      </p:sp>
      <p:sp>
        <p:nvSpPr>
          <p:cNvPr id="19" name="TextBox 18"/>
          <p:cNvSpPr txBox="1"/>
          <p:nvPr/>
        </p:nvSpPr>
        <p:spPr>
          <a:xfrm>
            <a:off x="6547104" y="3154680"/>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Record resolution notes</a:t>
            </a:r>
          </a:p>
        </p:txBody>
      </p:sp>
      <p:cxnSp>
        <p:nvCxnSpPr>
          <p:cNvPr id="20" name="Connector 19"/>
          <p:cNvCxnSpPr/>
          <p:nvPr/>
        </p:nvCxnSpPr>
        <p:spPr>
          <a:xfrm>
            <a:off x="9025128" y="3182112"/>
            <a:ext cx="256032"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308592" y="2606040"/>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6608" y="2724912"/>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Closed</a:t>
            </a:r>
          </a:p>
        </p:txBody>
      </p:sp>
      <p:sp>
        <p:nvSpPr>
          <p:cNvPr id="23" name="TextBox 22"/>
          <p:cNvSpPr txBox="1"/>
          <p:nvPr/>
        </p:nvSpPr>
        <p:spPr>
          <a:xfrm>
            <a:off x="9436608" y="3154680"/>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Final ticket status</a:t>
            </a:r>
          </a:p>
        </p:txBody>
      </p:sp>
      <p:sp>
        <p:nvSpPr>
          <p:cNvPr id="24" name="Rectangle 23"/>
          <p:cNvSpPr/>
          <p:nvPr/>
        </p:nvSpPr>
        <p:spPr>
          <a:xfrm>
            <a:off x="3995928" y="4480560"/>
            <a:ext cx="4169663" cy="96012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23944" y="4599432"/>
            <a:ext cx="3913631"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Escalated</a:t>
            </a:r>
          </a:p>
        </p:txBody>
      </p:sp>
      <p:sp>
        <p:nvSpPr>
          <p:cNvPr id="26" name="TextBox 25"/>
          <p:cNvSpPr txBox="1"/>
          <p:nvPr/>
        </p:nvSpPr>
        <p:spPr>
          <a:xfrm>
            <a:off x="4123944" y="5029200"/>
            <a:ext cx="3913631" cy="38404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Escalation state for issues requiring attention</a:t>
            </a:r>
          </a:p>
        </p:txBody>
      </p:sp>
      <p:cxnSp>
        <p:nvCxnSpPr>
          <p:cNvPr id="27" name="Connector 26"/>
          <p:cNvCxnSpPr/>
          <p:nvPr/>
        </p:nvCxnSpPr>
        <p:spPr>
          <a:xfrm>
            <a:off x="4828032" y="3767328"/>
            <a:ext cx="0" cy="713232"/>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ComplaintNote stores discussion history. A related lead is optional; no automatic lead-to-ticket integration is implied.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ANALYTICS</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ETBR: define the numbers before comparing them</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Enquired → Test Drive Completed → Booked → Retailed</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33</a:t>
            </a:r>
          </a:p>
        </p:txBody>
      </p:sp>
      <p:sp>
        <p:nvSpPr>
          <p:cNvPr id="9" name="Rectangle 8"/>
          <p:cNvSpPr/>
          <p:nvPr/>
        </p:nvSpPr>
        <p:spPr>
          <a:xfrm>
            <a:off x="640080" y="2459736"/>
            <a:ext cx="2606040" cy="26609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706624"/>
            <a:ext cx="2240280" cy="713232"/>
          </a:xfrm>
          <a:prstGeom prst="rect">
            <a:avLst/>
          </a:prstGeom>
          <a:noFill/>
        </p:spPr>
        <p:txBody>
          <a:bodyPr wrap="square" lIns="0" rIns="0" tIns="0" bIns="0">
            <a:spAutoFit/>
          </a:bodyPr>
          <a:lstStyle/>
          <a:p>
            <a:pPr>
              <a:spcAft>
                <a:spcPts val="700"/>
              </a:spcAft>
              <a:defRPr sz="4800" b="1">
                <a:solidFill>
                  <a:srgbClr val="C8202F"/>
                </a:solidFill>
                <a:latin typeface="Lato"/>
              </a:defRPr>
            </a:pPr>
            <a:r>
              <a:t>E</a:t>
            </a:r>
          </a:p>
        </p:txBody>
      </p:sp>
      <p:sp>
        <p:nvSpPr>
          <p:cNvPr id="11" name="TextBox 10"/>
          <p:cNvSpPr txBox="1"/>
          <p:nvPr/>
        </p:nvSpPr>
        <p:spPr>
          <a:xfrm>
            <a:off x="822959" y="3657600"/>
            <a:ext cx="2240280" cy="594360"/>
          </a:xfrm>
          <a:prstGeom prst="rect">
            <a:avLst/>
          </a:prstGeom>
          <a:noFill/>
        </p:spPr>
        <p:txBody>
          <a:bodyPr wrap="square" lIns="0" rIns="0" tIns="0" bIns="0">
            <a:spAutoFit/>
          </a:bodyPr>
          <a:lstStyle/>
          <a:p>
            <a:pPr>
              <a:spcAft>
                <a:spcPts val="700"/>
              </a:spcAft>
              <a:defRPr sz="2000" b="1">
                <a:solidFill>
                  <a:srgbClr val="172028"/>
                </a:solidFill>
                <a:latin typeface="Lato"/>
              </a:defRPr>
            </a:pPr>
            <a:r>
              <a:t>Enquired</a:t>
            </a:r>
          </a:p>
        </p:txBody>
      </p:sp>
      <p:sp>
        <p:nvSpPr>
          <p:cNvPr id="12" name="TextBox 11"/>
          <p:cNvSpPr txBox="1"/>
          <p:nvPr/>
        </p:nvSpPr>
        <p:spPr>
          <a:xfrm>
            <a:off x="822959" y="4517136"/>
            <a:ext cx="2240280" cy="393192"/>
          </a:xfrm>
          <a:prstGeom prst="rect">
            <a:avLst/>
          </a:prstGeom>
          <a:noFill/>
        </p:spPr>
        <p:txBody>
          <a:bodyPr wrap="square" lIns="0" rIns="0" tIns="0" bIns="0">
            <a:spAutoFit/>
          </a:bodyPr>
          <a:lstStyle/>
          <a:p>
            <a:pPr>
              <a:spcAft>
                <a:spcPts val="700"/>
              </a:spcAft>
              <a:defRPr sz="1400" b="0">
                <a:solidFill>
                  <a:srgbClr val="59636A"/>
                </a:solidFill>
                <a:latin typeface="Lato"/>
              </a:defRPr>
            </a:pPr>
            <a:r>
              <a:t>Distinct enquiry records</a:t>
            </a:r>
          </a:p>
        </p:txBody>
      </p:sp>
      <p:sp>
        <p:nvSpPr>
          <p:cNvPr id="13" name="Rectangle 12"/>
          <p:cNvSpPr/>
          <p:nvPr/>
        </p:nvSpPr>
        <p:spPr>
          <a:xfrm>
            <a:off x="3529584" y="2459736"/>
            <a:ext cx="2606040" cy="26609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12464" y="2706624"/>
            <a:ext cx="2240280" cy="713232"/>
          </a:xfrm>
          <a:prstGeom prst="rect">
            <a:avLst/>
          </a:prstGeom>
          <a:noFill/>
        </p:spPr>
        <p:txBody>
          <a:bodyPr wrap="square" lIns="0" rIns="0" tIns="0" bIns="0">
            <a:spAutoFit/>
          </a:bodyPr>
          <a:lstStyle/>
          <a:p>
            <a:pPr>
              <a:spcAft>
                <a:spcPts val="700"/>
              </a:spcAft>
              <a:defRPr sz="4800" b="1">
                <a:solidFill>
                  <a:srgbClr val="C8202F"/>
                </a:solidFill>
                <a:latin typeface="Lato"/>
              </a:defRPr>
            </a:pPr>
            <a:r>
              <a:t>T</a:t>
            </a:r>
          </a:p>
        </p:txBody>
      </p:sp>
      <p:sp>
        <p:nvSpPr>
          <p:cNvPr id="15" name="TextBox 14"/>
          <p:cNvSpPr txBox="1"/>
          <p:nvPr/>
        </p:nvSpPr>
        <p:spPr>
          <a:xfrm>
            <a:off x="3712464" y="3657600"/>
            <a:ext cx="2240280" cy="594360"/>
          </a:xfrm>
          <a:prstGeom prst="rect">
            <a:avLst/>
          </a:prstGeom>
          <a:noFill/>
        </p:spPr>
        <p:txBody>
          <a:bodyPr wrap="square" lIns="0" rIns="0" tIns="0" bIns="0">
            <a:spAutoFit/>
          </a:bodyPr>
          <a:lstStyle/>
          <a:p>
            <a:pPr>
              <a:spcAft>
                <a:spcPts val="700"/>
              </a:spcAft>
              <a:defRPr sz="2000" b="1">
                <a:solidFill>
                  <a:srgbClr val="172028"/>
                </a:solidFill>
                <a:latin typeface="Lato"/>
              </a:defRPr>
            </a:pPr>
            <a:r>
              <a:t>Test Drive Completed</a:t>
            </a:r>
          </a:p>
        </p:txBody>
      </p:sp>
      <p:sp>
        <p:nvSpPr>
          <p:cNvPr id="16" name="TextBox 15"/>
          <p:cNvSpPr txBox="1"/>
          <p:nvPr/>
        </p:nvSpPr>
        <p:spPr>
          <a:xfrm>
            <a:off x="3712464" y="4517136"/>
            <a:ext cx="2240280" cy="393192"/>
          </a:xfrm>
          <a:prstGeom prst="rect">
            <a:avLst/>
          </a:prstGeom>
          <a:noFill/>
        </p:spPr>
        <p:txBody>
          <a:bodyPr wrap="square" lIns="0" rIns="0" tIns="0" bIns="0">
            <a:spAutoFit/>
          </a:bodyPr>
          <a:lstStyle/>
          <a:p>
            <a:pPr>
              <a:spcAft>
                <a:spcPts val="700"/>
              </a:spcAft>
              <a:defRPr sz="1400" b="0">
                <a:solidFill>
                  <a:srgbClr val="59636A"/>
                </a:solidFill>
                <a:latin typeface="Lato"/>
              </a:defRPr>
            </a:pPr>
            <a:r>
              <a:t>Completion timestamp exists</a:t>
            </a:r>
          </a:p>
        </p:txBody>
      </p:sp>
      <p:sp>
        <p:nvSpPr>
          <p:cNvPr id="17" name="Rectangle 16"/>
          <p:cNvSpPr/>
          <p:nvPr/>
        </p:nvSpPr>
        <p:spPr>
          <a:xfrm>
            <a:off x="6419088" y="2459736"/>
            <a:ext cx="2606040" cy="26609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1968" y="2706624"/>
            <a:ext cx="2240280" cy="713232"/>
          </a:xfrm>
          <a:prstGeom prst="rect">
            <a:avLst/>
          </a:prstGeom>
          <a:noFill/>
        </p:spPr>
        <p:txBody>
          <a:bodyPr wrap="square" lIns="0" rIns="0" tIns="0" bIns="0">
            <a:spAutoFit/>
          </a:bodyPr>
          <a:lstStyle/>
          <a:p>
            <a:pPr>
              <a:spcAft>
                <a:spcPts val="700"/>
              </a:spcAft>
              <a:defRPr sz="4800" b="1">
                <a:solidFill>
                  <a:srgbClr val="C8202F"/>
                </a:solidFill>
                <a:latin typeface="Lato"/>
              </a:defRPr>
            </a:pPr>
            <a:r>
              <a:t>B</a:t>
            </a:r>
          </a:p>
        </p:txBody>
      </p:sp>
      <p:sp>
        <p:nvSpPr>
          <p:cNvPr id="19" name="TextBox 18"/>
          <p:cNvSpPr txBox="1"/>
          <p:nvPr/>
        </p:nvSpPr>
        <p:spPr>
          <a:xfrm>
            <a:off x="6601968" y="3657600"/>
            <a:ext cx="2240280" cy="594360"/>
          </a:xfrm>
          <a:prstGeom prst="rect">
            <a:avLst/>
          </a:prstGeom>
          <a:noFill/>
        </p:spPr>
        <p:txBody>
          <a:bodyPr wrap="square" lIns="0" rIns="0" tIns="0" bIns="0">
            <a:spAutoFit/>
          </a:bodyPr>
          <a:lstStyle/>
          <a:p>
            <a:pPr>
              <a:spcAft>
                <a:spcPts val="700"/>
              </a:spcAft>
              <a:defRPr sz="2000" b="1">
                <a:solidFill>
                  <a:srgbClr val="172028"/>
                </a:solidFill>
                <a:latin typeface="Lato"/>
              </a:defRPr>
            </a:pPr>
            <a:r>
              <a:t>Booked</a:t>
            </a:r>
          </a:p>
        </p:txBody>
      </p:sp>
      <p:sp>
        <p:nvSpPr>
          <p:cNvPr id="20" name="TextBox 19"/>
          <p:cNvSpPr txBox="1"/>
          <p:nvPr/>
        </p:nvSpPr>
        <p:spPr>
          <a:xfrm>
            <a:off x="6601968" y="4517136"/>
            <a:ext cx="2240280" cy="393192"/>
          </a:xfrm>
          <a:prstGeom prst="rect">
            <a:avLst/>
          </a:prstGeom>
          <a:noFill/>
        </p:spPr>
        <p:txBody>
          <a:bodyPr wrap="square" lIns="0" rIns="0" tIns="0" bIns="0">
            <a:spAutoFit/>
          </a:bodyPr>
          <a:lstStyle/>
          <a:p>
            <a:pPr>
              <a:spcAft>
                <a:spcPts val="700"/>
              </a:spcAft>
              <a:defRPr sz="1400" b="0">
                <a:solidFill>
                  <a:srgbClr val="59636A"/>
                </a:solidFill>
                <a:latin typeface="Lato"/>
              </a:defRPr>
            </a:pPr>
            <a:r>
              <a:t>BOOKED or RETAILED</a:t>
            </a:r>
          </a:p>
        </p:txBody>
      </p:sp>
      <p:sp>
        <p:nvSpPr>
          <p:cNvPr id="21" name="Rectangle 20"/>
          <p:cNvSpPr/>
          <p:nvPr/>
        </p:nvSpPr>
        <p:spPr>
          <a:xfrm>
            <a:off x="9308592" y="2459736"/>
            <a:ext cx="2606040" cy="26609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91472" y="2706624"/>
            <a:ext cx="2240280" cy="713232"/>
          </a:xfrm>
          <a:prstGeom prst="rect">
            <a:avLst/>
          </a:prstGeom>
          <a:noFill/>
        </p:spPr>
        <p:txBody>
          <a:bodyPr wrap="square" lIns="0" rIns="0" tIns="0" bIns="0">
            <a:spAutoFit/>
          </a:bodyPr>
          <a:lstStyle/>
          <a:p>
            <a:pPr>
              <a:spcAft>
                <a:spcPts val="700"/>
              </a:spcAft>
              <a:defRPr sz="4800" b="1">
                <a:solidFill>
                  <a:srgbClr val="C8202F"/>
                </a:solidFill>
                <a:latin typeface="Lato"/>
              </a:defRPr>
            </a:pPr>
            <a:r>
              <a:t>R</a:t>
            </a:r>
          </a:p>
        </p:txBody>
      </p:sp>
      <p:sp>
        <p:nvSpPr>
          <p:cNvPr id="23" name="TextBox 22"/>
          <p:cNvSpPr txBox="1"/>
          <p:nvPr/>
        </p:nvSpPr>
        <p:spPr>
          <a:xfrm>
            <a:off x="9491472" y="3657600"/>
            <a:ext cx="2240280" cy="594360"/>
          </a:xfrm>
          <a:prstGeom prst="rect">
            <a:avLst/>
          </a:prstGeom>
          <a:noFill/>
        </p:spPr>
        <p:txBody>
          <a:bodyPr wrap="square" lIns="0" rIns="0" tIns="0" bIns="0">
            <a:spAutoFit/>
          </a:bodyPr>
          <a:lstStyle/>
          <a:p>
            <a:pPr>
              <a:spcAft>
                <a:spcPts val="700"/>
              </a:spcAft>
              <a:defRPr sz="2000" b="1">
                <a:solidFill>
                  <a:srgbClr val="172028"/>
                </a:solidFill>
                <a:latin typeface="Lato"/>
              </a:defRPr>
            </a:pPr>
            <a:r>
              <a:t>Retailed</a:t>
            </a:r>
          </a:p>
        </p:txBody>
      </p:sp>
      <p:sp>
        <p:nvSpPr>
          <p:cNvPr id="24" name="TextBox 23"/>
          <p:cNvSpPr txBox="1"/>
          <p:nvPr/>
        </p:nvSpPr>
        <p:spPr>
          <a:xfrm>
            <a:off x="9491472" y="4517136"/>
            <a:ext cx="2240280" cy="393192"/>
          </a:xfrm>
          <a:prstGeom prst="rect">
            <a:avLst/>
          </a:prstGeom>
          <a:noFill/>
        </p:spPr>
        <p:txBody>
          <a:bodyPr wrap="square" lIns="0" rIns="0" tIns="0" bIns="0">
            <a:spAutoFit/>
          </a:bodyPr>
          <a:lstStyle/>
          <a:p>
            <a:pPr>
              <a:spcAft>
                <a:spcPts val="700"/>
              </a:spcAft>
              <a:defRPr sz="1400" b="0">
                <a:solidFill>
                  <a:srgbClr val="59636A"/>
                </a:solidFill>
                <a:latin typeface="Lato"/>
              </a:defRPr>
            </a:pPr>
            <a:r>
              <a:t>RETAILED outcome</a:t>
            </a:r>
          </a:p>
        </p:txBody>
      </p:sp>
      <p:sp>
        <p:nvSpPr>
          <p:cNvPr id="25" name="Rectangle 24"/>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Counts only: no fabricated conversion percentages, customer totals or business-impact claims.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ANALYTICS</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Reporting, performance and caching</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Comparable metrics require matching permissions, branch and date filters.</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34</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Reporting views</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Admin overview</a:t>
            </a:r>
          </a:p>
          <a:p>
            <a:pPr>
              <a:spcAft>
                <a:spcPts val="700"/>
              </a:spcAft>
              <a:defRPr sz="1800" b="0">
                <a:solidFill>
                  <a:srgbClr val="172028"/>
                </a:solidFill>
                <a:latin typeface="Lato"/>
              </a:defRPr>
            </a:pPr>
            <a:r>
              <a:t>Personal employee analytics</a:t>
            </a:r>
          </a:p>
          <a:p>
            <a:pPr>
              <a:spcAft>
                <a:spcPts val="700"/>
              </a:spcAft>
              <a:defRPr sz="1800" b="0">
                <a:solidFill>
                  <a:srgbClr val="172028"/>
                </a:solidFill>
                <a:latin typeface="Lato"/>
              </a:defRPr>
            </a:pPr>
            <a:r>
              <a:t>Sales-manager branch reports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Database efficiency</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select_related on lead ownership</a:t>
            </a:r>
          </a:p>
          <a:p>
            <a:pPr>
              <a:spcAft>
                <a:spcPts val="700"/>
              </a:spcAft>
              <a:defRPr sz="1800" b="0">
                <a:solidFill>
                  <a:srgbClr val="172028"/>
                </a:solidFill>
                <a:latin typeface="Lato"/>
              </a:defRPr>
            </a:pPr>
            <a:r>
              <a:t>Aggregate counts and next follow-up</a:t>
            </a:r>
          </a:p>
          <a:p>
            <a:pPr>
              <a:spcAft>
                <a:spcPts val="700"/>
              </a:spcAft>
              <a:defRPr sz="1800" b="0">
                <a:solidFill>
                  <a:srgbClr val="172028"/>
                </a:solidFill>
                <a:latin typeface="Lato"/>
              </a:defRPr>
            </a:pPr>
            <a:r>
              <a:t>Indexes for common queue filters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Cache design</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Key includes user, role and location</a:t>
            </a:r>
          </a:p>
          <a:p>
            <a:pPr>
              <a:spcAft>
                <a:spcPts val="700"/>
              </a:spcAft>
              <a:defRPr sz="1800" b="0">
                <a:solidFill>
                  <a:srgbClr val="172028"/>
                </a:solidFill>
                <a:latin typeface="Lato"/>
              </a:defRPr>
            </a:pPr>
            <a:r>
              <a:t>Query parameters included in key</a:t>
            </a:r>
          </a:p>
          <a:p>
            <a:pPr>
              <a:spcAft>
                <a:spcPts val="700"/>
              </a:spcAft>
              <a:defRPr sz="1800" b="0">
                <a:solidFill>
                  <a:srgbClr val="172028"/>
                </a:solidFill>
                <a:latin typeface="Lato"/>
              </a:defRPr>
            </a:pPr>
            <a:r>
              <a:t>Cache failure falls back to computation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OPERATIONAL CONTINUITY</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Employee offboarding without losing work</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Preview impact → choose replacement or queue → apply the change → review held reminders</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35</a:t>
            </a:r>
          </a:p>
        </p:txBody>
      </p:sp>
      <p:sp>
        <p:nvSpPr>
          <p:cNvPr id="9" name="Rectangle 8"/>
          <p:cNvSpPr/>
          <p:nvPr/>
        </p:nvSpPr>
        <p:spPr>
          <a:xfrm>
            <a:off x="640080" y="2779776"/>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898648"/>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Impact preview</a:t>
            </a:r>
          </a:p>
        </p:txBody>
      </p:sp>
      <p:sp>
        <p:nvSpPr>
          <p:cNvPr id="11" name="TextBox 10"/>
          <p:cNvSpPr txBox="1"/>
          <p:nvPr/>
        </p:nvSpPr>
        <p:spPr>
          <a:xfrm>
            <a:off x="768096" y="3328416"/>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Counts + snapshot version</a:t>
            </a:r>
          </a:p>
        </p:txBody>
      </p:sp>
      <p:cxnSp>
        <p:nvCxnSpPr>
          <p:cNvPr id="12" name="Connector 11"/>
          <p:cNvCxnSpPr/>
          <p:nvPr/>
        </p:nvCxnSpPr>
        <p:spPr>
          <a:xfrm>
            <a:off x="3246120" y="3355848"/>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529584" y="2779776"/>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898648"/>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Choose routing</a:t>
            </a:r>
          </a:p>
        </p:txBody>
      </p:sp>
      <p:sp>
        <p:nvSpPr>
          <p:cNvPr id="15" name="TextBox 14"/>
          <p:cNvSpPr txBox="1"/>
          <p:nvPr/>
        </p:nvSpPr>
        <p:spPr>
          <a:xfrm>
            <a:off x="3657600" y="3328416"/>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Eligible replacement / queue</a:t>
            </a:r>
          </a:p>
        </p:txBody>
      </p:sp>
      <p:cxnSp>
        <p:nvCxnSpPr>
          <p:cNvPr id="16" name="Connector 15"/>
          <p:cNvCxnSpPr/>
          <p:nvPr/>
        </p:nvCxnSpPr>
        <p:spPr>
          <a:xfrm>
            <a:off x="6135624" y="3355848"/>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419088" y="2779776"/>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2898648"/>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Apply lifecycle</a:t>
            </a:r>
          </a:p>
        </p:txBody>
      </p:sp>
      <p:sp>
        <p:nvSpPr>
          <p:cNvPr id="19" name="TextBox 18"/>
          <p:cNvSpPr txBox="1"/>
          <p:nvPr/>
        </p:nvSpPr>
        <p:spPr>
          <a:xfrm>
            <a:off x="6547104" y="3328416"/>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Lock rows + preserve history</a:t>
            </a:r>
          </a:p>
        </p:txBody>
      </p:sp>
      <p:cxnSp>
        <p:nvCxnSpPr>
          <p:cNvPr id="20" name="Connector 19"/>
          <p:cNvCxnSpPr/>
          <p:nvPr/>
        </p:nvCxnSpPr>
        <p:spPr>
          <a:xfrm>
            <a:off x="9025128" y="3355848"/>
            <a:ext cx="265176" cy="0"/>
          </a:xfrm>
          <a:prstGeom prst="line">
            <a:avLst/>
          </a:prstGeom>
          <a:ln w="25400">
            <a:solidFill>
              <a:srgbClr val="C8202F"/>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308592" y="2779776"/>
            <a:ext cx="2606040" cy="116128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6608" y="2898648"/>
            <a:ext cx="2350008"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Review reminders</a:t>
            </a:r>
          </a:p>
        </p:txBody>
      </p:sp>
      <p:sp>
        <p:nvSpPr>
          <p:cNvPr id="23" name="TextBox 22"/>
          <p:cNvSpPr txBox="1"/>
          <p:nvPr/>
        </p:nvSpPr>
        <p:spPr>
          <a:xfrm>
            <a:off x="9436608" y="3328416"/>
            <a:ext cx="2350008" cy="585216"/>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Approve next owner and date</a:t>
            </a:r>
          </a:p>
        </p:txBody>
      </p:sp>
      <p:sp>
        <p:nvSpPr>
          <p:cNvPr id="24" name="TextBox 23"/>
          <p:cNvSpPr txBox="1"/>
          <p:nvPr/>
        </p:nvSpPr>
        <p:spPr>
          <a:xfrm>
            <a:off x="969264" y="4581144"/>
            <a:ext cx="10195560" cy="576072"/>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Stale preview → HTTP 409 → refresh the impact → review the latest work before retrying</a:t>
            </a:r>
          </a:p>
        </p:txBody>
      </p:sp>
      <p:sp>
        <p:nvSpPr>
          <p:cNvPr id="25" name="Rectangle 24"/>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Business lesson: an employee’s account lifecycle and the customer’s work lifecycle must be handled together.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DEPLOYMENT</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Deployment topology and configuration</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Repository configuration describes the intended hosting boundaries, not proof of a live rollout.</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36</a:t>
            </a:r>
          </a:p>
        </p:txBody>
      </p:sp>
      <p:sp>
        <p:nvSpPr>
          <p:cNvPr id="9" name="Rectangle 8"/>
          <p:cNvSpPr/>
          <p:nvPr/>
        </p:nvSpPr>
        <p:spPr>
          <a:xfrm>
            <a:off x="685800" y="2551176"/>
            <a:ext cx="2834640" cy="106984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2670048"/>
            <a:ext cx="2578608"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Frontend host</a:t>
            </a:r>
          </a:p>
        </p:txBody>
      </p:sp>
      <p:sp>
        <p:nvSpPr>
          <p:cNvPr id="11" name="TextBox 10"/>
          <p:cNvSpPr txBox="1"/>
          <p:nvPr/>
        </p:nvSpPr>
        <p:spPr>
          <a:xfrm>
            <a:off x="813816" y="3099816"/>
            <a:ext cx="2578608" cy="493775"/>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Vercel / Next.js configuration</a:t>
            </a:r>
          </a:p>
        </p:txBody>
      </p:sp>
      <p:sp>
        <p:nvSpPr>
          <p:cNvPr id="12" name="Rectangle 11"/>
          <p:cNvSpPr/>
          <p:nvPr/>
        </p:nvSpPr>
        <p:spPr>
          <a:xfrm>
            <a:off x="4160520" y="2551176"/>
            <a:ext cx="3822191" cy="106984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88536" y="2670048"/>
            <a:ext cx="3566159" cy="384048"/>
          </a:xfrm>
          <a:prstGeom prst="rect">
            <a:avLst/>
          </a:prstGeom>
          <a:noFill/>
        </p:spPr>
        <p:txBody>
          <a:bodyPr wrap="square" lIns="0" rIns="0" tIns="0" bIns="0">
            <a:spAutoFit/>
          </a:bodyPr>
          <a:lstStyle/>
          <a:p>
            <a:pPr algn="ctr">
              <a:spcAft>
                <a:spcPts val="700"/>
              </a:spcAft>
              <a:defRPr sz="1900" b="1">
                <a:solidFill>
                  <a:srgbClr val="C8202F"/>
                </a:solidFill>
                <a:latin typeface="Lato"/>
              </a:defRPr>
            </a:pPr>
            <a:r>
              <a:t>API host</a:t>
            </a:r>
          </a:p>
        </p:txBody>
      </p:sp>
      <p:sp>
        <p:nvSpPr>
          <p:cNvPr id="14" name="TextBox 13"/>
          <p:cNvSpPr txBox="1"/>
          <p:nvPr/>
        </p:nvSpPr>
        <p:spPr>
          <a:xfrm>
            <a:off x="4288536" y="3099816"/>
            <a:ext cx="3566159" cy="493775"/>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Render · Gunicorn / Uvicorn</a:t>
            </a:r>
          </a:p>
        </p:txBody>
      </p:sp>
      <p:sp>
        <p:nvSpPr>
          <p:cNvPr id="15" name="Rectangle 14"/>
          <p:cNvSpPr/>
          <p:nvPr/>
        </p:nvSpPr>
        <p:spPr>
          <a:xfrm>
            <a:off x="8613648" y="2551176"/>
            <a:ext cx="2871216" cy="1069848"/>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41664" y="2670048"/>
            <a:ext cx="2615184" cy="384048"/>
          </a:xfrm>
          <a:prstGeom prst="rect">
            <a:avLst/>
          </a:prstGeom>
          <a:noFill/>
        </p:spPr>
        <p:txBody>
          <a:bodyPr wrap="square" lIns="0" rIns="0" tIns="0" bIns="0">
            <a:spAutoFit/>
          </a:bodyPr>
          <a:lstStyle/>
          <a:p>
            <a:pPr algn="ctr">
              <a:spcAft>
                <a:spcPts val="700"/>
              </a:spcAft>
              <a:defRPr sz="1900" b="1">
                <a:solidFill>
                  <a:srgbClr val="216B59"/>
                </a:solidFill>
                <a:latin typeface="Lato"/>
              </a:defRPr>
            </a:pPr>
            <a:r>
              <a:t>Database</a:t>
            </a:r>
          </a:p>
        </p:txBody>
      </p:sp>
      <p:sp>
        <p:nvSpPr>
          <p:cNvPr id="17" name="TextBox 16"/>
          <p:cNvSpPr txBox="1"/>
          <p:nvPr/>
        </p:nvSpPr>
        <p:spPr>
          <a:xfrm>
            <a:off x="8741664" y="3099816"/>
            <a:ext cx="2615184" cy="493775"/>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DATABASE_URL configured externally</a:t>
            </a:r>
          </a:p>
        </p:txBody>
      </p:sp>
      <p:cxnSp>
        <p:nvCxnSpPr>
          <p:cNvPr id="18" name="Connector 17"/>
          <p:cNvCxnSpPr/>
          <p:nvPr/>
        </p:nvCxnSpPr>
        <p:spPr>
          <a:xfrm>
            <a:off x="3520440" y="3081528"/>
            <a:ext cx="640080" cy="0"/>
          </a:xfrm>
          <a:prstGeom prst="line">
            <a:avLst/>
          </a:prstGeom>
          <a:ln w="25400">
            <a:solidFill>
              <a:srgbClr val="285D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982712" y="3081528"/>
            <a:ext cx="630936" cy="0"/>
          </a:xfrm>
          <a:prstGeom prst="line">
            <a:avLst/>
          </a:prstGeom>
          <a:ln w="25400">
            <a:solidFill>
              <a:srgbClr val="216B59"/>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85800" y="4480560"/>
            <a:ext cx="3474720" cy="100584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 y="4599432"/>
            <a:ext cx="3218687"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File storage</a:t>
            </a:r>
          </a:p>
        </p:txBody>
      </p:sp>
      <p:sp>
        <p:nvSpPr>
          <p:cNvPr id="22" name="TextBox 21"/>
          <p:cNvSpPr txBox="1"/>
          <p:nvPr/>
        </p:nvSpPr>
        <p:spPr>
          <a:xfrm>
            <a:off x="813816" y="5029200"/>
            <a:ext cx="3218687" cy="42976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Supabase when configured</a:t>
            </a:r>
          </a:p>
        </p:txBody>
      </p:sp>
      <p:sp>
        <p:nvSpPr>
          <p:cNvPr id="23" name="Rectangle 22"/>
          <p:cNvSpPr/>
          <p:nvPr/>
        </p:nvSpPr>
        <p:spPr>
          <a:xfrm>
            <a:off x="4517136" y="4480560"/>
            <a:ext cx="3063240" cy="100584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2" y="4599432"/>
            <a:ext cx="2807208" cy="384048"/>
          </a:xfrm>
          <a:prstGeom prst="rect">
            <a:avLst/>
          </a:prstGeom>
          <a:noFill/>
        </p:spPr>
        <p:txBody>
          <a:bodyPr wrap="square" lIns="0" rIns="0" tIns="0" bIns="0">
            <a:spAutoFit/>
          </a:bodyPr>
          <a:lstStyle/>
          <a:p>
            <a:pPr algn="ctr">
              <a:spcAft>
                <a:spcPts val="700"/>
              </a:spcAft>
              <a:defRPr sz="1900" b="1">
                <a:solidFill>
                  <a:srgbClr val="285D80"/>
                </a:solidFill>
                <a:latin typeface="Lato"/>
              </a:defRPr>
            </a:pPr>
            <a:r>
              <a:t>Analytics cache</a:t>
            </a:r>
          </a:p>
        </p:txBody>
      </p:sp>
      <p:sp>
        <p:nvSpPr>
          <p:cNvPr id="25" name="TextBox 24"/>
          <p:cNvSpPr txBox="1"/>
          <p:nvPr/>
        </p:nvSpPr>
        <p:spPr>
          <a:xfrm>
            <a:off x="4645152" y="5029200"/>
            <a:ext cx="2807208" cy="42976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Redis / memory fallback</a:t>
            </a:r>
          </a:p>
        </p:txBody>
      </p:sp>
      <p:sp>
        <p:nvSpPr>
          <p:cNvPr id="26" name="Rectangle 25"/>
          <p:cNvSpPr/>
          <p:nvPr/>
        </p:nvSpPr>
        <p:spPr>
          <a:xfrm>
            <a:off x="7946136" y="4480560"/>
            <a:ext cx="3538728" cy="1005840"/>
          </a:xfrm>
          <a:prstGeom prst="rect">
            <a:avLst/>
          </a:prstGeom>
          <a:solidFill>
            <a:srgbClr val="FFFFFF"/>
          </a:solidFill>
          <a:ln>
            <a:solidFill>
              <a:srgbClr val="DAD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74152" y="4599432"/>
            <a:ext cx="3282696" cy="384048"/>
          </a:xfrm>
          <a:prstGeom prst="rect">
            <a:avLst/>
          </a:prstGeom>
          <a:noFill/>
        </p:spPr>
        <p:txBody>
          <a:bodyPr wrap="square" lIns="0" rIns="0" tIns="0" bIns="0">
            <a:spAutoFit/>
          </a:bodyPr>
          <a:lstStyle/>
          <a:p>
            <a:pPr algn="ctr">
              <a:spcAft>
                <a:spcPts val="700"/>
              </a:spcAft>
              <a:defRPr sz="1900" b="1">
                <a:solidFill>
                  <a:srgbClr val="59636A"/>
                </a:solidFill>
                <a:latin typeface="Lato"/>
              </a:defRPr>
            </a:pPr>
            <a:r>
              <a:t>Future task services</a:t>
            </a:r>
          </a:p>
        </p:txBody>
      </p:sp>
      <p:sp>
        <p:nvSpPr>
          <p:cNvPr id="28" name="TextBox 27"/>
          <p:cNvSpPr txBox="1"/>
          <p:nvPr/>
        </p:nvSpPr>
        <p:spPr>
          <a:xfrm>
            <a:off x="8074152" y="5029200"/>
            <a:ext cx="3282696" cy="429768"/>
          </a:xfrm>
          <a:prstGeom prst="rect">
            <a:avLst/>
          </a:prstGeom>
          <a:noFill/>
        </p:spPr>
        <p:txBody>
          <a:bodyPr wrap="square" lIns="0" rIns="0" tIns="0" bIns="0">
            <a:spAutoFit/>
          </a:bodyPr>
          <a:lstStyle/>
          <a:p>
            <a:pPr algn="ctr">
              <a:spcAft>
                <a:spcPts val="700"/>
              </a:spcAft>
              <a:defRPr sz="1400" b="0">
                <a:solidFill>
                  <a:srgbClr val="59636A"/>
                </a:solidFill>
                <a:latin typeface="Lato"/>
              </a:defRPr>
            </a:pPr>
            <a:r>
              <a:t>Worker + scheduler deployment</a:t>
            </a:r>
          </a:p>
        </p:txBody>
      </p:sp>
      <p:cxnSp>
        <p:nvCxnSpPr>
          <p:cNvPr id="29" name="Connector 28"/>
          <p:cNvCxnSpPr/>
          <p:nvPr/>
        </p:nvCxnSpPr>
        <p:spPr>
          <a:xfrm flipH="1">
            <a:off x="2423160" y="3621024"/>
            <a:ext cx="3648456" cy="859536"/>
          </a:xfrm>
          <a:prstGeom prst="line">
            <a:avLst/>
          </a:prstGeom>
          <a:ln w="19050">
            <a:solidFill>
              <a:srgbClr val="59636A"/>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6044184" y="3621024"/>
            <a:ext cx="27432" cy="859536"/>
          </a:xfrm>
          <a:prstGeom prst="line">
            <a:avLst/>
          </a:prstGeom>
          <a:ln w="19050">
            <a:solidFill>
              <a:srgbClr val="59636A"/>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071616" y="3621024"/>
            <a:ext cx="3639312" cy="859536"/>
          </a:xfrm>
          <a:prstGeom prst="line">
            <a:avLst/>
          </a:prstGeom>
          <a:ln w="19050">
            <a:solidFill>
              <a:srgbClr val="59636A"/>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Deployment handover: migrations, secrets, allowed origins, health checks and role-by-role acceptance.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QUALITY ASSURANCE</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Testing and current verification</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Verification performed while preparing this presentation; results recorded in Verification.md.</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37</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102 backend tests passed</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Lead ownership and handoff</a:t>
            </a:r>
          </a:p>
          <a:p>
            <a:pPr>
              <a:spcAft>
                <a:spcPts val="700"/>
              </a:spcAft>
              <a:defRPr sz="1800" b="0">
                <a:solidFill>
                  <a:srgbClr val="172028"/>
                </a:solidFill>
                <a:latin typeface="Lato"/>
              </a:defRPr>
            </a:pPr>
            <a:r>
              <a:t>Imports, complaints and offboarding</a:t>
            </a:r>
          </a:p>
          <a:p>
            <a:pPr>
              <a:spcAft>
                <a:spcPts val="700"/>
              </a:spcAft>
              <a:defRPr sz="1800" b="0">
                <a:solidFill>
                  <a:srgbClr val="172028"/>
                </a:solidFill>
                <a:latin typeface="Lato"/>
              </a:defRPr>
            </a:pPr>
            <a:r>
              <a:t>ETBR, activities and intake rules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Frontend static checks</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TypeScript: npm run typecheck</a:t>
            </a:r>
          </a:p>
          <a:p>
            <a:pPr>
              <a:spcAft>
                <a:spcPts val="700"/>
              </a:spcAft>
              <a:defRPr sz="1800" b="0">
                <a:solidFill>
                  <a:srgbClr val="172028"/>
                </a:solidFill>
                <a:latin typeface="Lato"/>
              </a:defRPr>
            </a:pPr>
            <a:r>
              <a:t>ESLint: npm run lint</a:t>
            </a:r>
          </a:p>
          <a:p>
            <a:pPr>
              <a:spcAft>
                <a:spcPts val="700"/>
              </a:spcAft>
              <a:defRPr sz="1800" b="0">
                <a:solidFill>
                  <a:srgbClr val="172028"/>
                </a:solidFill>
                <a:latin typeface="Lato"/>
              </a:defRPr>
            </a:pPr>
            <a:r>
              <a:t>Both completed successfully</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Validation boundaries</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Isolated SQLite test database</a:t>
            </a:r>
          </a:p>
          <a:p>
            <a:pPr>
              <a:spcAft>
                <a:spcPts val="700"/>
              </a:spcAft>
              <a:defRPr sz="1800" b="0">
                <a:solidFill>
                  <a:srgbClr val="172028"/>
                </a:solidFill>
                <a:latin typeface="Lato"/>
              </a:defRPr>
            </a:pPr>
            <a:r>
              <a:t>No live deployment acceptance test</a:t>
            </a:r>
          </a:p>
          <a:p>
            <a:pPr>
              <a:spcAft>
                <a:spcPts val="700"/>
              </a:spcAft>
              <a:defRPr sz="1800" b="0">
                <a:solidFill>
                  <a:srgbClr val="172028"/>
                </a:solidFill>
                <a:latin typeface="Lato"/>
              </a:defRPr>
            </a:pPr>
            <a:r>
              <a:t>No load test or production metrics</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11 September 2026: 102 backend tests passed; TypeScript and ESLint checks passed.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ENGINEERING LEARNING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Technical challenges and responses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Code-backed design issues; personalise the experience with incidents you actually handled.</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38</a:t>
            </a:r>
          </a:p>
        </p:txBody>
      </p:sp>
      <p:graphicFrame>
        <p:nvGraphicFramePr>
          <p:cNvPr id="9" name="Table 8"/>
          <p:cNvGraphicFramePr>
            <a:graphicFrameLocks noGrp="1"/>
          </p:cNvGraphicFramePr>
          <p:nvPr/>
        </p:nvGraphicFramePr>
        <p:xfrm>
          <a:off x="566928" y="2276856"/>
          <a:ext cx="11045952" cy="3218688"/>
        </p:xfrm>
        <a:graphic>
          <a:graphicData uri="http://schemas.openxmlformats.org/drawingml/2006/table">
            <a:tbl>
              <a:tblPr firstRow="1" bandRow="1">
                <a:tableStyleId>{5C22544A-7EE6-4342-B048-85BDC9FD1C3A}</a:tableStyleId>
              </a:tblPr>
              <a:tblGrid>
                <a:gridCol w="2880360"/>
                <a:gridCol w="4389120"/>
                <a:gridCol w="3776472"/>
              </a:tblGrid>
              <a:tr h="536448">
                <a:tc>
                  <a:txBody>
                    <a:bodyPr/>
                    <a:lstStyle/>
                    <a:p>
                      <a:pPr>
                        <a:defRPr sz="1500" b="1">
                          <a:solidFill>
                            <a:srgbClr val="FFFFFF"/>
                          </a:solidFill>
                          <a:latin typeface="Lato"/>
                        </a:defRPr>
                      </a:pPr>
                      <a:r>
                        <a:t>Challenge</a:t>
                      </a:r>
                    </a:p>
                  </a:txBody>
                  <a:tcPr anchor="ctr" marL="118872" marR="91440" marT="54864" marB="54864">
                    <a:solidFill>
                      <a:srgbClr val="172028"/>
                    </a:solidFill>
                  </a:tcPr>
                </a:tc>
                <a:tc>
                  <a:txBody>
                    <a:bodyPr/>
                    <a:lstStyle/>
                    <a:p>
                      <a:pPr>
                        <a:defRPr sz="1500" b="1">
                          <a:solidFill>
                            <a:srgbClr val="FFFFFF"/>
                          </a:solidFill>
                          <a:latin typeface="Lato"/>
                        </a:defRPr>
                      </a:pPr>
                      <a:r>
                        <a:t>Response visible in code</a:t>
                      </a:r>
                    </a:p>
                  </a:txBody>
                  <a:tcPr anchor="ctr" marL="118872" marR="91440" marT="54864" marB="54864">
                    <a:solidFill>
                      <a:srgbClr val="172028"/>
                    </a:solidFill>
                  </a:tcPr>
                </a:tc>
                <a:tc>
                  <a:txBody>
                    <a:bodyPr/>
                    <a:lstStyle/>
                    <a:p>
                      <a:pPr>
                        <a:defRPr sz="1500" b="1">
                          <a:solidFill>
                            <a:srgbClr val="FFFFFF"/>
                          </a:solidFill>
                          <a:latin typeface="Lato"/>
                        </a:defRPr>
                      </a:pPr>
                      <a:r>
                        <a:t>Learning to discuss</a:t>
                      </a:r>
                    </a:p>
                  </a:txBody>
                  <a:tcPr anchor="ctr" marL="118872" marR="91440" marT="54864" marB="54864">
                    <a:solidFill>
                      <a:srgbClr val="172028"/>
                    </a:solidFill>
                  </a:tcPr>
                </a:tc>
              </a:tr>
              <a:tr h="536448">
                <a:tc>
                  <a:txBody>
                    <a:bodyPr/>
                    <a:lstStyle/>
                    <a:p>
                      <a:pPr>
                        <a:defRPr sz="1500" b="1">
                          <a:solidFill>
                            <a:srgbClr val="172028"/>
                          </a:solidFill>
                          <a:latin typeface="Lato"/>
                        </a:defRPr>
                      </a:pPr>
                      <a:r>
                        <a:t>CE and PS share one customer</a:t>
                      </a:r>
                    </a:p>
                  </a:txBody>
                  <a:tcPr anchor="ctr" marL="118872" marR="91440" marT="54864" marB="54864">
                    <a:solidFill>
                      <a:srgbClr val="FFFFFF"/>
                    </a:solidFill>
                  </a:tcPr>
                </a:tc>
                <a:tc>
                  <a:txBody>
                    <a:bodyPr/>
                    <a:lstStyle/>
                    <a:p>
                      <a:pPr>
                        <a:defRPr sz="1500" b="0">
                          <a:solidFill>
                            <a:srgbClr val="172028"/>
                          </a:solidFill>
                          <a:latin typeface="Lato"/>
                        </a:defRPr>
                      </a:pPr>
                      <a:r>
                        <a:t>Separate owner fields and qualification context</a:t>
                      </a:r>
                    </a:p>
                  </a:txBody>
                  <a:tcPr anchor="ctr" marL="118872" marR="91440" marT="54864" marB="54864">
                    <a:solidFill>
                      <a:srgbClr val="FFFFFF"/>
                    </a:solidFill>
                  </a:tcPr>
                </a:tc>
                <a:tc>
                  <a:txBody>
                    <a:bodyPr/>
                    <a:lstStyle/>
                    <a:p>
                      <a:pPr>
                        <a:defRPr sz="1500" b="0">
                          <a:solidFill>
                            <a:srgbClr val="172028"/>
                          </a:solidFill>
                          <a:latin typeface="Lato"/>
                        </a:defRPr>
                      </a:pPr>
                      <a:r>
                        <a:t>Model responsibility before building forms</a:t>
                      </a:r>
                    </a:p>
                  </a:txBody>
                  <a:tcPr anchor="ctr" marL="118872" marR="91440" marT="54864" marB="54864">
                    <a:solidFill>
                      <a:srgbClr val="FFFFFF"/>
                    </a:solidFill>
                  </a:tcPr>
                </a:tc>
              </a:tr>
              <a:tr h="536448">
                <a:tc>
                  <a:txBody>
                    <a:bodyPr/>
                    <a:lstStyle/>
                    <a:p>
                      <a:pPr>
                        <a:defRPr sz="1500" b="1">
                          <a:solidFill>
                            <a:srgbClr val="172028"/>
                          </a:solidFill>
                          <a:latin typeface="Lato"/>
                        </a:defRPr>
                      </a:pPr>
                      <a:r>
                        <a:t>Repeated or invalid intake data</a:t>
                      </a:r>
                    </a:p>
                  </a:txBody>
                  <a:tcPr anchor="ctr" marL="118872" marR="91440" marT="54864" marB="54864">
                    <a:solidFill>
                      <a:srgbClr val="EAEDEB"/>
                    </a:solidFill>
                  </a:tcPr>
                </a:tc>
                <a:tc>
                  <a:txBody>
                    <a:bodyPr/>
                    <a:lstStyle/>
                    <a:p>
                      <a:pPr>
                        <a:defRPr sz="1500" b="0">
                          <a:solidFill>
                            <a:srgbClr val="172028"/>
                          </a:solidFill>
                          <a:latin typeface="Lato"/>
                        </a:defRPr>
                      </a:pPr>
                      <a:r>
                        <a:t>Validation, normalisation and staged import</a:t>
                      </a:r>
                    </a:p>
                  </a:txBody>
                  <a:tcPr anchor="ctr" marL="118872" marR="91440" marT="54864" marB="54864">
                    <a:solidFill>
                      <a:srgbClr val="EAEDEB"/>
                    </a:solidFill>
                  </a:tcPr>
                </a:tc>
                <a:tc>
                  <a:txBody>
                    <a:bodyPr/>
                    <a:lstStyle/>
                    <a:p>
                      <a:pPr>
                        <a:defRPr sz="1500" b="0">
                          <a:solidFill>
                            <a:srgbClr val="172028"/>
                          </a:solidFill>
                          <a:latin typeface="Lato"/>
                        </a:defRPr>
                      </a:pPr>
                      <a:r>
                        <a:t>Validate before committing customer records</a:t>
                      </a:r>
                    </a:p>
                  </a:txBody>
                  <a:tcPr anchor="ctr" marL="118872" marR="91440" marT="54864" marB="54864">
                    <a:solidFill>
                      <a:srgbClr val="EAEDEB"/>
                    </a:solidFill>
                  </a:tcPr>
                </a:tc>
              </a:tr>
              <a:tr h="536448">
                <a:tc>
                  <a:txBody>
                    <a:bodyPr/>
                    <a:lstStyle/>
                    <a:p>
                      <a:pPr>
                        <a:defRPr sz="1500" b="1">
                          <a:solidFill>
                            <a:srgbClr val="172028"/>
                          </a:solidFill>
                          <a:latin typeface="Lato"/>
                        </a:defRPr>
                      </a:pPr>
                      <a:r>
                        <a:t>Users leave with open work</a:t>
                      </a:r>
                    </a:p>
                  </a:txBody>
                  <a:tcPr anchor="ctr" marL="118872" marR="91440" marT="54864" marB="54864">
                    <a:solidFill>
                      <a:srgbClr val="FFFFFF"/>
                    </a:solidFill>
                  </a:tcPr>
                </a:tc>
                <a:tc>
                  <a:txBody>
                    <a:bodyPr/>
                    <a:lstStyle/>
                    <a:p>
                      <a:pPr>
                        <a:defRPr sz="1500" b="0">
                          <a:solidFill>
                            <a:srgbClr val="172028"/>
                          </a:solidFill>
                          <a:latin typeface="Lato"/>
                        </a:defRPr>
                      </a:pPr>
                      <a:r>
                        <a:t>Impact preview, reassignment and history</a:t>
                      </a:r>
                    </a:p>
                  </a:txBody>
                  <a:tcPr anchor="ctr" marL="118872" marR="91440" marT="54864" marB="54864">
                    <a:solidFill>
                      <a:srgbClr val="FFFFFF"/>
                    </a:solidFill>
                  </a:tcPr>
                </a:tc>
                <a:tc>
                  <a:txBody>
                    <a:bodyPr/>
                    <a:lstStyle/>
                    <a:p>
                      <a:pPr>
                        <a:defRPr sz="1500" b="0">
                          <a:solidFill>
                            <a:srgbClr val="172028"/>
                          </a:solidFill>
                          <a:latin typeface="Lato"/>
                        </a:defRPr>
                      </a:pPr>
                      <a:r>
                        <a:t>Handle business continuity explicitly</a:t>
                      </a:r>
                    </a:p>
                  </a:txBody>
                  <a:tcPr anchor="ctr" marL="118872" marR="91440" marT="54864" marB="54864">
                    <a:solidFill>
                      <a:srgbClr val="FFFFFF"/>
                    </a:solidFill>
                  </a:tcPr>
                </a:tc>
              </a:tr>
              <a:tr h="536448">
                <a:tc>
                  <a:txBody>
                    <a:bodyPr/>
                    <a:lstStyle/>
                    <a:p>
                      <a:pPr>
                        <a:defRPr sz="1500" b="1">
                          <a:solidFill>
                            <a:srgbClr val="172028"/>
                          </a:solidFill>
                          <a:latin typeface="Lato"/>
                        </a:defRPr>
                      </a:pPr>
                      <a:r>
                        <a:t>Reports differ across users</a:t>
                      </a:r>
                    </a:p>
                  </a:txBody>
                  <a:tcPr anchor="ctr" marL="118872" marR="91440" marT="54864" marB="54864">
                    <a:solidFill>
                      <a:srgbClr val="EAEDEB"/>
                    </a:solidFill>
                  </a:tcPr>
                </a:tc>
                <a:tc>
                  <a:txBody>
                    <a:bodyPr/>
                    <a:lstStyle/>
                    <a:p>
                      <a:pPr>
                        <a:defRPr sz="1500" b="0">
                          <a:solidFill>
                            <a:srgbClr val="172028"/>
                          </a:solidFill>
                          <a:latin typeface="Lato"/>
                        </a:defRPr>
                      </a:pPr>
                      <a:r>
                        <a:t>Authorised cohorts and scoped cache keys</a:t>
                      </a:r>
                    </a:p>
                  </a:txBody>
                  <a:tcPr anchor="ctr" marL="118872" marR="91440" marT="54864" marB="54864">
                    <a:solidFill>
                      <a:srgbClr val="EAEDEB"/>
                    </a:solidFill>
                  </a:tcPr>
                </a:tc>
                <a:tc>
                  <a:txBody>
                    <a:bodyPr/>
                    <a:lstStyle/>
                    <a:p>
                      <a:pPr>
                        <a:defRPr sz="1500" b="0">
                          <a:solidFill>
                            <a:srgbClr val="172028"/>
                          </a:solidFill>
                          <a:latin typeface="Lato"/>
                        </a:defRPr>
                      </a:pPr>
                      <a:r>
                        <a:t>Define metric scope before comparing totals</a:t>
                      </a:r>
                    </a:p>
                  </a:txBody>
                  <a:tcPr anchor="ctr" marL="118872" marR="91440" marT="54864" marB="54864">
                    <a:solidFill>
                      <a:srgbClr val="EAEDEB"/>
                    </a:solidFill>
                  </a:tcPr>
                </a:tc>
              </a:tr>
              <a:tr h="536448">
                <a:tc>
                  <a:txBody>
                    <a:bodyPr/>
                    <a:lstStyle/>
                    <a:p>
                      <a:pPr>
                        <a:defRPr sz="1500" b="1">
                          <a:solidFill>
                            <a:srgbClr val="172028"/>
                          </a:solidFill>
                          <a:latin typeface="Lato"/>
                        </a:defRPr>
                      </a:pPr>
                      <a:r>
                        <a:t>Multiple clicks / concurrent updates</a:t>
                      </a:r>
                    </a:p>
                  </a:txBody>
                  <a:tcPr anchor="ctr" marL="118872" marR="91440" marT="54864" marB="54864">
                    <a:solidFill>
                      <a:srgbClr val="FFFFFF"/>
                    </a:solidFill>
                  </a:tcPr>
                </a:tc>
                <a:tc>
                  <a:txBody>
                    <a:bodyPr/>
                    <a:lstStyle/>
                    <a:p>
                      <a:pPr>
                        <a:defRPr sz="1500" b="0">
                          <a:solidFill>
                            <a:srgbClr val="172028"/>
                          </a:solidFill>
                          <a:latin typeface="Lato"/>
                        </a:defRPr>
                      </a:pPr>
                      <a:r>
                        <a:t>Transactions, locks and idempotent completion</a:t>
                      </a:r>
                    </a:p>
                  </a:txBody>
                  <a:tcPr anchor="ctr" marL="118872" marR="91440" marT="54864" marB="54864">
                    <a:solidFill>
                      <a:srgbClr val="FFFFFF"/>
                    </a:solidFill>
                  </a:tcPr>
                </a:tc>
                <a:tc>
                  <a:txBody>
                    <a:bodyPr/>
                    <a:lstStyle/>
                    <a:p>
                      <a:pPr>
                        <a:defRPr sz="1500" b="0">
                          <a:solidFill>
                            <a:srgbClr val="172028"/>
                          </a:solidFill>
                          <a:latin typeface="Lato"/>
                        </a:defRPr>
                      </a:pPr>
                      <a:r>
                        <a:t>Make repeat actions safe where required</a:t>
                      </a:r>
                    </a:p>
                  </a:txBody>
                  <a:tcPr anchor="ctr" marL="118872" marR="91440" marT="54864" marB="54864">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REFLECTION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My internship experience and learning</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Draft reflection themes: personalise these with your own examples before presenting.</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39</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Understanding business work</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Explain an actual showroom observation</a:t>
            </a:r>
          </a:p>
          <a:p>
            <a:pPr>
              <a:spcAft>
                <a:spcPts val="700"/>
              </a:spcAft>
              <a:defRPr sz="1800" b="0">
                <a:solidFill>
                  <a:srgbClr val="172028"/>
                </a:solidFill>
                <a:latin typeface="Lato"/>
              </a:defRPr>
            </a:pPr>
            <a:r>
              <a:t>Describe how it affected a requirement</a:t>
            </a:r>
          </a:p>
          <a:p>
            <a:pPr>
              <a:spcAft>
                <a:spcPts val="700"/>
              </a:spcAft>
              <a:defRPr sz="1800" b="0">
                <a:solidFill>
                  <a:srgbClr val="172028"/>
                </a:solidFill>
                <a:latin typeface="Lato"/>
              </a:defRPr>
            </a:pPr>
            <a:r>
              <a:t>Mention one useful mentor discussion</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Growing as a developer</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Explain one module you contributed to</a:t>
            </a:r>
          </a:p>
          <a:p>
            <a:pPr>
              <a:spcAft>
                <a:spcPts val="700"/>
              </a:spcAft>
              <a:defRPr sz="1800" b="0">
                <a:solidFill>
                  <a:srgbClr val="172028"/>
                </a:solidFill>
                <a:latin typeface="Lato"/>
              </a:defRPr>
            </a:pPr>
            <a:r>
              <a:t>Show a validation or workflow you understood</a:t>
            </a:r>
          </a:p>
          <a:p>
            <a:pPr>
              <a:spcAft>
                <a:spcPts val="700"/>
              </a:spcAft>
              <a:defRPr sz="1800" b="0">
                <a:solidFill>
                  <a:srgbClr val="172028"/>
                </a:solidFill>
                <a:latin typeface="Lato"/>
              </a:defRPr>
            </a:pPr>
            <a:r>
              <a:t>Describe one debugging experience</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Working professionally</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Describe how you asked for feedback</a:t>
            </a:r>
          </a:p>
          <a:p>
            <a:pPr>
              <a:spcAft>
                <a:spcPts val="700"/>
              </a:spcAft>
              <a:defRPr sz="1800" b="0">
                <a:solidFill>
                  <a:srgbClr val="172028"/>
                </a:solidFill>
                <a:latin typeface="Lato"/>
              </a:defRPr>
            </a:pPr>
            <a:r>
              <a:t>Explain how you documented progress</a:t>
            </a:r>
          </a:p>
          <a:p>
            <a:pPr>
              <a:spcAft>
                <a:spcPts val="700"/>
              </a:spcAft>
              <a:defRPr sz="1800" b="0">
                <a:solidFill>
                  <a:srgbClr val="172028"/>
                </a:solidFill>
                <a:latin typeface="Lato"/>
              </a:defRPr>
            </a:pPr>
            <a:r>
              <a:t>Add one change in your working habits</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Personalise: one real observation + one technical contribution + one feedback example.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EVALUATION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Project outcomes and remaining work</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Describe implemented capabilities separately from measured business impact.</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40</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Available in the repository</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Role-specific CRM workflows</a:t>
            </a:r>
          </a:p>
          <a:p>
            <a:pPr>
              <a:spcAft>
                <a:spcPts val="700"/>
              </a:spcAft>
              <a:defRPr sz="1800" b="0">
                <a:solidFill>
                  <a:srgbClr val="172028"/>
                </a:solidFill>
                <a:latin typeface="Lato"/>
              </a:defRPr>
            </a:pPr>
            <a:r>
              <a:t>Sales and complaint histories</a:t>
            </a:r>
          </a:p>
          <a:p>
            <a:pPr>
              <a:spcAft>
                <a:spcPts val="700"/>
              </a:spcAft>
              <a:defRPr sz="1800" b="0">
                <a:solidFill>
                  <a:srgbClr val="172028"/>
                </a:solidFill>
                <a:latin typeface="Lato"/>
              </a:defRPr>
            </a:pPr>
            <a:r>
              <a:t>Imports, analytics and lifecycle controls</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Evidence available</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Implementation files and migrations</a:t>
            </a:r>
          </a:p>
          <a:p>
            <a:pPr>
              <a:spcAft>
                <a:spcPts val="700"/>
              </a:spcAft>
              <a:defRPr sz="1800" b="0">
                <a:solidFill>
                  <a:srgbClr val="172028"/>
                </a:solidFill>
                <a:latin typeface="Lato"/>
              </a:defRPr>
            </a:pPr>
            <a:r>
              <a:t>Automated workflow checks</a:t>
            </a:r>
          </a:p>
          <a:p>
            <a:pPr>
              <a:spcAft>
                <a:spcPts val="700"/>
              </a:spcAft>
              <a:defRPr sz="1800" b="0">
                <a:solidFill>
                  <a:srgbClr val="172028"/>
                </a:solidFill>
                <a:latin typeface="Lato"/>
              </a:defRPr>
            </a:pPr>
            <a:r>
              <a:t>Technical diagrams and demo scenarios</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Next steps</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Confirm user acceptance and rollout scope</a:t>
            </a:r>
          </a:p>
          <a:p>
            <a:pPr>
              <a:spcAft>
                <a:spcPts val="700"/>
              </a:spcAft>
              <a:defRPr sz="1800" b="0">
                <a:solidFill>
                  <a:srgbClr val="172028"/>
                </a:solidFill>
                <a:latin typeface="Lato"/>
              </a:defRPr>
            </a:pPr>
            <a:r>
              <a:t>Deploy and verify reminder scheduling</a:t>
            </a:r>
          </a:p>
          <a:p>
            <a:pPr>
              <a:spcAft>
                <a:spcPts val="700"/>
              </a:spcAft>
              <a:defRPr sz="1800" b="0">
                <a:solidFill>
                  <a:srgbClr val="172028"/>
                </a:solidFill>
                <a:latin typeface="Lato"/>
              </a:defRPr>
            </a:pPr>
            <a:r>
              <a:t>Measure usage and business results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PROJECT DEMONSTRATION</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Demonstration plan</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Use fictional records in an isolated demo environment.</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41</a:t>
            </a:r>
          </a:p>
        </p:txBody>
      </p:sp>
      <p:sp>
        <p:nvSpPr>
          <p:cNvPr id="9" name="Rectangle 8"/>
          <p:cNvSpPr/>
          <p:nvPr/>
        </p:nvSpPr>
        <p:spPr>
          <a:xfrm>
            <a:off x="56692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Scenario 1: enquiry to sale</a:t>
            </a:r>
          </a:p>
        </p:txBody>
      </p:sp>
      <p:sp>
        <p:nvSpPr>
          <p:cNvPr id="12" name="TextBox 11"/>
          <p:cNvSpPr txBox="1"/>
          <p:nvPr/>
        </p:nvSpPr>
        <p:spPr>
          <a:xfrm>
            <a:off x="74980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Capture and assign a lead</a:t>
            </a:r>
          </a:p>
          <a:p>
            <a:pPr>
              <a:spcAft>
                <a:spcPts val="700"/>
              </a:spcAft>
              <a:defRPr sz="1800" b="0">
                <a:solidFill>
                  <a:srgbClr val="172028"/>
                </a:solidFill>
                <a:latin typeface="Lato"/>
              </a:defRPr>
            </a:pPr>
            <a:r>
              <a:t>CE qualifies and selects PS/SO</a:t>
            </a:r>
          </a:p>
          <a:p>
            <a:pPr>
              <a:spcAft>
                <a:spcPts val="700"/>
              </a:spcAft>
              <a:defRPr sz="1800" b="0">
                <a:solidFill>
                  <a:srgbClr val="172028"/>
                </a:solidFill>
                <a:latin typeface="Lato"/>
              </a:defRPr>
            </a:pPr>
            <a:r>
              <a:t>PS/SO records booking and retail</a:t>
            </a:r>
          </a:p>
        </p:txBody>
      </p:sp>
      <p:sp>
        <p:nvSpPr>
          <p:cNvPr id="13" name="Rectangle 12"/>
          <p:cNvSpPr/>
          <p:nvPr/>
        </p:nvSpPr>
        <p:spPr>
          <a:xfrm>
            <a:off x="431596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Scenario 2: customer issue</a:t>
            </a:r>
          </a:p>
        </p:txBody>
      </p:sp>
      <p:sp>
        <p:nvSpPr>
          <p:cNvPr id="16" name="TextBox 15"/>
          <p:cNvSpPr txBox="1"/>
          <p:nvPr/>
        </p:nvSpPr>
        <p:spPr>
          <a:xfrm>
            <a:off x="449884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CE or reception creates complaint</a:t>
            </a:r>
          </a:p>
          <a:p>
            <a:pPr>
              <a:spcAft>
                <a:spcPts val="700"/>
              </a:spcAft>
              <a:defRPr sz="1800" b="0">
                <a:solidFill>
                  <a:srgbClr val="172028"/>
                </a:solidFill>
                <a:latin typeface="Lato"/>
              </a:defRPr>
            </a:pPr>
            <a:r>
              <a:t>Complaints team adds notes</a:t>
            </a:r>
          </a:p>
          <a:p>
            <a:pPr>
              <a:spcAft>
                <a:spcPts val="700"/>
              </a:spcAft>
              <a:defRPr sz="1800" b="0">
                <a:solidFill>
                  <a:srgbClr val="172028"/>
                </a:solidFill>
                <a:latin typeface="Lato"/>
              </a:defRPr>
            </a:pPr>
            <a:r>
              <a:t>Record resolution and review history</a:t>
            </a:r>
          </a:p>
        </p:txBody>
      </p:sp>
      <p:sp>
        <p:nvSpPr>
          <p:cNvPr id="17" name="Rectangle 16"/>
          <p:cNvSpPr/>
          <p:nvPr/>
        </p:nvSpPr>
        <p:spPr>
          <a:xfrm>
            <a:off x="8065008" y="2350008"/>
            <a:ext cx="3547872" cy="3008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350008"/>
            <a:ext cx="41148" cy="3008376"/>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532888"/>
            <a:ext cx="3182112" cy="594360"/>
          </a:xfrm>
          <a:prstGeom prst="rect">
            <a:avLst/>
          </a:prstGeom>
          <a:noFill/>
        </p:spPr>
        <p:txBody>
          <a:bodyPr wrap="square" lIns="0" rIns="0" tIns="0" bIns="0">
            <a:spAutoFit/>
          </a:bodyPr>
          <a:lstStyle/>
          <a:p>
            <a:pPr>
              <a:spcAft>
                <a:spcPts val="700"/>
              </a:spcAft>
              <a:defRPr sz="2000" b="1">
                <a:solidFill>
                  <a:srgbClr val="C8202F"/>
                </a:solidFill>
                <a:latin typeface="Lato"/>
              </a:defRPr>
            </a:pPr>
            <a:r>
              <a:t>Scenario 3: management</a:t>
            </a:r>
          </a:p>
        </p:txBody>
      </p:sp>
      <p:sp>
        <p:nvSpPr>
          <p:cNvPr id="20" name="TextBox 19"/>
          <p:cNvSpPr txBox="1"/>
          <p:nvPr/>
        </p:nvSpPr>
        <p:spPr>
          <a:xfrm>
            <a:off x="8247888" y="3227832"/>
            <a:ext cx="3182112" cy="2057400"/>
          </a:xfrm>
          <a:prstGeom prst="rect">
            <a:avLst/>
          </a:prstGeom>
          <a:noFill/>
        </p:spPr>
        <p:txBody>
          <a:bodyPr wrap="square" lIns="0" rIns="0" tIns="0" bIns="0">
            <a:spAutoFit/>
          </a:bodyPr>
          <a:lstStyle/>
          <a:p>
            <a:pPr>
              <a:spcAft>
                <a:spcPts val="700"/>
              </a:spcAft>
              <a:defRPr sz="1800" b="0">
                <a:solidFill>
                  <a:srgbClr val="172028"/>
                </a:solidFill>
                <a:latin typeface="Lato"/>
              </a:defRPr>
            </a:pPr>
            <a:r>
              <a:t>Show the matching ETBR scope</a:t>
            </a:r>
          </a:p>
          <a:p>
            <a:pPr>
              <a:spcAft>
                <a:spcPts val="700"/>
              </a:spcAft>
              <a:defRPr sz="1800" b="0">
                <a:solidFill>
                  <a:srgbClr val="172028"/>
                </a:solidFill>
                <a:latin typeface="Lato"/>
              </a:defRPr>
            </a:pPr>
            <a:r>
              <a:t>Review branch visibility</a:t>
            </a:r>
          </a:p>
          <a:p>
            <a:pPr>
              <a:spcAft>
                <a:spcPts val="700"/>
              </a:spcAft>
              <a:defRPr sz="1800" b="0">
                <a:solidFill>
                  <a:srgbClr val="172028"/>
                </a:solidFill>
                <a:latin typeface="Lato"/>
              </a:defRPr>
            </a:pPr>
            <a:r>
              <a:t>Explain offboarding impact preview</a:t>
            </a:r>
          </a:p>
        </p:txBody>
      </p:sp>
      <p:sp>
        <p:nvSpPr>
          <p:cNvPr id="21" name="Rectangle 20"/>
          <p:cNvSpPr/>
          <p:nvPr/>
        </p:nvSpPr>
        <p:spPr>
          <a:xfrm>
            <a:off x="566928" y="5705856"/>
            <a:ext cx="11045952" cy="420624"/>
          </a:xfrm>
          <a:prstGeom prst="rect">
            <a:avLst/>
          </a:prstGeom>
          <a:solidFill>
            <a:srgbClr val="F8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97296"/>
            <a:ext cx="10735056" cy="228600"/>
          </a:xfrm>
          <a:prstGeom prst="rect">
            <a:avLst/>
          </a:prstGeom>
          <a:noFill/>
        </p:spPr>
        <p:txBody>
          <a:bodyPr wrap="square" lIns="0" rIns="0" tIns="0" bIns="0">
            <a:spAutoFit/>
          </a:bodyPr>
          <a:lstStyle/>
          <a:p>
            <a:pPr>
              <a:spcAft>
                <a:spcPts val="700"/>
              </a:spcAft>
              <a:defRPr sz="1200" b="1">
                <a:solidFill>
                  <a:srgbClr val="C8202F"/>
                </a:solidFill>
                <a:latin typeface="Lato"/>
              </a:defRPr>
            </a:pPr>
            <a:r>
              <a:t>Demo proof: saved record + next owner’s queue + history + matching report filters.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7202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CLOSING</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FFFFFF"/>
                </a:solidFill>
                <a:latin typeface="Lato"/>
              </a:defRPr>
            </a:pPr>
            <a:r>
              <a:t>Thank you</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DADDDC"/>
                </a:solidFill>
                <a:latin typeface="Lato"/>
              </a:defRPr>
            </a:pPr>
            <a:r>
              <a:t>Questions and discussion</a:t>
            </a:r>
          </a:p>
        </p:txBody>
      </p:sp>
      <p:cxnSp>
        <p:nvCxnSpPr>
          <p:cNvPr id="6" name="Connector 5"/>
          <p:cNvCxnSpPr/>
          <p:nvPr/>
        </p:nvCxnSpPr>
        <p:spPr>
          <a:xfrm>
            <a:off x="548640" y="6318504"/>
            <a:ext cx="11082528" cy="0"/>
          </a:xfrm>
          <a:prstGeom prst="line">
            <a:avLst/>
          </a:prstGeom>
          <a:ln w="12700">
            <a:solidFill>
              <a:srgbClr val="26333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DADDDC"/>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42</a:t>
            </a:r>
          </a:p>
        </p:txBody>
      </p:sp>
      <p:sp>
        <p:nvSpPr>
          <p:cNvPr id="9" name="TextBox 8"/>
          <p:cNvSpPr txBox="1"/>
          <p:nvPr/>
        </p:nvSpPr>
        <p:spPr>
          <a:xfrm>
            <a:off x="667512" y="2724912"/>
            <a:ext cx="10853928" cy="1115568"/>
          </a:xfrm>
          <a:prstGeom prst="rect">
            <a:avLst/>
          </a:prstGeom>
          <a:noFill/>
        </p:spPr>
        <p:txBody>
          <a:bodyPr wrap="square" lIns="0" rIns="0" tIns="0" bIns="0">
            <a:spAutoFit/>
          </a:bodyPr>
          <a:lstStyle/>
          <a:p>
            <a:pPr>
              <a:spcAft>
                <a:spcPts val="700"/>
              </a:spcAft>
              <a:defRPr sz="3900" b="1">
                <a:solidFill>
                  <a:srgbClr val="FFFFFF"/>
                </a:solidFill>
                <a:latin typeface="Lato"/>
              </a:defRPr>
            </a:pPr>
            <a:r>
              <a:t>From showroom processes</a:t>
            </a:r>
          </a:p>
          <a:p>
            <a:pPr>
              <a:spcAft>
                <a:spcPts val="700"/>
              </a:spcAft>
              <a:defRPr sz="3900" b="1">
                <a:solidFill>
                  <a:srgbClr val="FFFFFF"/>
                </a:solidFill>
                <a:latin typeface="Lato"/>
              </a:defRPr>
            </a:pPr>
            <a:r>
              <a:t>to software workflows</a:t>
            </a:r>
          </a:p>
        </p:txBody>
      </p:sp>
      <p:sp>
        <p:nvSpPr>
          <p:cNvPr id="10" name="TextBox 9"/>
          <p:cNvSpPr txBox="1"/>
          <p:nvPr/>
        </p:nvSpPr>
        <p:spPr>
          <a:xfrm>
            <a:off x="694944" y="4709160"/>
            <a:ext cx="10460736" cy="621792"/>
          </a:xfrm>
          <a:prstGeom prst="rect">
            <a:avLst/>
          </a:prstGeom>
          <a:noFill/>
        </p:spPr>
        <p:txBody>
          <a:bodyPr wrap="square" lIns="0" rIns="0" tIns="0" bIns="0">
            <a:spAutoFit/>
          </a:bodyPr>
          <a:lstStyle/>
          <a:p>
            <a:pPr>
              <a:spcAft>
                <a:spcPts val="700"/>
              </a:spcAft>
              <a:defRPr sz="1900" b="0">
                <a:solidFill>
                  <a:srgbClr val="DADDDC"/>
                </a:solidFill>
                <a:latin typeface="Lato"/>
              </a:defRPr>
            </a:pPr>
            <a:r>
              <a:t>Nippon Toyota • Kalamassery</a:t>
            </a:r>
          </a:p>
          <a:p>
            <a:pPr>
              <a:spcAft>
                <a:spcPts val="700"/>
              </a:spcAft>
              <a:defRPr sz="1900" b="0">
                <a:solidFill>
                  <a:srgbClr val="DADDDC"/>
                </a:solidFill>
                <a:latin typeface="Lato"/>
              </a:defRPr>
            </a:pPr>
            <a:r>
              <a:t>[Your name]  |  [College]  |  [Mentor]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TECHNICAL APPENDIX</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API reference for the viva</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Selected implemented endpoints; consult /api/docs/ for the complete schema.</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43</a:t>
            </a:r>
          </a:p>
        </p:txBody>
      </p:sp>
      <p:graphicFrame>
        <p:nvGraphicFramePr>
          <p:cNvPr id="9" name="Table 8"/>
          <p:cNvGraphicFramePr>
            <a:graphicFrameLocks noGrp="1"/>
          </p:cNvGraphicFramePr>
          <p:nvPr/>
        </p:nvGraphicFramePr>
        <p:xfrm>
          <a:off x="566928" y="2276856"/>
          <a:ext cx="11045951" cy="3218688"/>
        </p:xfrm>
        <a:graphic>
          <a:graphicData uri="http://schemas.openxmlformats.org/drawingml/2006/table">
            <a:tbl>
              <a:tblPr firstRow="1" bandRow="1">
                <a:tableStyleId>{5C22544A-7EE6-4342-B048-85BDC9FD1C3A}</a:tableStyleId>
              </a:tblPr>
              <a:tblGrid>
                <a:gridCol w="1508760"/>
                <a:gridCol w="5632704"/>
                <a:gridCol w="3904487"/>
              </a:tblGrid>
              <a:tr h="402336">
                <a:tc>
                  <a:txBody>
                    <a:bodyPr/>
                    <a:lstStyle/>
                    <a:p>
                      <a:pPr>
                        <a:defRPr sz="1400" b="1">
                          <a:solidFill>
                            <a:srgbClr val="FFFFFF"/>
                          </a:solidFill>
                          <a:latin typeface="Lato"/>
                        </a:defRPr>
                      </a:pPr>
                      <a:r>
                        <a:t>Method</a:t>
                      </a:r>
                    </a:p>
                  </a:txBody>
                  <a:tcPr anchor="ctr" marL="118872" marR="91440" marT="54864" marB="54864">
                    <a:solidFill>
                      <a:srgbClr val="172028"/>
                    </a:solidFill>
                  </a:tcPr>
                </a:tc>
                <a:tc>
                  <a:txBody>
                    <a:bodyPr/>
                    <a:lstStyle/>
                    <a:p>
                      <a:pPr>
                        <a:defRPr sz="1400" b="1">
                          <a:solidFill>
                            <a:srgbClr val="FFFFFF"/>
                          </a:solidFill>
                          <a:latin typeface="Lato"/>
                        </a:defRPr>
                      </a:pPr>
                      <a:r>
                        <a:t>Endpoint</a:t>
                      </a:r>
                    </a:p>
                  </a:txBody>
                  <a:tcPr anchor="ctr" marL="118872" marR="91440" marT="54864" marB="54864">
                    <a:solidFill>
                      <a:srgbClr val="172028"/>
                    </a:solidFill>
                  </a:tcPr>
                </a:tc>
                <a:tc>
                  <a:txBody>
                    <a:bodyPr/>
                    <a:lstStyle/>
                    <a:p>
                      <a:pPr>
                        <a:defRPr sz="1400" b="1">
                          <a:solidFill>
                            <a:srgbClr val="FFFFFF"/>
                          </a:solidFill>
                          <a:latin typeface="Lato"/>
                        </a:defRPr>
                      </a:pPr>
                      <a:r>
                        <a:t>Purpose</a:t>
                      </a:r>
                    </a:p>
                  </a:txBody>
                  <a:tcPr anchor="ctr" marL="118872" marR="91440" marT="54864" marB="54864">
                    <a:solidFill>
                      <a:srgbClr val="172028"/>
                    </a:solidFill>
                  </a:tcPr>
                </a:tc>
              </a:tr>
              <a:tr h="402336">
                <a:tc>
                  <a:txBody>
                    <a:bodyPr/>
                    <a:lstStyle/>
                    <a:p>
                      <a:pPr>
                        <a:defRPr sz="1400" b="1">
                          <a:solidFill>
                            <a:srgbClr val="172028"/>
                          </a:solidFill>
                          <a:latin typeface="Lato"/>
                        </a:defRPr>
                      </a:pPr>
                      <a:r>
                        <a:t>POST</a:t>
                      </a:r>
                    </a:p>
                  </a:txBody>
                  <a:tcPr anchor="ctr" marL="118872" marR="91440" marT="54864" marB="54864">
                    <a:solidFill>
                      <a:srgbClr val="FFFFFF"/>
                    </a:solidFill>
                  </a:tcPr>
                </a:tc>
                <a:tc>
                  <a:txBody>
                    <a:bodyPr/>
                    <a:lstStyle/>
                    <a:p>
                      <a:pPr>
                        <a:defRPr sz="1400" b="0">
                          <a:solidFill>
                            <a:srgbClr val="172028"/>
                          </a:solidFill>
                          <a:latin typeface="Lato"/>
                        </a:defRPr>
                      </a:pPr>
                      <a:r>
                        <a:t>/api/auth/login/</a:t>
                      </a:r>
                    </a:p>
                  </a:txBody>
                  <a:tcPr anchor="ctr" marL="118872" marR="91440" marT="54864" marB="54864">
                    <a:solidFill>
                      <a:srgbClr val="FFFFFF"/>
                    </a:solidFill>
                  </a:tcPr>
                </a:tc>
                <a:tc>
                  <a:txBody>
                    <a:bodyPr/>
                    <a:lstStyle/>
                    <a:p>
                      <a:pPr>
                        <a:defRPr sz="1400" b="0">
                          <a:solidFill>
                            <a:srgbClr val="172028"/>
                          </a:solidFill>
                          <a:latin typeface="Lato"/>
                        </a:defRPr>
                      </a:pPr>
                      <a:r>
                        <a:t>Authenticate and set cookies</a:t>
                      </a:r>
                    </a:p>
                  </a:txBody>
                  <a:tcPr anchor="ctr" marL="118872" marR="91440" marT="54864" marB="54864">
                    <a:solidFill>
                      <a:srgbClr val="FFFFFF"/>
                    </a:solidFill>
                  </a:tcPr>
                </a:tc>
              </a:tr>
              <a:tr h="402336">
                <a:tc>
                  <a:txBody>
                    <a:bodyPr/>
                    <a:lstStyle/>
                    <a:p>
                      <a:pPr>
                        <a:defRPr sz="1400" b="1">
                          <a:solidFill>
                            <a:srgbClr val="172028"/>
                          </a:solidFill>
                          <a:latin typeface="Lato"/>
                        </a:defRPr>
                      </a:pPr>
                      <a:r>
                        <a:t>GET / POST</a:t>
                      </a:r>
                    </a:p>
                  </a:txBody>
                  <a:tcPr anchor="ctr" marL="118872" marR="91440" marT="54864" marB="54864">
                    <a:solidFill>
                      <a:srgbClr val="EAEDEB"/>
                    </a:solidFill>
                  </a:tcPr>
                </a:tc>
                <a:tc>
                  <a:txBody>
                    <a:bodyPr/>
                    <a:lstStyle/>
                    <a:p>
                      <a:pPr>
                        <a:defRPr sz="1400" b="0">
                          <a:solidFill>
                            <a:srgbClr val="172028"/>
                          </a:solidFill>
                          <a:latin typeface="Lato"/>
                        </a:defRPr>
                      </a:pPr>
                      <a:r>
                        <a:t>/api/leads/</a:t>
                      </a:r>
                    </a:p>
                  </a:txBody>
                  <a:tcPr anchor="ctr" marL="118872" marR="91440" marT="54864" marB="54864">
                    <a:solidFill>
                      <a:srgbClr val="EAEDEB"/>
                    </a:solidFill>
                  </a:tcPr>
                </a:tc>
                <a:tc>
                  <a:txBody>
                    <a:bodyPr/>
                    <a:lstStyle/>
                    <a:p>
                      <a:pPr>
                        <a:defRPr sz="1400" b="0">
                          <a:solidFill>
                            <a:srgbClr val="172028"/>
                          </a:solidFill>
                          <a:latin typeface="Lato"/>
                        </a:defRPr>
                      </a:pPr>
                      <a:r>
                        <a:t>List visible leads / create allowed intake</a:t>
                      </a:r>
                    </a:p>
                  </a:txBody>
                  <a:tcPr anchor="ctr" marL="118872" marR="91440" marT="54864" marB="54864">
                    <a:solidFill>
                      <a:srgbClr val="EAEDEB"/>
                    </a:solidFill>
                  </a:tcPr>
                </a:tc>
              </a:tr>
              <a:tr h="402336">
                <a:tc>
                  <a:txBody>
                    <a:bodyPr/>
                    <a:lstStyle/>
                    <a:p>
                      <a:pPr>
                        <a:defRPr sz="1400" b="1">
                          <a:solidFill>
                            <a:srgbClr val="172028"/>
                          </a:solidFill>
                          <a:latin typeface="Lato"/>
                        </a:defRPr>
                      </a:pPr>
                      <a:r>
                        <a:t>PATCH</a:t>
                      </a:r>
                    </a:p>
                  </a:txBody>
                  <a:tcPr anchor="ctr" marL="118872" marR="91440" marT="54864" marB="54864">
                    <a:solidFill>
                      <a:srgbClr val="FFFFFF"/>
                    </a:solidFill>
                  </a:tcPr>
                </a:tc>
                <a:tc>
                  <a:txBody>
                    <a:bodyPr/>
                    <a:lstStyle/>
                    <a:p>
                      <a:pPr>
                        <a:defRPr sz="1400" b="0">
                          <a:solidFill>
                            <a:srgbClr val="172028"/>
                          </a:solidFill>
                          <a:latin typeface="Lato"/>
                        </a:defRPr>
                      </a:pPr>
                      <a:r>
                        <a:t>/api/leads/{id}/so-update/</a:t>
                      </a:r>
                    </a:p>
                  </a:txBody>
                  <a:tcPr anchor="ctr" marL="118872" marR="91440" marT="54864" marB="54864">
                    <a:solidFill>
                      <a:srgbClr val="FFFFFF"/>
                    </a:solidFill>
                  </a:tcPr>
                </a:tc>
                <a:tc>
                  <a:txBody>
                    <a:bodyPr/>
                    <a:lstStyle/>
                    <a:p>
                      <a:pPr>
                        <a:defRPr sz="1400" b="0">
                          <a:solidFill>
                            <a:srgbClr val="172028"/>
                          </a:solidFill>
                          <a:latin typeface="Lato"/>
                        </a:defRPr>
                      </a:pPr>
                      <a:r>
                        <a:t>Dedicated call and sales workflow update</a:t>
                      </a:r>
                    </a:p>
                  </a:txBody>
                  <a:tcPr anchor="ctr" marL="118872" marR="91440" marT="54864" marB="54864">
                    <a:solidFill>
                      <a:srgbClr val="FFFFFF"/>
                    </a:solidFill>
                  </a:tcPr>
                </a:tc>
              </a:tr>
              <a:tr h="402336">
                <a:tc>
                  <a:txBody>
                    <a:bodyPr/>
                    <a:lstStyle/>
                    <a:p>
                      <a:pPr>
                        <a:defRPr sz="1400" b="1">
                          <a:solidFill>
                            <a:srgbClr val="172028"/>
                          </a:solidFill>
                          <a:latin typeface="Lato"/>
                        </a:defRPr>
                      </a:pPr>
                      <a:r>
                        <a:t>POST</a:t>
                      </a:r>
                    </a:p>
                  </a:txBody>
                  <a:tcPr anchor="ctr" marL="118872" marR="91440" marT="54864" marB="54864">
                    <a:solidFill>
                      <a:srgbClr val="EAEDEB"/>
                    </a:solidFill>
                  </a:tcPr>
                </a:tc>
                <a:tc>
                  <a:txBody>
                    <a:bodyPr/>
                    <a:lstStyle/>
                    <a:p>
                      <a:pPr>
                        <a:defRPr sz="1400" b="0">
                          <a:solidFill>
                            <a:srgbClr val="172028"/>
                          </a:solidFill>
                          <a:latin typeface="Lato"/>
                        </a:defRPr>
                      </a:pPr>
                      <a:r>
                        <a:t>/api/leads/{id}/assign/</a:t>
                      </a:r>
                    </a:p>
                  </a:txBody>
                  <a:tcPr anchor="ctr" marL="118872" marR="91440" marT="54864" marB="54864">
                    <a:solidFill>
                      <a:srgbClr val="EAEDEB"/>
                    </a:solidFill>
                  </a:tcPr>
                </a:tc>
                <a:tc>
                  <a:txBody>
                    <a:bodyPr/>
                    <a:lstStyle/>
                    <a:p>
                      <a:pPr>
                        <a:defRPr sz="1400" b="0">
                          <a:solidFill>
                            <a:srgbClr val="172028"/>
                          </a:solidFill>
                          <a:latin typeface="Lato"/>
                        </a:defRPr>
                      </a:pPr>
                      <a:r>
                        <a:t>Allocate to CE</a:t>
                      </a:r>
                    </a:p>
                  </a:txBody>
                  <a:tcPr anchor="ctr" marL="118872" marR="91440" marT="54864" marB="54864">
                    <a:solidFill>
                      <a:srgbClr val="EAEDEB"/>
                    </a:solidFill>
                  </a:tcPr>
                </a:tc>
              </a:tr>
              <a:tr h="402336">
                <a:tc>
                  <a:txBody>
                    <a:bodyPr/>
                    <a:lstStyle/>
                    <a:p>
                      <a:pPr>
                        <a:defRPr sz="1400" b="1">
                          <a:solidFill>
                            <a:srgbClr val="172028"/>
                          </a:solidFill>
                          <a:latin typeface="Lato"/>
                        </a:defRPr>
                      </a:pPr>
                      <a:r>
                        <a:t>POST</a:t>
                      </a:r>
                    </a:p>
                  </a:txBody>
                  <a:tcPr anchor="ctr" marL="118872" marR="91440" marT="54864" marB="54864">
                    <a:solidFill>
                      <a:srgbClr val="FFFFFF"/>
                    </a:solidFill>
                  </a:tcPr>
                </a:tc>
                <a:tc>
                  <a:txBody>
                    <a:bodyPr/>
                    <a:lstStyle/>
                    <a:p>
                      <a:pPr>
                        <a:defRPr sz="1400" b="0">
                          <a:solidFill>
                            <a:srgbClr val="172028"/>
                          </a:solidFill>
                          <a:latin typeface="Lato"/>
                        </a:defRPr>
                      </a:pPr>
                      <a:r>
                        <a:t>/api/leads/{id}/complete-test-drive/</a:t>
                      </a:r>
                    </a:p>
                  </a:txBody>
                  <a:tcPr anchor="ctr" marL="118872" marR="91440" marT="54864" marB="54864">
                    <a:solidFill>
                      <a:srgbClr val="FFFFFF"/>
                    </a:solidFill>
                  </a:tcPr>
                </a:tc>
                <a:tc>
                  <a:txBody>
                    <a:bodyPr/>
                    <a:lstStyle/>
                    <a:p>
                      <a:pPr>
                        <a:defRPr sz="1400" b="0">
                          <a:solidFill>
                            <a:srgbClr val="172028"/>
                          </a:solidFill>
                          <a:latin typeface="Lato"/>
                        </a:defRPr>
                      </a:pPr>
                      <a:r>
                        <a:t>Record completion once</a:t>
                      </a:r>
                    </a:p>
                  </a:txBody>
                  <a:tcPr anchor="ctr" marL="118872" marR="91440" marT="54864" marB="54864">
                    <a:solidFill>
                      <a:srgbClr val="FFFFFF"/>
                    </a:solidFill>
                  </a:tcPr>
                </a:tc>
              </a:tr>
              <a:tr h="402336">
                <a:tc>
                  <a:txBody>
                    <a:bodyPr/>
                    <a:lstStyle/>
                    <a:p>
                      <a:pPr>
                        <a:defRPr sz="1400" b="1">
                          <a:solidFill>
                            <a:srgbClr val="172028"/>
                          </a:solidFill>
                          <a:latin typeface="Lato"/>
                        </a:defRPr>
                      </a:pPr>
                      <a:r>
                        <a:t>POST</a:t>
                      </a:r>
                    </a:p>
                  </a:txBody>
                  <a:tcPr anchor="ctr" marL="118872" marR="91440" marT="54864" marB="54864">
                    <a:solidFill>
                      <a:srgbClr val="EAEDEB"/>
                    </a:solidFill>
                  </a:tcPr>
                </a:tc>
                <a:tc>
                  <a:txBody>
                    <a:bodyPr/>
                    <a:lstStyle/>
                    <a:p>
                      <a:pPr>
                        <a:defRPr sz="1400" b="0">
                          <a:solidFill>
                            <a:srgbClr val="172028"/>
                          </a:solidFill>
                          <a:latin typeface="Lato"/>
                        </a:defRPr>
                      </a:pPr>
                      <a:r>
                        <a:t>/api/uploads/{id}/commit/</a:t>
                      </a:r>
                    </a:p>
                  </a:txBody>
                  <a:tcPr anchor="ctr" marL="118872" marR="91440" marT="54864" marB="54864">
                    <a:solidFill>
                      <a:srgbClr val="EAEDEB"/>
                    </a:solidFill>
                  </a:tcPr>
                </a:tc>
                <a:tc>
                  <a:txBody>
                    <a:bodyPr/>
                    <a:lstStyle/>
                    <a:p>
                      <a:pPr>
                        <a:defRPr sz="1400" b="0">
                          <a:solidFill>
                            <a:srgbClr val="172028"/>
                          </a:solidFill>
                          <a:latin typeface="Lato"/>
                        </a:defRPr>
                      </a:pPr>
                      <a:r>
                        <a:t>Commit reviewed import rows</a:t>
                      </a:r>
                    </a:p>
                  </a:txBody>
                  <a:tcPr anchor="ctr" marL="118872" marR="91440" marT="54864" marB="54864">
                    <a:solidFill>
                      <a:srgbClr val="EAEDEB"/>
                    </a:solidFill>
                  </a:tcPr>
                </a:tc>
              </a:tr>
              <a:tr h="402336">
                <a:tc>
                  <a:txBody>
                    <a:bodyPr/>
                    <a:lstStyle/>
                    <a:p>
                      <a:pPr>
                        <a:defRPr sz="1400" b="1">
                          <a:solidFill>
                            <a:srgbClr val="172028"/>
                          </a:solidFill>
                          <a:latin typeface="Lato"/>
                        </a:defRPr>
                      </a:pPr>
                      <a:r>
                        <a:t>GET</a:t>
                      </a:r>
                    </a:p>
                  </a:txBody>
                  <a:tcPr anchor="ctr" marL="118872" marR="91440" marT="54864" marB="54864">
                    <a:solidFill>
                      <a:srgbClr val="FFFFFF"/>
                    </a:solidFill>
                  </a:tcPr>
                </a:tc>
                <a:tc>
                  <a:txBody>
                    <a:bodyPr/>
                    <a:lstStyle/>
                    <a:p>
                      <a:pPr>
                        <a:defRPr sz="1400" b="0">
                          <a:solidFill>
                            <a:srgbClr val="172028"/>
                          </a:solidFill>
                          <a:latin typeface="Lato"/>
                        </a:defRPr>
                      </a:pPr>
                      <a:r>
                        <a:t>/api/analytics/sales-manager/</a:t>
                      </a:r>
                    </a:p>
                  </a:txBody>
                  <a:tcPr anchor="ctr" marL="118872" marR="91440" marT="54864" marB="54864">
                    <a:solidFill>
                      <a:srgbClr val="FFFFFF"/>
                    </a:solidFill>
                  </a:tcPr>
                </a:tc>
                <a:tc>
                  <a:txBody>
                    <a:bodyPr/>
                    <a:lstStyle/>
                    <a:p>
                      <a:pPr>
                        <a:defRPr sz="1400" b="0">
                          <a:solidFill>
                            <a:srgbClr val="172028"/>
                          </a:solidFill>
                          <a:latin typeface="Lato"/>
                        </a:defRPr>
                      </a:pPr>
                      <a:r>
                        <a:t>Branch-scoped analytics</a:t>
                      </a:r>
                    </a:p>
                  </a:txBody>
                  <a:tcPr anchor="ctr" marL="118872" marR="91440" marT="54864" marB="54864">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TECHNICAL APPENDIX</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Additional entities and persistence choices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Operational records around the core Lead model.</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44</a:t>
            </a:r>
          </a:p>
        </p:txBody>
      </p:sp>
      <p:graphicFrame>
        <p:nvGraphicFramePr>
          <p:cNvPr id="9" name="Table 8"/>
          <p:cNvGraphicFramePr>
            <a:graphicFrameLocks noGrp="1"/>
          </p:cNvGraphicFramePr>
          <p:nvPr/>
        </p:nvGraphicFramePr>
        <p:xfrm>
          <a:off x="566928" y="2276856"/>
          <a:ext cx="11045952" cy="3218688"/>
        </p:xfrm>
        <a:graphic>
          <a:graphicData uri="http://schemas.openxmlformats.org/drawingml/2006/table">
            <a:tbl>
              <a:tblPr firstRow="1" bandRow="1">
                <a:tableStyleId>{5C22544A-7EE6-4342-B048-85BDC9FD1C3A}</a:tableStyleId>
              </a:tblPr>
              <a:tblGrid>
                <a:gridCol w="2862072"/>
                <a:gridCol w="4297680"/>
                <a:gridCol w="3886200"/>
              </a:tblGrid>
              <a:tr h="459812">
                <a:tc>
                  <a:txBody>
                    <a:bodyPr/>
                    <a:lstStyle/>
                    <a:p>
                      <a:pPr>
                        <a:defRPr sz="1500" b="1">
                          <a:solidFill>
                            <a:srgbClr val="FFFFFF"/>
                          </a:solidFill>
                          <a:latin typeface="Lato"/>
                        </a:defRPr>
                      </a:pPr>
                      <a:r>
                        <a:t>Entity</a:t>
                      </a:r>
                    </a:p>
                  </a:txBody>
                  <a:tcPr anchor="ctr" marL="118872" marR="91440" marT="54864" marB="54864">
                    <a:solidFill>
                      <a:srgbClr val="172028"/>
                    </a:solidFill>
                  </a:tcPr>
                </a:tc>
                <a:tc>
                  <a:txBody>
                    <a:bodyPr/>
                    <a:lstStyle/>
                    <a:p>
                      <a:pPr>
                        <a:defRPr sz="1500" b="1">
                          <a:solidFill>
                            <a:srgbClr val="FFFFFF"/>
                          </a:solidFill>
                          <a:latin typeface="Lato"/>
                        </a:defRPr>
                      </a:pPr>
                      <a:r>
                        <a:t>Key relationships / fields</a:t>
                      </a:r>
                    </a:p>
                  </a:txBody>
                  <a:tcPr anchor="ctr" marL="118872" marR="91440" marT="54864" marB="54864">
                    <a:solidFill>
                      <a:srgbClr val="172028"/>
                    </a:solidFill>
                  </a:tcPr>
                </a:tc>
                <a:tc>
                  <a:txBody>
                    <a:bodyPr/>
                    <a:lstStyle/>
                    <a:p>
                      <a:pPr>
                        <a:defRPr sz="1500" b="1">
                          <a:solidFill>
                            <a:srgbClr val="FFFFFF"/>
                          </a:solidFill>
                          <a:latin typeface="Lato"/>
                        </a:defRPr>
                      </a:pPr>
                      <a:r>
                        <a:t>Why it exists</a:t>
                      </a:r>
                    </a:p>
                  </a:txBody>
                  <a:tcPr anchor="ctr" marL="118872" marR="91440" marT="54864" marB="54864">
                    <a:solidFill>
                      <a:srgbClr val="172028"/>
                    </a:solidFill>
                  </a:tcPr>
                </a:tc>
              </a:tr>
              <a:tr h="459812">
                <a:tc>
                  <a:txBody>
                    <a:bodyPr/>
                    <a:lstStyle/>
                    <a:p>
                      <a:pPr>
                        <a:defRPr sz="1500" b="1">
                          <a:solidFill>
                            <a:srgbClr val="172028"/>
                          </a:solidFill>
                          <a:latin typeface="Lato"/>
                        </a:defRPr>
                      </a:pPr>
                      <a:r>
                        <a:t>UploadBatch → UploadRow</a:t>
                      </a:r>
                    </a:p>
                  </a:txBody>
                  <a:tcPr anchor="ctr" marL="118872" marR="91440" marT="54864" marB="54864">
                    <a:solidFill>
                      <a:srgbClr val="FFFFFF"/>
                    </a:solidFill>
                  </a:tcPr>
                </a:tc>
                <a:tc>
                  <a:txBody>
                    <a:bodyPr/>
                    <a:lstStyle/>
                    <a:p>
                      <a:pPr>
                        <a:defRPr sz="1500" b="0">
                          <a:solidFill>
                            <a:srgbClr val="172028"/>
                          </a:solidFill>
                          <a:latin typeface="Lato"/>
                        </a:defRPr>
                      </a:pPr>
                      <a:r>
                        <a:t>One batch has many staged rows</a:t>
                      </a:r>
                    </a:p>
                  </a:txBody>
                  <a:tcPr anchor="ctr" marL="118872" marR="91440" marT="54864" marB="54864">
                    <a:solidFill>
                      <a:srgbClr val="FFFFFF"/>
                    </a:solidFill>
                  </a:tcPr>
                </a:tc>
                <a:tc>
                  <a:txBody>
                    <a:bodyPr/>
                    <a:lstStyle/>
                    <a:p>
                      <a:pPr>
                        <a:defRPr sz="1500" b="0">
                          <a:solidFill>
                            <a:srgbClr val="172028"/>
                          </a:solidFill>
                          <a:latin typeface="Lato"/>
                        </a:defRPr>
                      </a:pPr>
                      <a:r>
                        <a:t>Review validation and duplicate results</a:t>
                      </a:r>
                    </a:p>
                  </a:txBody>
                  <a:tcPr anchor="ctr" marL="118872" marR="91440" marT="54864" marB="54864">
                    <a:solidFill>
                      <a:srgbClr val="FFFFFF"/>
                    </a:solidFill>
                  </a:tcPr>
                </a:tc>
              </a:tr>
              <a:tr h="459812">
                <a:tc>
                  <a:txBody>
                    <a:bodyPr/>
                    <a:lstStyle/>
                    <a:p>
                      <a:pPr>
                        <a:defRPr sz="1500" b="1">
                          <a:solidFill>
                            <a:srgbClr val="172028"/>
                          </a:solidFill>
                          <a:latin typeface="Lato"/>
                        </a:defRPr>
                      </a:pPr>
                      <a:r>
                        <a:t>Complaint → ComplaintNote</a:t>
                      </a:r>
                    </a:p>
                  </a:txBody>
                  <a:tcPr anchor="ctr" marL="118872" marR="91440" marT="54864" marB="54864">
                    <a:solidFill>
                      <a:srgbClr val="EAEDEB"/>
                    </a:solidFill>
                  </a:tcPr>
                </a:tc>
                <a:tc>
                  <a:txBody>
                    <a:bodyPr/>
                    <a:lstStyle/>
                    <a:p>
                      <a:pPr>
                        <a:defRPr sz="1500" b="0">
                          <a:solidFill>
                            <a:srgbClr val="172028"/>
                          </a:solidFill>
                          <a:latin typeface="Lato"/>
                        </a:defRPr>
                      </a:pPr>
                      <a:r>
                        <a:t>One ticket has many notes</a:t>
                      </a:r>
                    </a:p>
                  </a:txBody>
                  <a:tcPr anchor="ctr" marL="118872" marR="91440" marT="54864" marB="54864">
                    <a:solidFill>
                      <a:srgbClr val="EAEDEB"/>
                    </a:solidFill>
                  </a:tcPr>
                </a:tc>
                <a:tc>
                  <a:txBody>
                    <a:bodyPr/>
                    <a:lstStyle/>
                    <a:p>
                      <a:pPr>
                        <a:defRPr sz="1500" b="0">
                          <a:solidFill>
                            <a:srgbClr val="172028"/>
                          </a:solidFill>
                          <a:latin typeface="Lato"/>
                        </a:defRPr>
                      </a:pPr>
                      <a:r>
                        <a:t>Keep investigation discussion</a:t>
                      </a:r>
                    </a:p>
                  </a:txBody>
                  <a:tcPr anchor="ctr" marL="118872" marR="91440" marT="54864" marB="54864">
                    <a:solidFill>
                      <a:srgbClr val="EAEDEB"/>
                    </a:solidFill>
                  </a:tcPr>
                </a:tc>
              </a:tr>
              <a:tr h="459812">
                <a:tc>
                  <a:txBody>
                    <a:bodyPr/>
                    <a:lstStyle/>
                    <a:p>
                      <a:pPr>
                        <a:defRPr sz="1500" b="1">
                          <a:solidFill>
                            <a:srgbClr val="172028"/>
                          </a:solidFill>
                          <a:latin typeface="Lato"/>
                        </a:defRPr>
                      </a:pPr>
                      <a:r>
                        <a:t>Notification</a:t>
                      </a:r>
                    </a:p>
                  </a:txBody>
                  <a:tcPr anchor="ctr" marL="118872" marR="91440" marT="54864" marB="54864">
                    <a:solidFill>
                      <a:srgbClr val="FFFFFF"/>
                    </a:solidFill>
                  </a:tcPr>
                </a:tc>
                <a:tc>
                  <a:txBody>
                    <a:bodyPr/>
                    <a:lstStyle/>
                    <a:p>
                      <a:pPr>
                        <a:defRPr sz="1500" b="0">
                          <a:solidFill>
                            <a:srgbClr val="172028"/>
                          </a:solidFill>
                          <a:latin typeface="Lato"/>
                        </a:defRPr>
                      </a:pPr>
                      <a:r>
                        <a:t>User; optional Lead; read_at</a:t>
                      </a:r>
                    </a:p>
                  </a:txBody>
                  <a:tcPr anchor="ctr" marL="118872" marR="91440" marT="54864" marB="54864">
                    <a:solidFill>
                      <a:srgbClr val="FFFFFF"/>
                    </a:solidFill>
                  </a:tcPr>
                </a:tc>
                <a:tc>
                  <a:txBody>
                    <a:bodyPr/>
                    <a:lstStyle/>
                    <a:p>
                      <a:pPr>
                        <a:defRPr sz="1500" b="0">
                          <a:solidFill>
                            <a:srgbClr val="172028"/>
                          </a:solidFill>
                          <a:latin typeface="Lato"/>
                        </a:defRPr>
                      </a:pPr>
                      <a:r>
                        <a:t>Persist assignment and follow-up messages</a:t>
                      </a:r>
                    </a:p>
                  </a:txBody>
                  <a:tcPr anchor="ctr" marL="118872" marR="91440" marT="54864" marB="54864">
                    <a:solidFill>
                      <a:srgbClr val="FFFFFF"/>
                    </a:solidFill>
                  </a:tcPr>
                </a:tc>
              </a:tr>
              <a:tr h="459812">
                <a:tc>
                  <a:txBody>
                    <a:bodyPr/>
                    <a:lstStyle/>
                    <a:p>
                      <a:pPr>
                        <a:defRPr sz="1500" b="1">
                          <a:solidFill>
                            <a:srgbClr val="172028"/>
                          </a:solidFill>
                          <a:latin typeface="Lato"/>
                        </a:defRPr>
                      </a:pPr>
                      <a:r>
                        <a:t>UserLifecycleEvent</a:t>
                      </a:r>
                    </a:p>
                  </a:txBody>
                  <a:tcPr anchor="ctr" marL="118872" marR="91440" marT="54864" marB="54864">
                    <a:solidFill>
                      <a:srgbClr val="EAEDEB"/>
                    </a:solidFill>
                  </a:tcPr>
                </a:tc>
                <a:tc>
                  <a:txBody>
                    <a:bodyPr/>
                    <a:lstStyle/>
                    <a:p>
                      <a:pPr>
                        <a:defRPr sz="1500" b="0">
                          <a:solidFill>
                            <a:srgbClr val="172028"/>
                          </a:solidFill>
                          <a:latin typeface="Lato"/>
                        </a:defRPr>
                      </a:pPr>
                      <a:r>
                        <a:t>User, actor, reason and JSON summary</a:t>
                      </a:r>
                    </a:p>
                  </a:txBody>
                  <a:tcPr anchor="ctr" marL="118872" marR="91440" marT="54864" marB="54864">
                    <a:solidFill>
                      <a:srgbClr val="EAEDEB"/>
                    </a:solidFill>
                  </a:tcPr>
                </a:tc>
                <a:tc>
                  <a:txBody>
                    <a:bodyPr/>
                    <a:lstStyle/>
                    <a:p>
                      <a:pPr>
                        <a:defRPr sz="1500" b="0">
                          <a:solidFill>
                            <a:srgbClr val="172028"/>
                          </a:solidFill>
                          <a:latin typeface="Lato"/>
                        </a:defRPr>
                      </a:pPr>
                      <a:r>
                        <a:t>Retain disable/enable/delete history</a:t>
                      </a:r>
                    </a:p>
                  </a:txBody>
                  <a:tcPr anchor="ctr" marL="118872" marR="91440" marT="54864" marB="54864">
                    <a:solidFill>
                      <a:srgbClr val="EAEDEB"/>
                    </a:solidFill>
                  </a:tcPr>
                </a:tc>
              </a:tr>
              <a:tr h="459812">
                <a:tc>
                  <a:txBody>
                    <a:bodyPr/>
                    <a:lstStyle/>
                    <a:p>
                      <a:pPr>
                        <a:defRPr sz="1500" b="1">
                          <a:solidFill>
                            <a:srgbClr val="172028"/>
                          </a:solidFill>
                          <a:latin typeface="Lato"/>
                        </a:defRPr>
                      </a:pPr>
                      <a:r>
                        <a:t>SystemConfig</a:t>
                      </a:r>
                    </a:p>
                  </a:txBody>
                  <a:tcPr anchor="ctr" marL="118872" marR="91440" marT="54864" marB="54864">
                    <a:solidFill>
                      <a:srgbClr val="FFFFFF"/>
                    </a:solidFill>
                  </a:tcPr>
                </a:tc>
                <a:tc>
                  <a:txBody>
                    <a:bodyPr/>
                    <a:lstStyle/>
                    <a:p>
                      <a:pPr>
                        <a:defRPr sz="1500" b="0">
                          <a:solidFill>
                            <a:srgbClr val="172028"/>
                          </a:solidFill>
                          <a:latin typeface="Lato"/>
                        </a:defRPr>
                      </a:pPr>
                      <a:r>
                        <a:t>JSON lists and updated_at</a:t>
                      </a:r>
                    </a:p>
                  </a:txBody>
                  <a:tcPr anchor="ctr" marL="118872" marR="91440" marT="54864" marB="54864">
                    <a:solidFill>
                      <a:srgbClr val="FFFFFF"/>
                    </a:solidFill>
                  </a:tcPr>
                </a:tc>
                <a:tc>
                  <a:txBody>
                    <a:bodyPr/>
                    <a:lstStyle/>
                    <a:p>
                      <a:pPr>
                        <a:defRPr sz="1500" b="0">
                          <a:solidFill>
                            <a:srgbClr val="172028"/>
                          </a:solidFill>
                          <a:latin typeface="Lato"/>
                        </a:defRPr>
                      </a:pPr>
                      <a:r>
                        <a:t>Manage sources, models and activity hierarchy</a:t>
                      </a:r>
                    </a:p>
                  </a:txBody>
                  <a:tcPr anchor="ctr" marL="118872" marR="91440" marT="54864" marB="54864">
                    <a:solidFill>
                      <a:srgbClr val="FFFFFF"/>
                    </a:solidFill>
                  </a:tcPr>
                </a:tc>
              </a:tr>
              <a:tr h="459816">
                <a:tc>
                  <a:txBody>
                    <a:bodyPr/>
                    <a:lstStyle/>
                    <a:p>
                      <a:pPr>
                        <a:defRPr sz="1500" b="1">
                          <a:solidFill>
                            <a:srgbClr val="172028"/>
                          </a:solidFill>
                          <a:latin typeface="Lato"/>
                        </a:defRPr>
                      </a:pPr>
                      <a:r>
                        <a:t>LeadAudit</a:t>
                      </a:r>
                    </a:p>
                  </a:txBody>
                  <a:tcPr anchor="ctr" marL="118872" marR="91440" marT="54864" marB="54864">
                    <a:solidFill>
                      <a:srgbClr val="EAEDEB"/>
                    </a:solidFill>
                  </a:tcPr>
                </a:tc>
                <a:tc>
                  <a:txBody>
                    <a:bodyPr/>
                    <a:lstStyle/>
                    <a:p>
                      <a:pPr>
                        <a:defRPr sz="1500" b="0">
                          <a:solidFill>
                            <a:srgbClr val="172028"/>
                          </a:solidFill>
                          <a:latin typeface="Lato"/>
                        </a:defRPr>
                      </a:pPr>
                      <a:r>
                        <a:t>Lead, actor, before and after JSON</a:t>
                      </a:r>
                    </a:p>
                  </a:txBody>
                  <a:tcPr anchor="ctr" marL="118872" marR="91440" marT="54864" marB="54864">
                    <a:solidFill>
                      <a:srgbClr val="EAEDEB"/>
                    </a:solidFill>
                  </a:tcPr>
                </a:tc>
                <a:tc>
                  <a:txBody>
                    <a:bodyPr/>
                    <a:lstStyle/>
                    <a:p>
                      <a:pPr>
                        <a:defRPr sz="1500" b="0">
                          <a:solidFill>
                            <a:srgbClr val="172028"/>
                          </a:solidFill>
                          <a:latin typeface="Lato"/>
                        </a:defRPr>
                      </a:pPr>
                      <a:r>
                        <a:t>Explain who changed customer workflow data</a:t>
                      </a:r>
                    </a:p>
                  </a:txBody>
                  <a:tcPr anchor="ctr" marL="118872" marR="91440" marT="54864" marB="54864">
                    <a:solidFill>
                      <a:srgbClr val="EAEDEB"/>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TECHNICAL APPENDIX</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Technical viva: likely questions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Short answers to rehearse, with implementation-specific distinctions.</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45</a:t>
            </a:r>
          </a:p>
        </p:txBody>
      </p:sp>
      <p:graphicFrame>
        <p:nvGraphicFramePr>
          <p:cNvPr id="9" name="Table 8"/>
          <p:cNvGraphicFramePr>
            <a:graphicFrameLocks noGrp="1"/>
          </p:cNvGraphicFramePr>
          <p:nvPr/>
        </p:nvGraphicFramePr>
        <p:xfrm>
          <a:off x="566928" y="2276856"/>
          <a:ext cx="11045952" cy="3218688"/>
        </p:xfrm>
        <a:graphic>
          <a:graphicData uri="http://schemas.openxmlformats.org/drawingml/2006/table">
            <a:tbl>
              <a:tblPr firstRow="1" bandRow="1">
                <a:tableStyleId>{5C22544A-7EE6-4342-B048-85BDC9FD1C3A}</a:tableStyleId>
              </a:tblPr>
              <a:tblGrid>
                <a:gridCol w="3566160"/>
                <a:gridCol w="7479792"/>
              </a:tblGrid>
              <a:tr h="459812">
                <a:tc>
                  <a:txBody>
                    <a:bodyPr/>
                    <a:lstStyle/>
                    <a:p>
                      <a:pPr>
                        <a:defRPr sz="1500" b="1">
                          <a:solidFill>
                            <a:srgbClr val="FFFFFF"/>
                          </a:solidFill>
                          <a:latin typeface="Lato"/>
                        </a:defRPr>
                      </a:pPr>
                      <a:r>
                        <a:t>Question</a:t>
                      </a:r>
                    </a:p>
                  </a:txBody>
                  <a:tcPr anchor="ctr" marL="118872" marR="91440" marT="54864" marB="54864">
                    <a:solidFill>
                      <a:srgbClr val="172028"/>
                    </a:solidFill>
                  </a:tcPr>
                </a:tc>
                <a:tc>
                  <a:txBody>
                    <a:bodyPr/>
                    <a:lstStyle/>
                    <a:p>
                      <a:pPr>
                        <a:defRPr sz="1500" b="1">
                          <a:solidFill>
                            <a:srgbClr val="FFFFFF"/>
                          </a:solidFill>
                          <a:latin typeface="Lato"/>
                        </a:defRPr>
                      </a:pPr>
                      <a:r>
                        <a:t>Answer to develop</a:t>
                      </a:r>
                    </a:p>
                  </a:txBody>
                  <a:tcPr anchor="ctr" marL="118872" marR="91440" marT="54864" marB="54864">
                    <a:solidFill>
                      <a:srgbClr val="172028"/>
                    </a:solidFill>
                  </a:tcPr>
                </a:tc>
              </a:tr>
              <a:tr h="459812">
                <a:tc>
                  <a:txBody>
                    <a:bodyPr/>
                    <a:lstStyle/>
                    <a:p>
                      <a:pPr>
                        <a:defRPr sz="1500" b="1">
                          <a:solidFill>
                            <a:srgbClr val="172028"/>
                          </a:solidFill>
                          <a:latin typeface="Lato"/>
                        </a:defRPr>
                      </a:pPr>
                      <a:r>
                        <a:t>Why separate frontend and API?</a:t>
                      </a:r>
                    </a:p>
                  </a:txBody>
                  <a:tcPr anchor="ctr" marL="118872" marR="91440" marT="54864" marB="54864">
                    <a:solidFill>
                      <a:srgbClr val="FFFFFF"/>
                    </a:solidFill>
                  </a:tcPr>
                </a:tc>
                <a:tc>
                  <a:txBody>
                    <a:bodyPr/>
                    <a:lstStyle/>
                    <a:p>
                      <a:pPr>
                        <a:defRPr sz="1500" b="0">
                          <a:solidFill>
                            <a:srgbClr val="172028"/>
                          </a:solidFill>
                          <a:latin typeface="Lato"/>
                        </a:defRPr>
                      </a:pPr>
                      <a:r>
                        <a:t>Role-specific UI stays separate from shared validation and authorisation.</a:t>
                      </a:r>
                    </a:p>
                  </a:txBody>
                  <a:tcPr anchor="ctr" marL="118872" marR="91440" marT="54864" marB="54864">
                    <a:solidFill>
                      <a:srgbClr val="FFFFFF"/>
                    </a:solidFill>
                  </a:tcPr>
                </a:tc>
              </a:tr>
              <a:tr h="459812">
                <a:tc>
                  <a:txBody>
                    <a:bodyPr/>
                    <a:lstStyle/>
                    <a:p>
                      <a:pPr>
                        <a:defRPr sz="1500" b="1">
                          <a:solidFill>
                            <a:srgbClr val="172028"/>
                          </a:solidFill>
                          <a:latin typeface="Lato"/>
                        </a:defRPr>
                      </a:pPr>
                      <a:r>
                        <a:t>Why a relational database?</a:t>
                      </a:r>
                    </a:p>
                  </a:txBody>
                  <a:tcPr anchor="ctr" marL="118872" marR="91440" marT="54864" marB="54864">
                    <a:solidFill>
                      <a:srgbClr val="EAEDEB"/>
                    </a:solidFill>
                  </a:tcPr>
                </a:tc>
                <a:tc>
                  <a:txBody>
                    <a:bodyPr/>
                    <a:lstStyle/>
                    <a:p>
                      <a:pPr>
                        <a:defRPr sz="1500" b="0">
                          <a:solidFill>
                            <a:srgbClr val="172028"/>
                          </a:solidFill>
                          <a:latin typeface="Lato"/>
                        </a:defRPr>
                      </a:pPr>
                      <a:r>
                        <a:t>Ownership, calls, follow-ups and tickets have explicit relationships and transactional updates.</a:t>
                      </a:r>
                    </a:p>
                  </a:txBody>
                  <a:tcPr anchor="ctr" marL="118872" marR="91440" marT="54864" marB="54864">
                    <a:solidFill>
                      <a:srgbClr val="EAEDEB"/>
                    </a:solidFill>
                  </a:tcPr>
                </a:tc>
              </a:tr>
              <a:tr h="459812">
                <a:tc>
                  <a:txBody>
                    <a:bodyPr/>
                    <a:lstStyle/>
                    <a:p>
                      <a:pPr>
                        <a:defRPr sz="1500" b="1">
                          <a:solidFill>
                            <a:srgbClr val="172028"/>
                          </a:solidFill>
                          <a:latin typeface="Lato"/>
                        </a:defRPr>
                      </a:pPr>
                      <a:r>
                        <a:t>Why two lead owners?</a:t>
                      </a:r>
                    </a:p>
                  </a:txBody>
                  <a:tcPr anchor="ctr" marL="118872" marR="91440" marT="54864" marB="54864">
                    <a:solidFill>
                      <a:srgbClr val="FFFFFF"/>
                    </a:solidFill>
                  </a:tcPr>
                </a:tc>
                <a:tc>
                  <a:txBody>
                    <a:bodyPr/>
                    <a:lstStyle/>
                    <a:p>
                      <a:pPr>
                        <a:defRPr sz="1500" b="0">
                          <a:solidFill>
                            <a:srgbClr val="172028"/>
                          </a:solidFill>
                          <a:latin typeface="Lato"/>
                        </a:defRPr>
                      </a:pPr>
                      <a:r>
                        <a:t>The CE relationship remains while PS/SO takes responsibility for the sales stage.</a:t>
                      </a:r>
                    </a:p>
                  </a:txBody>
                  <a:tcPr anchor="ctr" marL="118872" marR="91440" marT="54864" marB="54864">
                    <a:solidFill>
                      <a:srgbClr val="FFFFFF"/>
                    </a:solidFill>
                  </a:tcPr>
                </a:tc>
              </a:tr>
              <a:tr h="459812">
                <a:tc>
                  <a:txBody>
                    <a:bodyPr/>
                    <a:lstStyle/>
                    <a:p>
                      <a:pPr>
                        <a:defRPr sz="1500" b="1">
                          <a:solidFill>
                            <a:srgbClr val="172028"/>
                          </a:solidFill>
                          <a:latin typeface="Lato"/>
                        </a:defRPr>
                      </a:pPr>
                      <a:r>
                        <a:t>How do you prevent duplicates?</a:t>
                      </a:r>
                    </a:p>
                  </a:txBody>
                  <a:tcPr anchor="ctr" marL="118872" marR="91440" marT="54864" marB="54864">
                    <a:solidFill>
                      <a:srgbClr val="EAEDEB"/>
                    </a:solidFill>
                  </a:tcPr>
                </a:tc>
                <a:tc>
                  <a:txBody>
                    <a:bodyPr/>
                    <a:lstStyle/>
                    <a:p>
                      <a:pPr>
                        <a:defRPr sz="1500" b="0">
                          <a:solidFill>
                            <a:srgbClr val="172028"/>
                          </a:solidFill>
                          <a:latin typeface="Lato"/>
                        </a:defRPr>
                      </a:pPr>
                      <a:r>
                        <a:t>Import parsing skips repeated phones; manual entry has no unique-phone constraint.</a:t>
                      </a:r>
                    </a:p>
                  </a:txBody>
                  <a:tcPr anchor="ctr" marL="118872" marR="91440" marT="54864" marB="54864">
                    <a:solidFill>
                      <a:srgbClr val="EAEDEB"/>
                    </a:solidFill>
                  </a:tcPr>
                </a:tc>
              </a:tr>
              <a:tr h="459812">
                <a:tc>
                  <a:txBody>
                    <a:bodyPr/>
                    <a:lstStyle/>
                    <a:p>
                      <a:pPr>
                        <a:defRPr sz="1500" b="1">
                          <a:solidFill>
                            <a:srgbClr val="172028"/>
                          </a:solidFill>
                          <a:latin typeface="Lato"/>
                        </a:defRPr>
                      </a:pPr>
                      <a:r>
                        <a:t>What makes a repeated action safe?</a:t>
                      </a:r>
                    </a:p>
                  </a:txBody>
                  <a:tcPr anchor="ctr" marL="118872" marR="91440" marT="54864" marB="54864">
                    <a:solidFill>
                      <a:srgbClr val="FFFFFF"/>
                    </a:solidFill>
                  </a:tcPr>
                </a:tc>
                <a:tc>
                  <a:txBody>
                    <a:bodyPr/>
                    <a:lstStyle/>
                    <a:p>
                      <a:pPr>
                        <a:defRPr sz="1500" b="0">
                          <a:solidFill>
                            <a:srgbClr val="172028"/>
                          </a:solidFill>
                          <a:latin typeface="Lato"/>
                        </a:defRPr>
                      </a:pPr>
                      <a:r>
                        <a:t>Test-drive completion locks the lead and writes its timestamp/audit only once.</a:t>
                      </a:r>
                    </a:p>
                  </a:txBody>
                  <a:tcPr anchor="ctr" marL="118872" marR="91440" marT="54864" marB="54864">
                    <a:solidFill>
                      <a:srgbClr val="FFFFFF"/>
                    </a:solidFill>
                  </a:tcPr>
                </a:tc>
              </a:tr>
              <a:tr h="459816">
                <a:tc>
                  <a:txBody>
                    <a:bodyPr/>
                    <a:lstStyle/>
                    <a:p>
                      <a:pPr>
                        <a:defRPr sz="1500" b="1">
                          <a:solidFill>
                            <a:srgbClr val="172028"/>
                          </a:solidFill>
                          <a:latin typeface="Lato"/>
                        </a:defRPr>
                      </a:pPr>
                      <a:r>
                        <a:t>Are reminders live?</a:t>
                      </a:r>
                    </a:p>
                  </a:txBody>
                  <a:tcPr anchor="ctr" marL="118872" marR="91440" marT="54864" marB="54864">
                    <a:solidFill>
                      <a:srgbClr val="EAEDEB"/>
                    </a:solidFill>
                  </a:tcPr>
                </a:tc>
                <a:tc>
                  <a:txBody>
                    <a:bodyPr/>
                    <a:lstStyle/>
                    <a:p>
                      <a:pPr>
                        <a:defRPr sz="1500" b="0">
                          <a:solidFill>
                            <a:srgbClr val="172028"/>
                          </a:solidFill>
                          <a:latin typeface="Lato"/>
                        </a:defRPr>
                      </a:pPr>
                      <a:r>
                        <a:t>Tasks and a schedule exist; the checked-in Render service needs separate scheduling verification.</a:t>
                      </a:r>
                    </a:p>
                  </a:txBody>
                  <a:tcPr anchor="ctr" marL="118872" marR="91440" marT="54864" marB="54864">
                    <a:solidFill>
                      <a:srgbClr val="EAEDEB"/>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8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38328"/>
            <a:ext cx="10058400" cy="274320"/>
          </a:xfrm>
          <a:prstGeom prst="rect">
            <a:avLst/>
          </a:prstGeom>
          <a:noFill/>
        </p:spPr>
        <p:txBody>
          <a:bodyPr wrap="square" lIns="0" rIns="0" tIns="0" bIns="0">
            <a:spAutoFit/>
          </a:bodyPr>
          <a:lstStyle/>
          <a:p>
            <a:pPr>
              <a:spcAft>
                <a:spcPts val="700"/>
              </a:spcAft>
              <a:defRPr sz="1100" b="1">
                <a:solidFill>
                  <a:srgbClr val="C8202F"/>
                </a:solidFill>
                <a:latin typeface="Lato"/>
              </a:defRPr>
            </a:pPr>
            <a:r>
              <a:t>SOURCES</a:t>
            </a:r>
          </a:p>
        </p:txBody>
      </p:sp>
      <p:sp>
        <p:nvSpPr>
          <p:cNvPr id="4" name="TextBox 3"/>
          <p:cNvSpPr txBox="1"/>
          <p:nvPr/>
        </p:nvSpPr>
        <p:spPr>
          <a:xfrm>
            <a:off x="548640" y="868680"/>
            <a:ext cx="11109960" cy="566928"/>
          </a:xfrm>
          <a:prstGeom prst="rect">
            <a:avLst/>
          </a:prstGeom>
          <a:noFill/>
        </p:spPr>
        <p:txBody>
          <a:bodyPr wrap="square" lIns="0" rIns="0" tIns="0" bIns="0">
            <a:spAutoFit/>
          </a:bodyPr>
          <a:lstStyle/>
          <a:p>
            <a:pPr>
              <a:spcAft>
                <a:spcPts val="700"/>
              </a:spcAft>
              <a:defRPr sz="3100" b="1">
                <a:solidFill>
                  <a:srgbClr val="172028"/>
                </a:solidFill>
                <a:latin typeface="Lato"/>
              </a:defRPr>
            </a:pPr>
            <a:r>
              <a:t>References and photo credits</a:t>
            </a:r>
          </a:p>
        </p:txBody>
      </p:sp>
      <p:sp>
        <p:nvSpPr>
          <p:cNvPr id="5" name="TextBox 4"/>
          <p:cNvSpPr txBox="1"/>
          <p:nvPr/>
        </p:nvSpPr>
        <p:spPr>
          <a:xfrm>
            <a:off x="566928" y="1572768"/>
            <a:ext cx="10972800" cy="530352"/>
          </a:xfrm>
          <a:prstGeom prst="rect">
            <a:avLst/>
          </a:prstGeom>
          <a:noFill/>
        </p:spPr>
        <p:txBody>
          <a:bodyPr wrap="square" lIns="0" rIns="0" tIns="0" bIns="0">
            <a:spAutoFit/>
          </a:bodyPr>
          <a:lstStyle/>
          <a:p>
            <a:pPr>
              <a:spcAft>
                <a:spcPts val="700"/>
              </a:spcAft>
              <a:defRPr sz="1600" b="0">
                <a:solidFill>
                  <a:srgbClr val="59636A"/>
                </a:solidFill>
                <a:latin typeface="Lato"/>
              </a:defRPr>
            </a:pPr>
            <a:r>
              <a:t>Company sources accessed 11 September 2026; technical content reviewed from the local repository.</a:t>
            </a:r>
          </a:p>
        </p:txBody>
      </p:sp>
      <p:cxnSp>
        <p:nvCxnSpPr>
          <p:cNvPr id="6" name="Connector 5"/>
          <p:cNvCxnSpPr/>
          <p:nvPr/>
        </p:nvCxnSpPr>
        <p:spPr>
          <a:xfrm>
            <a:off x="548640" y="6318504"/>
            <a:ext cx="11082528" cy="0"/>
          </a:xfrm>
          <a:prstGeom prst="line">
            <a:avLst/>
          </a:prstGeom>
          <a:ln w="12700">
            <a:solidFill>
              <a:srgbClr val="DADD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510528"/>
            <a:ext cx="9144000" cy="182880"/>
          </a:xfrm>
          <a:prstGeom prst="rect">
            <a:avLst/>
          </a:prstGeom>
          <a:noFill/>
        </p:spPr>
        <p:txBody>
          <a:bodyPr wrap="square" lIns="0" rIns="0" tIns="0" bIns="0">
            <a:spAutoFit/>
          </a:bodyPr>
          <a:lstStyle/>
          <a:p>
            <a:pPr>
              <a:spcAft>
                <a:spcPts val="700"/>
              </a:spcAft>
              <a:defRPr sz="900" b="0">
                <a:solidFill>
                  <a:srgbClr val="59636A"/>
                </a:solidFill>
                <a:latin typeface="Lato"/>
              </a:defRPr>
            </a:pPr>
            <a:r>
              <a:t>NIPPON TOYOTA  /  KALAMASSERY  /  INTERNSHIP</a:t>
            </a:r>
          </a:p>
        </p:txBody>
      </p:sp>
      <p:sp>
        <p:nvSpPr>
          <p:cNvPr id="8" name="TextBox 7"/>
          <p:cNvSpPr txBox="1"/>
          <p:nvPr/>
        </p:nvSpPr>
        <p:spPr>
          <a:xfrm>
            <a:off x="10991088" y="6446520"/>
            <a:ext cx="594360" cy="274320"/>
          </a:xfrm>
          <a:prstGeom prst="rect">
            <a:avLst/>
          </a:prstGeom>
          <a:noFill/>
        </p:spPr>
        <p:txBody>
          <a:bodyPr wrap="square" lIns="0" rIns="0" tIns="0" bIns="0">
            <a:spAutoFit/>
          </a:bodyPr>
          <a:lstStyle/>
          <a:p>
            <a:pPr algn="ctr">
              <a:spcAft>
                <a:spcPts val="700"/>
              </a:spcAft>
              <a:defRPr sz="1300" b="1">
                <a:solidFill>
                  <a:srgbClr val="C8202F"/>
                </a:solidFill>
                <a:latin typeface="Lato"/>
              </a:defRPr>
            </a:pPr>
            <a:r>
              <a:t>46</a:t>
            </a:r>
          </a:p>
        </p:txBody>
      </p:sp>
      <p:graphicFrame>
        <p:nvGraphicFramePr>
          <p:cNvPr id="9" name="Table 8"/>
          <p:cNvGraphicFramePr>
            <a:graphicFrameLocks noGrp="1"/>
          </p:cNvGraphicFramePr>
          <p:nvPr/>
        </p:nvGraphicFramePr>
        <p:xfrm>
          <a:off x="566928" y="2276856"/>
          <a:ext cx="11045952" cy="3218688"/>
        </p:xfrm>
        <a:graphic>
          <a:graphicData uri="http://schemas.openxmlformats.org/drawingml/2006/table">
            <a:tbl>
              <a:tblPr firstRow="1" bandRow="1">
                <a:tableStyleId>{5C22544A-7EE6-4342-B048-85BDC9FD1C3A}</a:tableStyleId>
              </a:tblPr>
              <a:tblGrid>
                <a:gridCol w="4892040"/>
                <a:gridCol w="6153912"/>
              </a:tblGrid>
              <a:tr h="459812">
                <a:tc>
                  <a:txBody>
                    <a:bodyPr/>
                    <a:lstStyle/>
                    <a:p>
                      <a:pPr>
                        <a:defRPr sz="1500" b="1">
                          <a:solidFill>
                            <a:srgbClr val="FFFFFF"/>
                          </a:solidFill>
                          <a:latin typeface="Lato"/>
                        </a:defRPr>
                      </a:pPr>
                      <a:r>
                        <a:t>Source</a:t>
                      </a:r>
                    </a:p>
                  </a:txBody>
                  <a:tcPr anchor="ctr" marL="118872" marR="91440" marT="54864" marB="54864">
                    <a:solidFill>
                      <a:srgbClr val="172028"/>
                    </a:solidFill>
                  </a:tcPr>
                </a:tc>
                <a:tc>
                  <a:txBody>
                    <a:bodyPr/>
                    <a:lstStyle/>
                    <a:p>
                      <a:pPr>
                        <a:defRPr sz="1500" b="1">
                          <a:solidFill>
                            <a:srgbClr val="FFFFFF"/>
                          </a:solidFill>
                          <a:latin typeface="Lato"/>
                        </a:defRPr>
                      </a:pPr>
                      <a:r>
                        <a:t>What it supports</a:t>
                      </a:r>
                    </a:p>
                  </a:txBody>
                  <a:tcPr anchor="ctr" marL="118872" marR="91440" marT="54864" marB="54864">
                    <a:solidFill>
                      <a:srgbClr val="172028"/>
                    </a:solidFill>
                  </a:tcPr>
                </a:tc>
              </a:tr>
              <a:tr h="459812">
                <a:tc>
                  <a:txBody>
                    <a:bodyPr/>
                    <a:lstStyle/>
                    <a:p>
                      <a:pPr>
                        <a:defRPr sz="1500" b="1">
                          <a:solidFill>
                            <a:srgbClr val="172028"/>
                          </a:solidFill>
                          <a:latin typeface="Lato"/>
                        </a:defRPr>
                      </a:pPr>
                      <a:r>
                        <a:t>Nippon Toyota official About Us / CMS</a:t>
                      </a:r>
                    </a:p>
                  </a:txBody>
                  <a:tcPr anchor="ctr" marL="118872" marR="91440" marT="54864" marB="54864">
                    <a:solidFill>
                      <a:srgbClr val="FFFFFF"/>
                    </a:solidFill>
                  </a:tcPr>
                </a:tc>
                <a:tc>
                  <a:txBody>
                    <a:bodyPr/>
                    <a:lstStyle/>
                    <a:p>
                      <a:pPr>
                        <a:defRPr sz="1500" b="0">
                          <a:solidFill>
                            <a:srgbClr val="172028"/>
                          </a:solidFill>
                          <a:latin typeface="Lato"/>
                        </a:defRPr>
                      </a:pPr>
                      <a:r>
                        <a:t>Mission; Dealer Principal and Directors</a:t>
                      </a:r>
                    </a:p>
                  </a:txBody>
                  <a:tcPr anchor="ctr" marL="118872" marR="91440" marT="54864" marB="54864">
                    <a:solidFill>
                      <a:srgbClr val="FFFFFF"/>
                    </a:solidFill>
                  </a:tcPr>
                </a:tc>
              </a:tr>
              <a:tr h="459812">
                <a:tc>
                  <a:txBody>
                    <a:bodyPr/>
                    <a:lstStyle/>
                    <a:p>
                      <a:pPr>
                        <a:defRPr sz="1500" b="1">
                          <a:solidFill>
                            <a:srgbClr val="172028"/>
                          </a:solidFill>
                          <a:latin typeface="Lato"/>
                        </a:defRPr>
                      </a:pPr>
                      <a:r>
                        <a:t>Official Kalamassery location page</a:t>
                      </a:r>
                    </a:p>
                  </a:txBody>
                  <a:tcPr anchor="ctr" marL="118872" marR="91440" marT="54864" marB="54864">
                    <a:solidFill>
                      <a:srgbClr val="EAEDEB"/>
                    </a:solidFill>
                  </a:tcPr>
                </a:tc>
                <a:tc>
                  <a:txBody>
                    <a:bodyPr/>
                    <a:lstStyle/>
                    <a:p>
                      <a:pPr>
                        <a:defRPr sz="1500" b="0">
                          <a:solidFill>
                            <a:srgbClr val="172028"/>
                          </a:solidFill>
                          <a:latin typeface="Lato"/>
                        </a:defRPr>
                      </a:pPr>
                      <a:r>
                        <a:t>Legal entity, showroom/service centre and address</a:t>
                      </a:r>
                    </a:p>
                  </a:txBody>
                  <a:tcPr anchor="ctr" marL="118872" marR="91440" marT="54864" marB="54864">
                    <a:solidFill>
                      <a:srgbClr val="EAEDEB"/>
                    </a:solidFill>
                  </a:tcPr>
                </a:tc>
              </a:tr>
              <a:tr h="459812">
                <a:tc>
                  <a:txBody>
                    <a:bodyPr/>
                    <a:lstStyle/>
                    <a:p>
                      <a:pPr>
                        <a:defRPr sz="1500" b="1">
                          <a:solidFill>
                            <a:srgbClr val="172028"/>
                          </a:solidFill>
                          <a:latin typeface="Lato"/>
                        </a:defRPr>
                      </a:pPr>
                      <a:r>
                        <a:t>Company LinkedIn; official U Trust page</a:t>
                      </a:r>
                    </a:p>
                  </a:txBody>
                  <a:tcPr anchor="ctr" marL="118872" marR="91440" marT="54864" marB="54864">
                    <a:solidFill>
                      <a:srgbClr val="FFFFFF"/>
                    </a:solidFill>
                  </a:tcPr>
                </a:tc>
                <a:tc>
                  <a:txBody>
                    <a:bodyPr/>
                    <a:lstStyle/>
                    <a:p>
                      <a:pPr>
                        <a:defRPr sz="1500" b="0">
                          <a:solidFill>
                            <a:srgbClr val="172028"/>
                          </a:solidFill>
                          <a:latin typeface="Lato"/>
                        </a:defRPr>
                      </a:pPr>
                      <a:r>
                        <a:t>Published establishment date; used-car offering</a:t>
                      </a:r>
                    </a:p>
                  </a:txBody>
                  <a:tcPr anchor="ctr" marL="118872" marR="91440" marT="54864" marB="54864">
                    <a:solidFill>
                      <a:srgbClr val="FFFFFF"/>
                    </a:solidFill>
                  </a:tcPr>
                </a:tc>
              </a:tr>
              <a:tr h="459812">
                <a:tc>
                  <a:txBody>
                    <a:bodyPr/>
                    <a:lstStyle/>
                    <a:p>
                      <a:pPr>
                        <a:defRPr sz="1500" b="1">
                          <a:solidFill>
                            <a:srgbClr val="172028"/>
                          </a:solidFill>
                          <a:latin typeface="Lato"/>
                        </a:defRPr>
                      </a:pPr>
                      <a:r>
                        <a:t>Ranjithsiji / Wikimedia Commons (2012)</a:t>
                      </a:r>
                    </a:p>
                  </a:txBody>
                  <a:tcPr anchor="ctr" marL="118872" marR="91440" marT="54864" marB="54864">
                    <a:solidFill>
                      <a:srgbClr val="EAEDEB"/>
                    </a:solidFill>
                  </a:tcPr>
                </a:tc>
                <a:tc>
                  <a:txBody>
                    <a:bodyPr/>
                    <a:lstStyle/>
                    <a:p>
                      <a:pPr>
                        <a:defRPr sz="1500" b="0">
                          <a:solidFill>
                            <a:srgbClr val="172028"/>
                          </a:solidFill>
                          <a:latin typeface="Lato"/>
                        </a:defRPr>
                      </a:pPr>
                      <a:r>
                        <a:t>Kalamassery Toyota Office.JPG; CC BY-SA 3.0; unmodified photo</a:t>
                      </a:r>
                    </a:p>
                  </a:txBody>
                  <a:tcPr anchor="ctr" marL="118872" marR="91440" marT="54864" marB="54864">
                    <a:solidFill>
                      <a:srgbClr val="EAEDEB"/>
                    </a:solidFill>
                  </a:tcPr>
                </a:tc>
              </a:tr>
              <a:tr h="459812">
                <a:tc>
                  <a:txBody>
                    <a:bodyPr/>
                    <a:lstStyle/>
                    <a:p>
                      <a:pPr>
                        <a:defRPr sz="1500" b="1">
                          <a:solidFill>
                            <a:srgbClr val="172028"/>
                          </a:solidFill>
                          <a:latin typeface="Lato"/>
                        </a:defRPr>
                      </a:pPr>
                      <a:r>
                        <a:t>Sreejith Sivadasan / Flickr (2011)</a:t>
                      </a:r>
                    </a:p>
                  </a:txBody>
                  <a:tcPr anchor="ctr" marL="118872" marR="91440" marT="54864" marB="54864">
                    <a:solidFill>
                      <a:srgbClr val="FFFFFF"/>
                    </a:solidFill>
                  </a:tcPr>
                </a:tc>
                <a:tc>
                  <a:txBody>
                    <a:bodyPr/>
                    <a:lstStyle/>
                    <a:p>
                      <a:pPr>
                        <a:defRPr sz="1500" b="0">
                          <a:solidFill>
                            <a:srgbClr val="172028"/>
                          </a:solidFill>
                          <a:latin typeface="Lato"/>
                        </a:defRPr>
                      </a:pPr>
                      <a:r>
                        <a:t>Nippon Toyota showroom at South Kalamassery; all rights reserved</a:t>
                      </a:r>
                    </a:p>
                  </a:txBody>
                  <a:tcPr anchor="ctr" marL="118872" marR="91440" marT="54864" marB="54864">
                    <a:solidFill>
                      <a:srgbClr val="FFFFFF"/>
                    </a:solidFill>
                  </a:tcPr>
                </a:tc>
              </a:tr>
              <a:tr h="459816">
                <a:tc>
                  <a:txBody>
                    <a:bodyPr/>
                    <a:lstStyle/>
                    <a:p>
                      <a:pPr>
                        <a:defRPr sz="1500" b="1">
                          <a:solidFill>
                            <a:srgbClr val="172028"/>
                          </a:solidFill>
                          <a:latin typeface="Lato"/>
                        </a:defRPr>
                      </a:pPr>
                      <a:r>
                        <a:t>Local repository and Verification.md</a:t>
                      </a:r>
                    </a:p>
                  </a:txBody>
                  <a:tcPr anchor="ctr" marL="118872" marR="91440" marT="54864" marB="54864">
                    <a:solidFill>
                      <a:srgbClr val="EAEDEB"/>
                    </a:solidFill>
                  </a:tcPr>
                </a:tc>
                <a:tc>
                  <a:txBody>
                    <a:bodyPr/>
                    <a:lstStyle/>
                    <a:p>
                      <a:pPr>
                        <a:defRPr sz="1500" b="0">
                          <a:solidFill>
                            <a:srgbClr val="172028"/>
                          </a:solidFill>
                          <a:latin typeface="Lato"/>
                        </a:defRPr>
                      </a:pPr>
                      <a:r>
                        <a:t>Architecture, models, workflows, configuration and checks</a:t>
                      </a:r>
                    </a:p>
                  </a:txBody>
                  <a:tcPr anchor="ctr" marL="118872" marR="91440" marT="54864" marB="54864">
                    <a:solidFill>
                      <a:srgbClr val="EAEDEB"/>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Nippon Toyota | Internship Presentation | Mobility CRM</dc:title>
  <dc:subject>Company orientation, weekly learning, CRM workflows and technical architecture</dc:subject>
  <dc:creator>Internship presentation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