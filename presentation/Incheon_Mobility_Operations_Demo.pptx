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From enquiry to outcome</a:t>
            </a:r>
          </a:p>
          <a:p/>
          <a:p>
            <a:r>
              <a:t>PRESENTER NOTES</a:t>
            </a:r>
          </a:p>
          <a:p>
            <a:r>
              <a:t>Opening talk track: Today I will follow a customer enquiry through the people who handle it. We will see how Admin allocates work, how CRE records a customer decision, how PS/SO continues the sales conversation, and how the Sales Manager reviews the branch. We will also follow a complaint and a staff handover. The purpose is to agree how your team will operate the product. The descriptions reflect the current repository, rather than every item in the original requirements document. Live deployment behavior should be checked before the meeting. Use the accompanying demo briefing for that rehearsal.</a:t>
            </a:r>
          </a:p>
          <a:p/>
          <a:p>
            <a:r>
              <a:t>EVIDENCE</a:t>
            </a:r>
          </a:p>
          <a:p>
            <a:r>
              <a:t>README.md; frontend/src/components/app-shell.tsx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One enquiry. A visible next owner.</a:t>
            </a:r>
          </a:p>
          <a:p/>
          <a:p>
            <a:r>
              <a:t>PRESENTER NOTES</a:t>
            </a:r>
          </a:p>
          <a:p>
            <a:r>
              <a:t>Explain the arrows as a sequence of responsibility, not an approval hierarchy. A lead does not wait for Sales Manager approval before a PS can contact the customer, book or retail. The manager reviews the branch data and gives operational direction. Admin retains allocation and user controls. CRE ownership remains attached after the PS handoff, so the team retains both the original relationship owner and the sales owner. The manager sees records that match the branch on their account. The complaints team works through a separate ticket queue.</a:t>
            </a:r>
          </a:p>
          <a:p/>
          <a:p>
            <a:r>
              <a:t>Start at intake, then show the three CRE decisions: qualified, pending and lost. Qualified requires the branch and sales owner in the main CRE form. Pending records the reason and next follow-up date. Lost records why the enquiry ended. At the PS stage, the customer can continue in follow-up, proceed to booking and retail, or be lost. A complaint is a separate ticket; it does not automatically close or convert the sales lead. The diagram shows the intended operating route supported by the normal screens. Detailed status handling is covered later.</a:t>
            </a:r>
          </a:p>
          <a:p/>
          <a:p>
            <a:r>
              <a:t>EVIDENCE</a:t>
            </a:r>
          </a:p>
          <a:p>
            <a:r>
              <a:t>backend/leads/views.py:LeadViewSet; backend/analytics/views.py:manager_base_queryset; backend/leads/views.py; frontend/src/features/leads/sales-workspace.tsx; backend/complaints/views.py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Six roles, clear responsibilities</a:t>
            </a:r>
          </a:p>
          <a:p/>
          <a:p>
            <a:r>
              <a:t>PRESENTER NOTES</a:t>
            </a:r>
          </a:p>
          <a:p>
            <a:r>
              <a:t>CRE means Customer Relationship Executive. PS/SO is the shared sales role label used in this build; use the company’s preferred expansion of PS during the meeting. SM means Sales Manager. The product gives each role a different navigation menu. A senior job title does not automatically grant Admin or complaint-resolution rights. For example, a Sales Manager cannot allocate leads in the current application, and an Admin can read complaints but cannot resolve them. Receptionist is an additional intake role and should be shown after the main CRE sales path.</a:t>
            </a:r>
          </a:p>
          <a:p/>
          <a:p>
            <a:r>
              <a:t>Show the Assignment, All leads, Users, Lists and Analytics menus. Explain that the unassigned pool is a work queue that Admin must review, not proof that the team has already contacted the customer. Ordinary allocation targets active CRE users. Admin can inspect any non-deleted lead and see ownership and history. User offboarding is a distinct action with an impact preview. Complaints remain read-only for Admin. Recommended daily practice is to clear unassigned work at agreed intervals and check the separate Needs reassignment view before finishing the day.</a:t>
            </a:r>
          </a:p>
          <a:p/>
          <a:p>
            <a:r>
              <a:t>Explain what good CRE work looks like in operational terms. A useful qualification note says which model and color the customer wants, how soon they plan to buy, how they expect to pay and what the PS should discuss next. The main form requires the model, color, branch, PS, buying plan, finance and notes. Profession is displayed but is not part of that required qualification set. CRE can still see and update owned records after handoff under the current rules. Agree internally which person should make the next customer call so both roles do not chase the customer at the same time.</a:t>
            </a:r>
          </a:p>
          <a:p/>
          <a:p>
            <a:r>
              <a:t>PS/SO has a different outcome menu from CRE. Connected outcomes include test drive, showroom visit, booking, retail, callback, finance or discount issues, and several loss reasons. Not Connected includes RNR, switched off, line busy, call forwarding, invalid number and manual No Response loss. PS must record remarks in the screen. CRE qualification remains visible and cannot be edited through the PS workflow. Fresh for PS means a currently qualified lead that the assigned PS has not yet logged a call against; it does not mean the same thing as CRE Fresh.</a:t>
            </a:r>
          </a:p>
          <a:p/>
          <a:p>
            <a:r>
              <a:t>The manager’s configured location determines the branch scope. A blank location gives no branch data. The manager cannot change lead status, assign, delete or reopen leads through this role. Coaching and reassignment requests take place through the company’s normal communication process; there is no implemented manager approval inbox. The operational review can identify a stale Fresh lead or an overdue follow-up and then ask the named CRE or PS to act. Flagged filters exist, but do not promise a complete escalation button-to-notification flow without a live check.</a:t>
            </a:r>
          </a:p>
          <a:p/>
          <a:p>
            <a:r>
              <a:t>EVIDENCE</a:t>
            </a:r>
          </a:p>
          <a:p>
            <a:r>
              <a:t>frontend/src/components/app-shell.tsx; backend/accounts/models.py; frontend/src/features/leads/lead-desk.tsx; frontend/src/features/team/team-page.tsx; frontend/src/features/leads/sales-workspace.tsx:save; backend/leads/views.py:so_update; frontend/src/features/leads/sales-workspace.tsx; backend/leads/views.py:my_dashboard; backend/analytics/views.py:manager_base_queryset; backend/leads/views.py:manager_leads; backend/analytics/tests.py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Access controls: leads &amp; administration</a:t>
            </a:r>
          </a:p>
          <a:p/>
          <a:p>
            <a:r>
              <a:t>PRESENTER NOTES</a:t>
            </a:r>
          </a:p>
          <a:p>
            <a:r>
              <a:t>This table describes normal supported workspaces and dedicated workflow actions, rather than a completed security audit of every generic endpoint. Receptionist sees their capture dashboard, not a general branch lead queue. CRE qualification and PS selection occur in the qualification flow; CRE also retains update access after handoff subject to transition rules. PS can edit allowed customer details, but cannot rewrite CRE qualification. Staff use Admin-maintained options. The manager’s lead workspace is read-only. Any change to the permission model should be agreed as a separate product decision.</a:t>
            </a:r>
          </a:p>
          <a:p/>
          <a:p>
            <a:r>
              <a:t>EVIDENCE</a:t>
            </a:r>
          </a:p>
          <a:p>
            <a:r>
              <a:t>backend/leads/views.py:get_permissions,get_queryset,so_update; backend/accounts/permissions.py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Access controls: complaints &amp; reporting</a:t>
            </a:r>
          </a:p>
          <a:p/>
          <a:p>
            <a:r>
              <a:t>PRESENTER NOTES</a:t>
            </a:r>
          </a:p>
          <a:p>
            <a:r>
              <a:t>Walk the manager through the complaint row first: CRE logs a ticket and can track only the tickets they logged; the complaints department sees the shared queue and can update it; Admin sees the queue and analytics but does not resolve tickets. PS, SM and Receptionist have no complaint access in this version. These restrictions are covered by existing complaint tests. The complaints dashboard can therefore support company-level resolution work, while the Sales Manager’s sales reporting remains scoped to their branch.</a:t>
            </a:r>
          </a:p>
          <a:p/>
          <a:p>
            <a:r>
              <a:t>EVIDENCE</a:t>
            </a:r>
          </a:p>
          <a:p>
            <a:r>
              <a:t>backend/complaints/permissions.py; backend/complaints/tests.py; backend/analytics/views.py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Admin controls the operating setup</a:t>
            </a:r>
          </a:p>
          <a:p/>
          <a:p>
            <a:r>
              <a:t>PRESENTER NOTES</a:t>
            </a:r>
          </a:p>
          <a:p>
            <a:r>
              <a:t>Show the Assignment, All leads, Users, Lists and Analytics menus. Explain that the unassigned pool is a work queue that Admin must review, not proof that the team has already contacted the customer. Ordinary allocation targets active CRE users. Admin can inspect any non-deleted lead and see ownership and history. User offboarding is a distinct action with an impact preview. Complaints remain read-only for Admin. Recommended daily practice is to clear unassigned work at agreed intervals and check the separate Needs reassignment view before finishing the day.</a:t>
            </a:r>
          </a:p>
          <a:p/>
          <a:p>
            <a:r>
              <a:t>Demonstrate adding or reviewing an existing branch, source, model and color. Matching branch names matter because PS selection and Sales Manager visibility depend on location values. Sources reject values outside the configured list for new records. The source list preserves Walk-in. Models and colors constrain relevant forms when configured. Several reason lists, finance choices and buying timelines remain fixed in the current screens; Admin Lists is not a complete business-rule builder. Removing a list value does not rewrite historical customer records.</a:t>
            </a:r>
          </a:p>
          <a:p/>
          <a:p>
            <a:r>
              <a:t>EVIDENCE</a:t>
            </a:r>
          </a:p>
          <a:p>
            <a:r>
              <a:t>frontend/src/features/leads/lead-desk.tsx; frontend/src/features/team/team-page.tsx; frontend/src/features/admin/lists-page.tsx; backend/leads/serializers.py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Three entry routes into the CRM</a:t>
            </a:r>
          </a:p>
          <a:p/>
          <a:p>
            <a:r>
              <a:t>PRESENTER NOTES</a:t>
            </a:r>
          </a:p>
          <a:p>
            <a:r>
              <a:t>Use the bulk route for downloaded advertising or partner lead lists. Admin manual entry can place an ordinary enquiry in the allocation pool. CRE’s visible Add lead form is designed for a directly qualified lead with branch and PS selected; the underlying non-walk-in CRE creation path also supports CRE ownership. Receptionist capture forces Walk-in source and Qualified status and can attach a PS. Walk-in capture bypasses normal CRE qualification. Do not describe configured sources as live integrations: this repository supports capture and upload, not a verified live advertising-platform feed.</a:t>
            </a:r>
          </a:p>
          <a:p/>
          <a:p>
            <a:r>
              <a:t>Show the upload summary and distinguish the parsed row count from the imported count. The parser strips formatting from phones, removes a +91 or leading zero when appropriate, and expects a ten-digit result. It checks the configured source and, when configured, the model. It rejects a future enquiry date. Valid rows can be imported while invalid and duplicate rows are skipped. A failed upload should be corrected and retried. Missing or unrecognized date formats can fall back to today, so validate the source file dates rather than assuming the imported cohort is correct.</a:t>
            </a:r>
          </a:p>
          <a:p/>
          <a:p>
            <a:r>
              <a:t>Show the receptionist Capture Lead page and explain that this is a different intake path. The current form captures basic customer details, profession, model, variant, buying plan and PS selection. It does not capture branch or enquiry date in its submitted payload. Consequently, the lead can reach the PS queue but be absent from branch-scoped or enquiry-date-filtered reporting until an authorized user fills those fields. The receptionist dashboard counts their own captures made today. Keep the branch/date completion step explicit; do not claim automatic branch inference from the selected PS.</a:t>
            </a:r>
          </a:p>
          <a:p/>
          <a:p>
            <a:r>
              <a:t>Use text-formatted phone columns to avoid spreadsheet scientific notation and lost leading digits. The parser recognizes Name or Customer Name, Phone or Mobile, model or vehicle interest or model / vehicle interest, and date or enquiry date. It reads the active worksheet of XLSX files. Date parsing accepts day-month-year, ISO date and day/month/year. Native spreadsheet date serialization can differ, so confirm the parsed date in a sample before committing a large batch. The import payload does not populate the branch field; CRE qualification normally supplies the preferred branch. Imported walk-in source rows do not automatically execute the receptionist shortcut.</a:t>
            </a:r>
          </a:p>
          <a:p/>
          <a:p>
            <a:r>
              <a:t>EVIDENCE</a:t>
            </a:r>
          </a:p>
          <a:p>
            <a:r>
              <a:t>backend/leads/views.py:perform_create; frontend/src/features/leads/sales-workspace.tsx:saveLead; frontend/src/app/(receptionist)/capture/page.tsx; backend/uploads/views.py; backend/uploads/tasks.py; backend/uploads/serializers.py; frontend/src/app/(receptionist)/capture/page.tsx; backend/analytics/views.py:ReceptionistAnalyticsView; backend/uploads/tasks.py:read_rows,parse_date,parse_upload_batch; backend/uploads/views.py:commit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Check the data before importing</a:t>
            </a:r>
          </a:p>
          <a:p/>
          <a:p>
            <a:r>
              <a:t>PRESENTER NOTES</a:t>
            </a:r>
          </a:p>
          <a:p>
            <a:r>
              <a:t>Show the upload summary and distinguish the parsed row count from the imported count. The parser strips formatting from phones, removes a +91 or leading zero when appropriate, and expects a ten-digit result. It checks the configured source and, when configured, the model. It rejects a future enquiry date. Valid rows can be imported while invalid and duplicate rows are skipped. A failed upload should be corrected and retried. Missing or unrecognized date formats can fall back to today, so validate the source file dates rather than assuming the imported cohort is correct.</a:t>
            </a:r>
          </a:p>
          <a:p/>
          <a:p>
            <a:r>
              <a:t>The current UI emphasizes automatic duplicate removal. Do not demonstrate overwrite/import-as-new options from the original PRD as though they are exposed in the normal upload screen. The server retains duplicate-resolution capabilities, but that is different from the user-facing workflow. Duplicate detection is not a universal uniqueness guarantee: manual entry does not enforce unique phone numbers across all lead records. For operations, search by phone before manually creating a second enquiry, and agree how repeat enquiries should be treated.</a:t>
            </a:r>
          </a:p>
          <a:p/>
          <a:p>
            <a:r>
              <a:t>Use text-formatted phone columns to avoid spreadsheet scientific notation and lost leading digits. The parser recognizes Name or Customer Name, Phone or Mobile, model or vehicle interest or model / vehicle interest, and date or enquiry date. It reads the active worksheet of XLSX files. Date parsing accepts day-month-year, ISO date and day/month/year. Native spreadsheet date serialization can differ, so confirm the parsed date in a sample before committing a large batch. The import payload does not populate the branch field; CRE qualification normally supplies the preferred branch. Imported walk-in source rows do not automatically execute the receptionist shortcut.</a:t>
            </a:r>
          </a:p>
          <a:p/>
          <a:p>
            <a:r>
              <a:t>EVIDENCE</a:t>
            </a:r>
          </a:p>
          <a:p>
            <a:r>
              <a:t>backend/uploads/views.py; backend/uploads/tasks.py; backend/uploads/serializers.py; backend/uploads/tasks.py:parse_upload_batch; backend/uploads/views.py:commit; frontend/src/features/leads/lead-desk.tsx; backend/uploads/tasks.py:read_rows,parse_date,parse_upload_batch; backend/uploads/views.py:commit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Choose how the batch is shared</a:t>
            </a:r>
          </a:p>
          <a:p/>
          <a:p>
            <a:r>
              <a:t>PRESENTER NOTES</a:t>
            </a:r>
          </a:p>
          <a:p>
            <a:r>
              <a:t>Use filtered bucket distribution in the live demo if you need scope control. The current Auto assign button calls the operation without lead IDs or the active screen filters. It therefore processes the eligible unowned pool, not just the count shown on a page or a filtered view. The eligible ordinary allocation pool excludes records already owned by CRE or PS and records waiting for offboarding reassignment. Individual assignment rejects a lead that already has a CRE. The separate offboarding recovery queue should be cleared through its dedicated workflow.</a:t>
            </a:r>
          </a:p>
          <a:p/>
          <a:p>
            <a:r>
              <a:t>Use eleven fresh enquiries and three selected CREs as an easy explanation. The system takes eligible leads in creation order and cycles through the selected CREs: A, B, C, A, B, C, and so on. A and B receive four, C receives three. This equalizes the new batch, not necessarily everyone’s existing workload. Auto assign first sorts active CRE users by their total assigned lead count, then cycles through them; it does not repeatedly recalculate the least-loaded employee for every new lead. Offboarding redistribution uses a different active-load calculation.</a:t>
            </a:r>
          </a:p>
          <a:p/>
          <a:p>
            <a:r>
              <a:t>EVIDENCE</a:t>
            </a:r>
          </a:p>
          <a:p>
            <a:r>
              <a:t>frontend/src/features/leads/lead-desk.tsx:autoAssign,assignBucket; backend/leads/views.py; backend/leads/views.py:bulk_distribute,auto_assign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Branch determines sales ownership and visibility</a:t>
            </a:r>
          </a:p>
          <a:p/>
          <a:p>
            <a:r>
              <a:t>PRESENTER NOTES</a:t>
            </a:r>
          </a:p>
          <a:p>
            <a:r>
              <a:t>This is an operational responsibility diagram, not a stored employee-manager tree. There is no separate multi-level regional-manager hierarchy in the current roles. Admin can distribute fresh enquiries across selected CRE users. During the normal CRE qualification form, selecting preferred branch populates both customer location and lead branch, and filters the PS list. The Sales Manager sees the lead through the branch field. Different CRE users may contribute to one branch’s results. Branch corrections therefore change the manager’s reporting scope and should be deliberate.</a:t>
            </a:r>
          </a:p>
          <a:p/>
          <a:p>
            <a:r>
              <a:t>Unlike normal round-robin allocation, offboarding distribution selects the lowest active workload from the chosen eligible replacements and updates that load as each lead moves. For PS work it also requires a non-blank lead branch matching the replacement location. No eligible branch match leaves the lead pooled with a reassignment flag. Ordinary fresh allocation excludes these records, which prevents them being treated as completely new enquiries. Admin can later select pooled records and replacements in All leads → Needs reassignment. Follow-up ownership can move, but its reminder remains held until review.</a:t>
            </a:r>
          </a:p>
          <a:p/>
          <a:p>
            <a:r>
              <a:t>EVIDENCE</a:t>
            </a:r>
          </a:p>
          <a:p>
            <a:r>
              <a:t>backend/leads/views.py:bulk_distribute,so_update; backend/analytics/views.py:manager_base_queryset; backend/accounts/offboarding.py:offboard_user; backend/leads/views.py:bulk_reassign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CRE chooses the next path</a:t>
            </a:r>
          </a:p>
          <a:p/>
          <a:p>
            <a:r>
              <a:t>PRESENTER NOTES</a:t>
            </a:r>
          </a:p>
          <a:p>
            <a:r>
              <a:t>A qualified customer does not mean a booked vehicle or completed sale. It means the CRE has collected enough information for PS to continue the sales conversation. Pending covers contact retries and customer timing. Lost should have a specific explanation, such as low budget, wrong number or lost to competition, rather than a generic closing note. The current form requires the applicable reason and remarks. Avoid promising that status transitions are entirely locked after handoff: CRE retains ownership and permitted update access, which requires an agreed team operating rule.</a:t>
            </a:r>
          </a:p>
          <a:p/>
          <a:p>
            <a:r>
              <a:t>Use the full choices displayed in the live form if the manager asks how their dispositions map into the product. Additional CRE loss choices include Just enquired, Service, Insurance, Internal, Used car, No Response, Mock Call, DSA Enq and BH Registration. Pending reasons also include Temporary out of Service and Incoming call facility not available. Some of these choices may need company-specific wording or a policy discussion. They are currently screen-defined choices rather than editable Admin Lists values. Remarks should make the disposition understandable without relying on an acronym.</a:t>
            </a:r>
          </a:p>
          <a:p/>
          <a:p>
            <a:r>
              <a:t>EVIDENCE</a:t>
            </a:r>
          </a:p>
          <a:p>
            <a:r>
              <a:t>frontend/src/features/leads/sales-workspace.tsx:save; backend/leads/serializers.py; frontend/src/features/leads/sales-workspace.tsx:lostReasons,pendingReasons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A complete qualification makes the handoff useful</a:t>
            </a:r>
          </a:p>
          <a:p/>
          <a:p>
            <a:r>
              <a:t>PRESENTER NOTES</a:t>
            </a:r>
          </a:p>
          <a:p>
            <a:r>
              <a:t>Open one lead record and point to these three groups. The history preserves who made the update and what the customer said. Do not claim that the application places or records telephone calls: staff make the call through their usual process and then record the outcome here. The call count measures recorded call-log entries; it is not a verified telecom call count. Category is a staff-entered prioritization choice, not automated lead scoring. Lead detail exposes recent audit entries and complete serialized call and follow-up history.</a:t>
            </a:r>
          </a:p>
          <a:p/>
          <a:p>
            <a:r>
              <a:t>For the live demo, complete model, variant, buying plan, finance and remarks, then select a configured preferred branch and a PS from that branch. Saving updates the lead to Qualified and stores the PS assignment. The server checks that the PS is active and the selected location matches the PS location. A record with an already-qualified status cannot simply be qualified again through the CRE form. The lead remains visible to the assigned CRE after handoff. Assignment notifications are stored, but use the refreshed PS queue as the reliable visible proof during the meeting.</a:t>
            </a:r>
          </a:p>
          <a:p/>
          <a:p>
            <a:r>
              <a:t>EVIDENCE</a:t>
            </a:r>
          </a:p>
          <a:p>
            <a:r>
              <a:t>backend/leads/models.py; backend/leads/serializers.py:LeadDetailSerializer; frontend/src/features/leads/sales-workspace.tsx:save; backend/leads/views.py:so_update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PS/SO records the sales conversation</a:t>
            </a:r>
          </a:p>
          <a:p/>
          <a:p>
            <a:r>
              <a:t>PRESENTER NOTES</a:t>
            </a:r>
          </a:p>
          <a:p>
            <a:r>
              <a:t>The outcome describes the customer’s situation and the status tells the team where the work stands. A test-drive request is a next action, not proof that a test drive happened. Booking Done stores the booked sales outcome and a status that some shared screens label Walk-in. Retail Done stores Retailed and Won. The current system does not create a vehicle invoice or reserve inventory from these choices. Staff should record booking or retail only after the company’s underlying sales process supports that statement.</a:t>
            </a:r>
          </a:p>
          <a:p/>
          <a:p>
            <a:r>
              <a:t>Explain that the F1 to F5 display is a visual call-progress indicator. It does not automatically declare the lead Lost after five calls, and it does not enforce a fixed maximum number of contact attempts. Operations should agree how many attempts are appropriate and who approves closing an unreachable customer. PS No Response is available as a deliberate Lost choice under Not Connected. CRE uses its own pending reasons, and RNR or switched-off CRE updates can appear under the broader Pending status.</a:t>
            </a:r>
          </a:p>
          <a:p/>
          <a:p>
            <a:r>
              <a:t>EVIDENCE</a:t>
            </a:r>
          </a:p>
          <a:p>
            <a:r>
              <a:t>frontend/src/features/leads/sales-workspace.tsx:soConnectedOutcomes,save; backend/leads/serializers.py; frontend/src/features/leads/sales-workspace.tsx:autoNextDayFollowUpOutcomes,progressState; backend/leads/tests.py:test_ps_can_manually_mark_not_connected_as_no_response_lost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Follow-up is a repeating work cycle</a:t>
            </a:r>
          </a:p>
          <a:p/>
          <a:p>
            <a:r>
              <a:t>PRESENTER NOTES</a:t>
            </a:r>
          </a:p>
          <a:p>
            <a:r>
              <a:t>The normal CRE and PS screens use a date picker and save the selected day at 23:59 IST. They allow future follow-ups within the next three days, while the server enforces a rolling seventy-two-hour limit. This creates a potential edge on the last selectable calendar day; use today or tomorrow for rehearsal. Do not promise exact customer callback-time scheduling through these date-only screens. Admin has time-oriented review controls. Each outcome update resolves all open follow-ups on the lead, so a CRE update can affect a PS follow-up and vice versa. Agree one next-action owner after handoff.</a:t>
            </a:r>
          </a:p>
          <a:p/>
          <a:p>
            <a:r>
              <a:t>Explain that the F1 to F5 display is a visual call-progress indicator. It does not automatically declare the lead Lost after five calls, and it does not enforce a fixed maximum number of contact attempts. Operations should agree how many attempts are appropriate and who approves closing an unreachable customer. PS No Response is available as a deliberate Lost choice under Not Connected. CRE uses its own pending reasons, and RNR or switched-off CRE updates can appear under the broader Pending status.</a:t>
            </a:r>
          </a:p>
          <a:p/>
          <a:p>
            <a:r>
              <a:t>EVIDENCE</a:t>
            </a:r>
          </a:p>
          <a:p>
            <a:r>
              <a:t>frontend/src/features/leads/sales-workspace.tsx:followUpIso; backend/leads/serializers.py:SOLeadUpdateSerializer; backend/leads/views.py:so_update; frontend/src/features/leads/sales-workspace.tsx:autoNextDayFollowUpOutcomes,progressState; backend/leads/tests.py:test_ps_can_manually_mark_not_connected_as_no_response_lost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Translate screen labels into sales events</a:t>
            </a:r>
          </a:p>
          <a:p/>
          <a:p>
            <a:r>
              <a:t>PRESENTER NOTES</a:t>
            </a:r>
          </a:p>
          <a:p>
            <a:r>
              <a:t>Clarify the two fields before presenting metrics. Lead status and sales outcome are separate values. Shared lead tables may use Walk-in where the PS view uses Booked, and Won where the PS view uses Retailed. A walk-in as a source is also different from a booking status. Current outcome updates can move an active booked lead back into follow-up and reset the sales outcome to Pending. These are current-state records, so do not describe the dashboard as an immutable historical sales ledger. Review the final customer status after the demo save.</a:t>
            </a:r>
          </a:p>
          <a:p/>
          <a:p>
            <a:r>
              <a:t>Use a sixth fictional customer or a rehearsed existing demo record. PS chooses Booking Done and a future follow-up, then the record appears under Booked. Open it again, choose Connected and Retail Done, and save final remarks. Show Retailed in the PS view and Won in shared status labels where applicable. The new retail update resolves the open booking follow-up. The application tracks the sales outcome entered by staff; it does not validate payment, finance disbursal, stock allocation, invoicing or delivery documentation. Those actions remain with the company’s existing systems and process.</a:t>
            </a:r>
          </a:p>
          <a:p/>
          <a:p>
            <a:r>
              <a:t>EVIDENCE</a:t>
            </a:r>
          </a:p>
          <a:p>
            <a:r>
              <a:t>backend/leads/models.py; frontend/src/lib/crm.ts:statusNames; frontend/src/features/leads/sales-workspace.tsx:save; backend/leads/tests.py:test_full_admin_to_cre_to_ps_lead_journey_with_five_followups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Five scenarios to demonstrate</a:t>
            </a:r>
          </a:p>
          <a:p/>
          <a:p>
            <a:r>
              <a:t>PRESENTER NOTES</a:t>
            </a:r>
          </a:p>
          <a:p>
            <a:r>
              <a:t>This slide matches the list in the screenshot. Use fictional demo customer names and keep a small written list of their record IDs. Demonstrate the same structure each time: starting owner and status, customer statement, staff action, record after saving, and next owner. The slide notes for the next five scenarios provide the talk track and exact validation points. No customer records were created as part of building this presentation; prepare them in your designated demo environment before the session.</a:t>
            </a:r>
          </a:p>
          <a:p/>
          <a:p>
            <a:r>
              <a:t>EVIDENCE</a:t>
            </a:r>
          </a:p>
          <a:p>
            <a:r>
              <a:t>Proposed operating practice; not an enforced product rule.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01 / CRE qualifies the enquiry</a:t>
            </a:r>
          </a:p>
          <a:p/>
          <a:p>
            <a:r>
              <a:t>PRESENTER NOTES</a:t>
            </a:r>
          </a:p>
          <a:p>
            <a:r>
              <a:t>Talk track: Asha has confirmed that she is interested in buying. Our CRE captures the specific model, color, buying plan, finance option and useful remarks. Show that the PS list depends on preferred branch. Save with Qualify Lead. Verify the lead appears as Qualified for CRE and appears in the assigned PS Fresh leads queue after switching to that role and refreshing. Open the same lead ID and point out the CRE qualification details. Expected ownership: CRE remains attached; PS is now the next operational contact. If no PS appears, check active status and branch spelling with Admin.</a:t>
            </a:r>
          </a:p>
          <a:p/>
          <a:p>
            <a:r>
              <a:t>EVIDENCE</a:t>
            </a:r>
          </a:p>
          <a:p>
            <a:r>
              <a:t>frontend/src/features/leads/sales-workspace.tsx; backend/leads/tests.py:test_cre_must_choose_matching_ps_for_qualified_lead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02 / CRE closes a lost enquiry</a:t>
            </a:r>
          </a:p>
          <a:p/>
          <a:p>
            <a:r>
              <a:t>PRESENTER NOTES</a:t>
            </a:r>
          </a:p>
          <a:p>
            <a:r>
              <a:t>Talk track: Binu confirms that there is no longer an active purchase plan. The CRE should close the enquiry with a reason that management can understand later. Select Lost, choose Plan Dropped and add a remark such as: Customer cancelled the purchase after discussing the household budget; no next purchase date agreed. Save and show the Lost record and call history. Do not add a follow-up date to this loss update. The existing open follow-up is resolved when the outcome is logged. Reopening is an Admin capability in the server, but the current frontend has no dedicated Reopen action; do not promise an on-screen reopening demo.</a:t>
            </a:r>
          </a:p>
          <a:p/>
          <a:p>
            <a:r>
              <a:t>EVIDENCE</a:t>
            </a:r>
          </a:p>
          <a:p>
            <a:r>
              <a:t>frontend/src/features/leads/sales-workspace.tsx:lostReasons,save; backend/leads/views.py:reopen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03 / PS continues the follow-up</a:t>
            </a:r>
          </a:p>
          <a:p/>
          <a:p>
            <a:r>
              <a:t>PRESENTER NOTES</a:t>
            </a:r>
          </a:p>
          <a:p>
            <a:r>
              <a:t>Talk track: Charu is qualified, but needs a test drive before committing. As PS, open the lead and show the CRE notes. Select Connected, then Need Test Drive. Choose tomorrow and write a remark explaining the model and the proposed visit. Save, reopen the record and show the new history entry and open follow-up. Tomorrow’s item is not necessarily in Today’s follow-ups yet; show All leads or the record’s follow-up history. If the demo needs the due-today queue, select today before 23:59 IST. The manager’s test-drive signal reflects a request or qualification indicator, not a verified completed test drive.</a:t>
            </a:r>
          </a:p>
          <a:p/>
          <a:p>
            <a:r>
              <a:t>EVIDENCE</a:t>
            </a:r>
          </a:p>
          <a:p>
            <a:r>
              <a:t>frontend/src/features/leads/sales-workspace.tsx; backend/leads/tests.py:test_assigned_ps_can_schedule_next_day_follow_up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04 / PS records a sales loss</a:t>
            </a:r>
          </a:p>
          <a:p/>
          <a:p>
            <a:r>
              <a:t>PRESENTER NOTES</a:t>
            </a:r>
          </a:p>
          <a:p>
            <a:r>
              <a:t>Talk track: Qualification is an early buying signal, not a guarantee of conversion. Deepak has now chosen a competitor. Select Connected and Lost to Competition, add the specific reason and save. Show Lost in PS All leads, the earlier CRE qualification and the new PS call history. In the manager’s branch view, search the same lead and inspect the trail. Loss reasons also include Finance Rejected, Dropped and Lost to co-dealer. Do not treat the current Lost reasons chart as a deduplicated final-cause count; its implementation groups call outcomes associated with currently lost leads.</a:t>
            </a:r>
          </a:p>
          <a:p/>
          <a:p>
            <a:r>
              <a:t>EVIDENCE</a:t>
            </a:r>
          </a:p>
          <a:p>
            <a:r>
              <a:t>frontend/src/features/leads/sales-workspace.tsx:soConnectedOutcomes; backend/analytics/views.py:manager_payload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05 / CRE hands a complaint to the resolution team</a:t>
            </a:r>
          </a:p>
          <a:p/>
          <a:p>
            <a:r>
              <a:t>PRESENTER NOTES</a:t>
            </a:r>
          </a:p>
          <a:p>
            <a:r>
              <a:t>Talk track: Farah needs help with an existing issue. CRE opens Complaints and enters customer name, valid phone, configured branch, category, priority, source, subject and description. Save and note the CMP ticket number. Switch to a complaints-department account, open that ticket, update to In Progress with a note, then resolve with a clear description of the action taken. Return to CRE to show the ticket status, then use Admin for reporting if time permits. The normal complaint form does not automatically link to an existing sales lead or change its status. Use the ticket number as the handoff reference.</a:t>
            </a:r>
          </a:p>
          <a:p/>
          <a:p>
            <a:r>
              <a:t>This is not the same allocation mechanism as lead distribution. There is no normal manual assignment-to-colleague control exposed in the complaint update serializer. The updater becomes the assigned user, so two resolution staff members need a clear working arrangement. CRE sees only tickets they logged; Admin and the complaints department see the shared queue. The current complaint update does not use the same stale-edit protection as the dedicated lead update flow. The notes provide a readable history of the discussion, but there is no complete old/new audit event for every complaint status or priority change.</a:t>
            </a:r>
          </a:p>
          <a:p/>
          <a:p>
            <a:r>
              <a:t>Categories are Service Delay, Product Defect, Delivery Issue, Billing / Finance, After-Sales, Staff Behaviour, Warranty and Other. Complaint sources are Phone, Email, Walk-in, Social Media and Other. These complaint classifications are distinct from the Admin-configured sales lead sources. Ask CRE to record facts, the customer impact and what response the customer expects. Avoid vague subjects such as Complaint or Urgent. The normal create form does not set an assignee or attach a sales lead automatically. The complaints team uses the shared queue to take the next action.</a:t>
            </a:r>
          </a:p>
          <a:p/>
          <a:p>
            <a:r>
              <a:t>EVIDENCE</a:t>
            </a:r>
          </a:p>
          <a:p>
            <a:r>
              <a:t>backend/complaints/serializers.py; backend/complaints/views.py; frontend/src/features/complaints/complaint-desk.tsx; backend/complaints/views.py:update,add_note; backend/complaints/permissions.py; backend/complaints/models.py; backend/complaints/serializers.py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Complete the sales story</a:t>
            </a:r>
          </a:p>
          <a:p/>
          <a:p>
            <a:r>
              <a:t>PRESENTER NOTES</a:t>
            </a:r>
          </a:p>
          <a:p>
            <a:r>
              <a:t>Use a sixth fictional customer or a rehearsed existing demo record. PS chooses Booking Done and a future follow-up, then the record appears under Booked. Open it again, choose Connected and Retail Done, and save final remarks. Show Retailed in the PS view and Won in shared status labels where applicable. The new retail update resolves the open booking follow-up. The application tracks the sales outcome entered by staff; it does not validate payment, finance disbursal, stock allocation, invoicing or delivery documentation. Those actions remain with the company’s existing systems and process.</a:t>
            </a:r>
          </a:p>
          <a:p/>
          <a:p>
            <a:r>
              <a:t>EVIDENCE</a:t>
            </a:r>
          </a:p>
          <a:p>
            <a:r>
              <a:t>backend/leads/tests.py:test_full_admin_to_cre_to_ps_lead_journey_with_five_followups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Walk-ins can go straight to PS/SO</a:t>
            </a:r>
          </a:p>
          <a:p/>
          <a:p>
            <a:r>
              <a:t>PRESENTER NOTES</a:t>
            </a:r>
          </a:p>
          <a:p>
            <a:r>
              <a:t>Show the receptionist Capture Lead page and explain that this is a different intake path. The current form captures basic customer details, profession, model, variant, buying plan and PS selection. It does not capture branch or enquiry date in its submitted payload. Consequently, the lead can reach the PS queue but be absent from branch-scoped or enquiry-date-filtered reporting until an authorized user fills those fields. The receptionist dashboard counts their own captures made today. Keep the branch/date completion step explicit; do not claim automatic branch inference from the selected PS.</a:t>
            </a:r>
          </a:p>
          <a:p/>
          <a:p>
            <a:r>
              <a:t>Use the bulk route for downloaded advertising or partner lead lists. Admin manual entry can place an ordinary enquiry in the allocation pool. CRE’s visible Add lead form is designed for a directly qualified lead with branch and PS selected; the underlying non-walk-in CRE creation path also supports CRE ownership. Receptionist capture forces Walk-in source and Qualified status and can attach a PS. Walk-in capture bypasses normal CRE qualification. Do not describe configured sources as live integrations: this repository supports capture and upload, not a verified live advertising-platform feed.</a:t>
            </a:r>
          </a:p>
          <a:p/>
          <a:p>
            <a:r>
              <a:t>EVIDENCE</a:t>
            </a:r>
          </a:p>
          <a:p>
            <a:r>
              <a:t>frontend/src/app/(receptionist)/capture/page.tsx; backend/analytics/views.py:ReceptionistAnalyticsView; backend/leads/views.py:perform_create; frontend/src/features/leads/sales-workspace.tsx:saveLead; frontend/src/app/(receptionist)/capture/page.tsx</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Complaints: shared queue, documented resolution</a:t>
            </a:r>
          </a:p>
          <a:p/>
          <a:p>
            <a:r>
              <a:t>PRESENTER NOTES</a:t>
            </a:r>
          </a:p>
          <a:p>
            <a:r>
              <a:t>Open, In Progress, Escalated, Resolved and Closed are available statuses. Recommend moving a ticket to In Progress when the complaints team starts work, escalating when they need management or another department, resolving when corrective action is complete, and closing after the agreed customer confirmation step. The software does not enforce this full sequence or customer confirmation. Escalated is a status, not evidence of an automatic email or routing event. Closure and resolution require non-empty resolution remarks. Agree who will monitor escalated tickets and how they will contact the relevant department.</a:t>
            </a:r>
          </a:p>
          <a:p/>
          <a:p>
            <a:r>
              <a:t>This is not the same allocation mechanism as lead distribution. There is no normal manual assignment-to-colleague control exposed in the complaint update serializer. The updater becomes the assigned user, so two resolution staff members need a clear working arrangement. CRE sees only tickets they logged; Admin and the complaints department see the shared queue. The current complaint update does not use the same stale-edit protection as the dedicated lead update flow. The notes provide a readable history of the discussion, but there is no complete old/new audit event for every complaint status or priority change.</a:t>
            </a:r>
          </a:p>
          <a:p/>
          <a:p>
            <a:r>
              <a:t>These descriptions are proposed operating guidance, not company policy or enforced service-level clocks. Ask the manager to define response targets, escalation contacts and closure evidence for each priority. The product reports complaint status totals, priority and category breakdowns, average resolution hours and trends; Admin additionally sees resolution-team performance. Average resolution uses the recorded resolved timestamp. If a ticket is reopened or its status changes again, the existing timestamp is not cleared automatically, so do not treat that number as an audited SLA compliance score.</a:t>
            </a:r>
          </a:p>
          <a:p/>
          <a:p>
            <a:r>
              <a:t>EVIDENCE</a:t>
            </a:r>
          </a:p>
          <a:p>
            <a:r>
              <a:t>backend/complaints/models.py; backend/complaints/serializers.py:ComplaintUpdateSerializer; backend/complaints/views.py:update,add_note; backend/complaints/permissions.py; backend/complaints/views.py:ComplaintAnalyticsView,_resolution_team_performance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Sales Manager: inspect, understand, direct</a:t>
            </a:r>
          </a:p>
          <a:p/>
          <a:p>
            <a:r>
              <a:t>PRESENTER NOTES</a:t>
            </a:r>
          </a:p>
          <a:p>
            <a:r>
              <a:t>The manager’s configured location determines the branch scope. A blank location gives no branch data. The manager cannot change lead status, assign, delete or reopen leads through this role. Coaching and reassignment requests take place through the company’s normal communication process; there is no implemented manager approval inbox. The operational review can identify a stale Fresh lead or an overdue follow-up and then ask the named CRE or PS to act. Flagged filters exist, but do not promise a complete escalation button-to-notification flow without a live check.</a:t>
            </a:r>
          </a:p>
          <a:p/>
          <a:p>
            <a:r>
              <a:t>Show manager Analytics first, then a person drilldown into Branch leads. The available analyses include source/model results, CRE/PS performance, current status/category splits, monthly views, follow-up information and stale leads. Stale means currently Fresh with a creation date on or before today minus three days; it is not a configurable service target or a measure of every kind of inactivity. Overdue is based on an unresolved scheduled timestamp. Follow-up and call reporting may use activity dates, while lead-period counts typically use enquiry date. Keep filters visible when discussing numbers.</a:t>
            </a:r>
          </a:p>
          <a:p/>
          <a:p>
            <a:r>
              <a:t>A good review moves from a dashboard count to a specific customer and back. Show who updated the lead, the selected outcome and the next follow-up. Lead audit detail exposes the latest thirty audit entries; do not call the visible panel an unlimited audit export. CSV exports exist for personal and manager reporting. The Admin analytics screen provides company and team review; do not promise a CSV control on that screen. Report values can briefly lag due to analytics caching, so refresh and allow the configured refresh interval after a demo change. Complaint notes are separate from the lead audit history.</a:t>
            </a:r>
          </a:p>
          <a:p/>
          <a:p>
            <a:r>
              <a:t>EVIDENCE</a:t>
            </a:r>
          </a:p>
          <a:p>
            <a:r>
              <a:t>backend/analytics/views.py:manager_base_queryset; backend/leads/views.py:manager_leads; backend/analytics/tests.py; backend/analytics/views.py:manager_payload,role_rows; frontend/src/features/analytics/sales-manager-analytics-page.tsx; backend/leads/serializers.py:LeadDetailSerializer; backend/analytics/views.py; frontend/src/features/analytics/analytics-page.tsx</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Read dashboard numbers in context</a:t>
            </a:r>
          </a:p>
          <a:p/>
          <a:p>
            <a:r>
              <a:t>PRESENTER NOTES</a:t>
            </a:r>
          </a:p>
          <a:p>
            <a:r>
              <a:t>Use this slide when the manager asks about numbers or performance measurement. The current funnel draws from status and sales-outcome snapshots. A lead that moved from Qualified to Pending or Won no longer contributes to the current Qualified count, so qualified-to-booked and booked-to-retail ratios are not historical stage conversion probabilities and may be counterintuitive. The company should use this for operational visibility while agreeing the reporting definitions needed for target or incentive calculations. Do not present invented conversion improvements or revenue impact.</a:t>
            </a:r>
          </a:p>
          <a:p/>
          <a:p>
            <a:r>
              <a:t>Ask what this difference would mean operationally. Eight follow-ups can reflect more active customers, older overdue work or a need for assistance; it does not automatically mean poor performance. Drill into the records, look at promised dates, booking status and latest remarks, then decide whether the owner needs help or Admin should redistribute eligible work. This example demonstrates how to use a workload chart without inventing real company performance data. The chart is intentionally labeled illustrative and should never be presented as a snapshot from the live system.</a:t>
            </a:r>
          </a:p>
          <a:p/>
          <a:p>
            <a:r>
              <a:t>EVIDENCE</a:t>
            </a:r>
          </a:p>
          <a:p>
            <a:r>
              <a:t>backend/analytics/views.py:summary_for,manager_payload,metrics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Make the queues part of the working day</a:t>
            </a:r>
          </a:p>
          <a:p/>
          <a:p>
            <a:r>
              <a:t>PRESENTER NOTES</a:t>
            </a:r>
          </a:p>
          <a:p>
            <a:r>
              <a:t>Position this as a suggested operating routine that the manager can adapt to existing shift timings. The product provides queues, dates, histories and reporting; people still need to review them. A short midday check can focus on leads that remain Fresh, booked customers needing further action and overdue follow-ups. End-of-day review should distinguish work that has a next date from work that lacks an active owner. Admin handles allocation corrections; SM directs branch execution. Complaints need their own queue owner because SM does not have complaint access in this build.</a:t>
            </a:r>
          </a:p>
          <a:p/>
          <a:p>
            <a:r>
              <a:t>EVIDENCE</a:t>
            </a:r>
          </a:p>
          <a:p>
            <a:r>
              <a:t>Proposed operating practice; not an enforced product rule.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Exceptions: what staff should do next</a:t>
            </a:r>
          </a:p>
          <a:p/>
          <a:p>
            <a:r>
              <a:t>PRESENTER NOTES</a:t>
            </a:r>
          </a:p>
          <a:p>
            <a:r>
              <a:t>The dedicated lead update checks changes that occur during its processing and verifies current ownership and active accounts. However, the screen does not send a version token from the moment the modal was opened, so do not claim complete stale-form protection for all edit situations. A normal save error should lead to refresh and review, not repeated blind clicking. Reassignment work created by offboarding has a distinct queue; ordinary assignment buttons are not a general transfer-any-lead control. For manager visibility issues, check the data and filters before assuming the lead was lost.</a:t>
            </a:r>
          </a:p>
          <a:p/>
          <a:p>
            <a:r>
              <a:t>Keep the discussion operational. Automatic lead feeds, WhatsApp or SMS messaging, integrated calling, payment processing and stock management are not verified capabilities in this build. Assignment and due-reminder records exist in the backend; the current main shell does not display a notification bell, and the deployment configuration does not demonstrate a scheduled worker service. Use queue refreshes for the live presentation and validate reminder delivery separately. The full presenter briefing includes implementation-specific watchpoints so the manager-facing discussion can stay focused.</a:t>
            </a:r>
          </a:p>
          <a:p/>
          <a:p>
            <a:r>
              <a:t>EVIDENCE</a:t>
            </a:r>
          </a:p>
          <a:p>
            <a:r>
              <a:t>backend/leads/views.py:so_update,assign,auto_assign; backend/analytics/views.py:manager_base_queryset; frontend/src/components/app-shell.tsx; backend/notifications/tasks.py; render.yaml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Staff changes need two handovers</a:t>
            </a:r>
          </a:p>
          <a:p/>
          <a:p>
            <a:r>
              <a:t>PRESENTER NOTES</a:t>
            </a:r>
          </a:p>
          <a:p>
            <a:r>
              <a:t>In Users, open the lifecycle action for a demo CRE or PS account. The preview shows active work grouped by status, closed records, follow-ups and eligible replacement users. For each actionable status choose a pool or selected replacement users. A changed preview is rejected so Admin must review fresh counts rather than moving work based on an old preview. Closed leads preserve the historical employee association. This dedicated preview-and-route workflow is limited to CRE and PS/SO; do not promise the same lifecycle screen for Sales Manager, Receptionist or complaints staff.</a:t>
            </a:r>
          </a:p>
          <a:p/>
          <a:p>
            <a:r>
              <a:t>Unlike normal round-robin allocation, offboarding distribution selects the lowest active workload from the chosen eligible replacements and updates that load as each lead moves. For PS work it also requires a non-blank lead branch matching the replacement location. No eligible branch match leaves the lead pooled with a reassignment flag. Ordinary fresh allocation excludes these records, which prevents them being treated as completely new enquiries. Admin can later select pooled records and replacements in All leads → Needs reassignment. Follow-up ownership can move, but its reminder remains held until review.</a:t>
            </a:r>
          </a:p>
          <a:p/>
          <a:p>
            <a:r>
              <a:t>Explain why this extra step exists: a replacement should not inherit an old reminder without anyone checking whether the customer commitment still makes sense. After offboarding, open follow-ups are held. Admin can approve them, optionally choose a new future time, or resolve the item if it is no longer relevant. Approval requires an active current follow-up owner. A record that changes owner or is resolved during review can reject the stale action. This review is separate from the work allocation step, so end-of-day controls should check both reassignment and held reminders.</a:t>
            </a:r>
          </a:p>
          <a:p/>
          <a:p>
            <a:r>
              <a:t>Use Disable as the reversible option in a live demo, and use only a disposable employee with prepared work. Permanent Delete removes login capability and scrubs email and phone while retaining history and the display name marked Deleted; it is not a deletion of all historical employee data. A deleted email can be reused for a new account. Re-enabling a disabled user does not pull leads back from replacement staff. The preview route and lifecycle event summary provide the record of who performed the action and the counts moved.</a:t>
            </a:r>
          </a:p>
          <a:p/>
          <a:p>
            <a:r>
              <a:t>EVIDENCE</a:t>
            </a:r>
          </a:p>
          <a:p>
            <a:r>
              <a:t>backend/accounts/offboarding.py:offboarding_impact,offboard_user; frontend/src/features/team/team-page.tsx; backend/accounts/offboarding.py:offboard_user; backend/leads/views.py:bulk_reassign; backend/leads/views.py:FollowUpViewSet.review; backend/notifications/tasks.py; backend/accounts/offboarding.py; backend/accounts/serializers.py:TeamMemberSerializer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Agree the rules for the pilot</a:t>
            </a:r>
          </a:p>
          <a:p/>
          <a:p>
            <a:r>
              <a:t>PRESENTER NOTES</a:t>
            </a:r>
          </a:p>
          <a:p>
            <a:r>
              <a:t>Closing talk track: We have followed the lead from Admin through CRE and PS, shown how the manager reviews the branch, and traced a complaint and a staff handover. The next step is to agree the rules in this table and use them in the pilot. Ask the manager which steps differ from the company’s current practice. Capture a named owner for each change or policy. Avoid promising a go-live date or scope that has not been agreed. The detailed appendix and presenter guide are available for follow-up questions.</a:t>
            </a:r>
          </a:p>
          <a:p/>
          <a:p>
            <a:r>
              <a:t>Complete this checklist in the environment used for the meeting or pilot. Existing automated workflow tests provide useful evidence for the repository behavior, but they do not confirm deployed configuration, account setup, imported data quality or all browser interactions. Read the companion verification report for what was actually run when building this presentation. In the live rehearsal, use separate browser profiles for different roles because account cookies are shared across tabs in the same browser profile.</a:t>
            </a:r>
          </a:p>
          <a:p/>
          <a:p>
            <a:r>
              <a:t>This is a proposed timing plan. For a shorter session, narrate the CRE loss and PS loss slides without repeating every field, and focus live clicking on one qualification handoff, one PS follow-up and one complaint resolution. Keep staff offboarding as a prepared preview unless the manager wants to see a full disposable-account exercise. Use the PDF as a fallback if the application or network is slow. Presenter notes provide the detailed explanations even when you skip a reference slide. Finish by recording decisions rather than trying to demonstrate every optional menu.</a:t>
            </a:r>
          </a:p>
          <a:p/>
          <a:p>
            <a:r>
              <a:t>EVIDENCE</a:t>
            </a:r>
          </a:p>
          <a:p>
            <a:r>
              <a:t>backend/leads/tests.py; backend/analytics/tests.py; backend/complaints/tests.py; backend/accounts/tests.py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D1B38"/>
        </a:solidFill>
        <a:effectLst/>
      </p:bgPr>
    </p:bg>
    <p:spTree>
      <p:nvGrpSpPr>
        <p:cNvPr id="1" name=""/>
        <p:cNvGrpSpPr/>
        <p:nvPr/>
      </p:nvGrpSpPr>
      <p:grpSpPr/>
      <p:cxnSp>
        <p:nvCxnSpPr>
          <p:cNvPr id="2" name="Connector 1"/>
          <p:cNvCxnSpPr/>
          <p:nvPr/>
        </p:nvCxnSpPr>
        <p:spPr>
          <a:xfrm>
            <a:off x="548640" y="6345936"/>
            <a:ext cx="11082528" cy="0"/>
          </a:xfrm>
          <a:prstGeom prst="line">
            <a:avLst/>
          </a:prstGeom>
          <a:ln w="12700">
            <a:solidFill>
              <a:srgbClr val="402B50"/>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E8DDF4"/>
                </a:solidFill>
                <a:latin typeface="Lato"/>
              </a:defRPr>
            </a:pPr>
            <a:r>
              <a:t>INCHEON MOBILITY  /  OPERATIONS DEMO</a:t>
            </a:r>
          </a:p>
        </p:txBody>
      </p:sp>
      <p:sp>
        <p:nvSpPr>
          <p:cNvPr id="4" name="TextBox 3"/>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E8DDF4"/>
                </a:solidFill>
                <a:latin typeface="Lato"/>
              </a:defRPr>
            </a:pPr>
            <a:r>
              <a:t>01 / 30</a:t>
            </a:r>
          </a:p>
        </p:txBody>
      </p:sp>
      <p:sp>
        <p:nvSpPr>
          <p:cNvPr id="5" name="TextBox 4"/>
          <p:cNvSpPr txBox="1"/>
          <p:nvPr/>
        </p:nvSpPr>
        <p:spPr>
          <a:xfrm>
            <a:off x="594360" y="475488"/>
            <a:ext cx="9144000" cy="274320"/>
          </a:xfrm>
          <a:prstGeom prst="rect">
            <a:avLst/>
          </a:prstGeom>
          <a:noFill/>
        </p:spPr>
        <p:txBody>
          <a:bodyPr wrap="square" lIns="0" rIns="0" tIns="0" bIns="0">
            <a:spAutoFit/>
          </a:bodyPr>
          <a:lstStyle/>
          <a:p>
            <a:pPr>
              <a:spcAft>
                <a:spcPts val="500"/>
              </a:spcAft>
              <a:defRPr sz="1500" b="1">
                <a:solidFill>
                  <a:srgbClr val="E8DDF4"/>
                </a:solidFill>
                <a:latin typeface="Lato"/>
              </a:defRPr>
            </a:pPr>
            <a:r>
              <a:t>INCHEON MOBILITY / CRM</a:t>
            </a:r>
          </a:p>
        </p:txBody>
      </p:sp>
      <p:sp>
        <p:nvSpPr>
          <p:cNvPr id="6" name="TextBox 5"/>
          <p:cNvSpPr txBox="1"/>
          <p:nvPr/>
        </p:nvSpPr>
        <p:spPr>
          <a:xfrm>
            <a:off x="594360" y="1463040"/>
            <a:ext cx="7132320" cy="1554480"/>
          </a:xfrm>
          <a:prstGeom prst="rect">
            <a:avLst/>
          </a:prstGeom>
          <a:noFill/>
        </p:spPr>
        <p:txBody>
          <a:bodyPr wrap="square" lIns="0" rIns="0" tIns="0" bIns="0">
            <a:spAutoFit/>
          </a:bodyPr>
          <a:lstStyle/>
          <a:p>
            <a:pPr>
              <a:spcAft>
                <a:spcPts val="500"/>
              </a:spcAft>
              <a:defRPr sz="4600" b="1">
                <a:solidFill>
                  <a:srgbClr val="FFFFFF"/>
                </a:solidFill>
                <a:latin typeface="Lato"/>
              </a:defRPr>
            </a:pPr>
            <a:r>
              <a:t>From enquiry</a:t>
            </a:r>
          </a:p>
          <a:p>
            <a:pPr>
              <a:spcAft>
                <a:spcPts val="500"/>
              </a:spcAft>
              <a:defRPr sz="4600" b="1">
                <a:solidFill>
                  <a:srgbClr val="FFFFFF"/>
                </a:solidFill>
                <a:latin typeface="Lato"/>
              </a:defRPr>
            </a:pPr>
            <a:r>
              <a:t>to outcome</a:t>
            </a:r>
          </a:p>
        </p:txBody>
      </p:sp>
      <p:sp>
        <p:nvSpPr>
          <p:cNvPr id="7" name="TextBox 6"/>
          <p:cNvSpPr txBox="1"/>
          <p:nvPr/>
        </p:nvSpPr>
        <p:spPr>
          <a:xfrm>
            <a:off x="640080" y="3465576"/>
            <a:ext cx="6492240" cy="777240"/>
          </a:xfrm>
          <a:prstGeom prst="rect">
            <a:avLst/>
          </a:prstGeom>
          <a:noFill/>
        </p:spPr>
        <p:txBody>
          <a:bodyPr wrap="square" lIns="0" rIns="0" tIns="0" bIns="0">
            <a:spAutoFit/>
          </a:bodyPr>
          <a:lstStyle/>
          <a:p>
            <a:pPr>
              <a:spcAft>
                <a:spcPts val="500"/>
              </a:spcAft>
              <a:defRPr sz="2400" b="0">
                <a:solidFill>
                  <a:srgbClr val="E8DDF4"/>
                </a:solidFill>
                <a:latin typeface="Lato"/>
              </a:defRPr>
            </a:pPr>
            <a:r>
              <a:t>People. Decisions. Follow-ups.</a:t>
            </a:r>
          </a:p>
          <a:p>
            <a:pPr>
              <a:spcAft>
                <a:spcPts val="500"/>
              </a:spcAft>
              <a:defRPr sz="2400" b="0">
                <a:solidFill>
                  <a:srgbClr val="E8DDF4"/>
                </a:solidFill>
                <a:latin typeface="Lato"/>
              </a:defRPr>
            </a:pPr>
            <a:r>
              <a:t>An operations walkthrough.</a:t>
            </a:r>
          </a:p>
        </p:txBody>
      </p:sp>
      <p:sp>
        <p:nvSpPr>
          <p:cNvPr id="8" name="Rounded Rectangle 7"/>
          <p:cNvSpPr/>
          <p:nvPr/>
        </p:nvSpPr>
        <p:spPr>
          <a:xfrm>
            <a:off x="640080" y="4901184"/>
            <a:ext cx="2788920" cy="356616"/>
          </a:xfrm>
          <a:prstGeom prst="roundRect">
            <a:avLst/>
          </a:prstGeom>
          <a:solidFill>
            <a:srgbClr val="402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19" y="4965192"/>
            <a:ext cx="2606039" cy="228600"/>
          </a:xfrm>
          <a:prstGeom prst="rect">
            <a:avLst/>
          </a:prstGeom>
          <a:noFill/>
        </p:spPr>
        <p:txBody>
          <a:bodyPr wrap="square" lIns="0" rIns="0" tIns="0" bIns="0">
            <a:spAutoFit/>
          </a:bodyPr>
          <a:lstStyle/>
          <a:p>
            <a:pPr algn="ctr">
              <a:spcAft>
                <a:spcPts val="500"/>
              </a:spcAft>
              <a:defRPr sz="1200" b="1">
                <a:solidFill>
                  <a:srgbClr val="FFFFFF"/>
                </a:solidFill>
                <a:latin typeface="Lato"/>
              </a:defRPr>
            </a:pPr>
            <a:r>
              <a:t>PRODUCT DEMONSTRATION</a:t>
            </a:r>
          </a:p>
        </p:txBody>
      </p:sp>
      <p:sp>
        <p:nvSpPr>
          <p:cNvPr id="10" name="TextBox 9"/>
          <p:cNvSpPr txBox="1"/>
          <p:nvPr/>
        </p:nvSpPr>
        <p:spPr>
          <a:xfrm>
            <a:off x="640080" y="5669280"/>
            <a:ext cx="5486400" cy="292608"/>
          </a:xfrm>
          <a:prstGeom prst="rect">
            <a:avLst/>
          </a:prstGeom>
          <a:noFill/>
        </p:spPr>
        <p:txBody>
          <a:bodyPr wrap="square" lIns="0" rIns="0" tIns="0" bIns="0">
            <a:spAutoFit/>
          </a:bodyPr>
          <a:lstStyle/>
          <a:p>
            <a:pPr>
              <a:spcAft>
                <a:spcPts val="500"/>
              </a:spcAft>
              <a:defRPr sz="1200" b="0">
                <a:solidFill>
                  <a:srgbClr val="E8DDF4"/>
                </a:solidFill>
                <a:latin typeface="Lato"/>
              </a:defRPr>
            </a:pPr>
            <a:r>
              <a:t>9 SEPTEMBER 2026</a:t>
            </a:r>
          </a:p>
        </p:txBody>
      </p:sp>
      <p:cxnSp>
        <p:nvCxnSpPr>
          <p:cNvPr id="11" name="Connector 10"/>
          <p:cNvCxnSpPr/>
          <p:nvPr/>
        </p:nvCxnSpPr>
        <p:spPr>
          <a:xfrm>
            <a:off x="8595360" y="1856231"/>
            <a:ext cx="0" cy="3218689"/>
          </a:xfrm>
          <a:prstGeom prst="line">
            <a:avLst/>
          </a:prstGeom>
          <a:ln w="1143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595360" y="3364992"/>
            <a:ext cx="2103120" cy="0"/>
          </a:xfrm>
          <a:prstGeom prst="line">
            <a:avLst/>
          </a:prstGeom>
          <a:ln w="889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698480" y="3364992"/>
            <a:ext cx="0" cy="1709928"/>
          </a:xfrm>
          <a:prstGeom prst="line">
            <a:avLst/>
          </a:prstGeom>
          <a:ln w="88900">
            <a:solidFill>
              <a:srgbClr val="B65F2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229600" y="1490472"/>
            <a:ext cx="731520" cy="731520"/>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37576" y="2395727"/>
            <a:ext cx="1124712" cy="256032"/>
          </a:xfrm>
          <a:prstGeom prst="rect">
            <a:avLst/>
          </a:prstGeom>
          <a:noFill/>
        </p:spPr>
        <p:txBody>
          <a:bodyPr wrap="square" lIns="0" rIns="0" tIns="0" bIns="0">
            <a:spAutoFit/>
          </a:bodyPr>
          <a:lstStyle/>
          <a:p>
            <a:pPr algn="ctr">
              <a:spcAft>
                <a:spcPts val="500"/>
              </a:spcAft>
              <a:defRPr sz="1300" b="1">
                <a:solidFill>
                  <a:srgbClr val="FFFFFF"/>
                </a:solidFill>
                <a:latin typeface="Lato"/>
              </a:defRPr>
            </a:pPr>
            <a:r>
              <a:t>CRE</a:t>
            </a:r>
          </a:p>
        </p:txBody>
      </p:sp>
      <p:sp>
        <p:nvSpPr>
          <p:cNvPr id="16" name="Oval 15"/>
          <p:cNvSpPr/>
          <p:nvPr/>
        </p:nvSpPr>
        <p:spPr>
          <a:xfrm>
            <a:off x="8229600" y="2999232"/>
            <a:ext cx="731520" cy="731520"/>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37576" y="3904488"/>
            <a:ext cx="1124712" cy="256032"/>
          </a:xfrm>
          <a:prstGeom prst="rect">
            <a:avLst/>
          </a:prstGeom>
          <a:noFill/>
        </p:spPr>
        <p:txBody>
          <a:bodyPr wrap="square" lIns="0" rIns="0" tIns="0" bIns="0">
            <a:spAutoFit/>
          </a:bodyPr>
          <a:lstStyle/>
          <a:p>
            <a:pPr algn="ctr">
              <a:spcAft>
                <a:spcPts val="500"/>
              </a:spcAft>
              <a:defRPr sz="1300" b="1">
                <a:solidFill>
                  <a:srgbClr val="FFFFFF"/>
                </a:solidFill>
                <a:latin typeface="Lato"/>
              </a:defRPr>
            </a:pPr>
            <a:r>
              <a:t>PS</a:t>
            </a:r>
          </a:p>
        </p:txBody>
      </p:sp>
      <p:sp>
        <p:nvSpPr>
          <p:cNvPr id="18" name="Oval 17"/>
          <p:cNvSpPr/>
          <p:nvPr/>
        </p:nvSpPr>
        <p:spPr>
          <a:xfrm>
            <a:off x="8229600" y="4709159"/>
            <a:ext cx="731520" cy="731520"/>
          </a:xfrm>
          <a:prstGeom prst="ellipse">
            <a:avLst/>
          </a:prstGeom>
          <a:solidFill>
            <a:srgbClr val="2477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37576" y="5614416"/>
            <a:ext cx="1124712" cy="256032"/>
          </a:xfrm>
          <a:prstGeom prst="rect">
            <a:avLst/>
          </a:prstGeom>
          <a:noFill/>
        </p:spPr>
        <p:txBody>
          <a:bodyPr wrap="square" lIns="0" rIns="0" tIns="0" bIns="0">
            <a:spAutoFit/>
          </a:bodyPr>
          <a:lstStyle/>
          <a:p>
            <a:pPr algn="ctr">
              <a:spcAft>
                <a:spcPts val="500"/>
              </a:spcAft>
              <a:defRPr sz="1300" b="1">
                <a:solidFill>
                  <a:srgbClr val="FFFFFF"/>
                </a:solidFill>
                <a:latin typeface="Lato"/>
              </a:defRPr>
            </a:pPr>
            <a:r>
              <a:t>RETAIL</a:t>
            </a:r>
          </a:p>
        </p:txBody>
      </p:sp>
      <p:sp>
        <p:nvSpPr>
          <p:cNvPr id="20" name="Oval 19"/>
          <p:cNvSpPr/>
          <p:nvPr/>
        </p:nvSpPr>
        <p:spPr>
          <a:xfrm>
            <a:off x="10332719" y="4709159"/>
            <a:ext cx="731520" cy="731520"/>
          </a:xfrm>
          <a:prstGeom prst="ellipse">
            <a:avLst/>
          </a:prstGeom>
          <a:solidFill>
            <a:srgbClr val="B65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140696" y="5614416"/>
            <a:ext cx="1124712" cy="256032"/>
          </a:xfrm>
          <a:prstGeom prst="rect">
            <a:avLst/>
          </a:prstGeom>
          <a:noFill/>
        </p:spPr>
        <p:txBody>
          <a:bodyPr wrap="square" lIns="0" rIns="0" tIns="0" bIns="0">
            <a:spAutoFit/>
          </a:bodyPr>
          <a:lstStyle/>
          <a:p>
            <a:pPr algn="ctr">
              <a:spcAft>
                <a:spcPts val="500"/>
              </a:spcAft>
              <a:defRPr sz="1300" b="1">
                <a:solidFill>
                  <a:srgbClr val="FFFFFF"/>
                </a:solidFill>
                <a:latin typeface="Lato"/>
              </a:defRPr>
            </a:pPr>
            <a:r>
              <a:t>LOST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THE OPERATING MODEL</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One enquiry. A visible next owner.</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Admin → CRE → PS/SO, with branch oversight from the Sales Manager.</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02 / 30</a:t>
            </a:r>
          </a:p>
        </p:txBody>
      </p:sp>
      <p:cxnSp>
        <p:nvCxnSpPr>
          <p:cNvPr id="8" name="Connector 7"/>
          <p:cNvCxnSpPr/>
          <p:nvPr/>
        </p:nvCxnSpPr>
        <p:spPr>
          <a:xfrm>
            <a:off x="1225296" y="2843784"/>
            <a:ext cx="9637776" cy="0"/>
          </a:xfrm>
          <a:prstGeom prst="line">
            <a:avLst/>
          </a:prstGeom>
          <a:ln w="88900">
            <a:solidFill>
              <a:srgbClr val="6945A3"/>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1060704" y="2670048"/>
            <a:ext cx="347472" cy="347472"/>
          </a:xfrm>
          <a:prstGeom prst="ellipse">
            <a:avLst/>
          </a:prstGeom>
          <a:solidFill>
            <a:srgbClr val="FFFFFF"/>
          </a:solid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2240280"/>
            <a:ext cx="1810512" cy="338328"/>
          </a:xfrm>
          <a:prstGeom prst="rect">
            <a:avLst/>
          </a:prstGeom>
          <a:noFill/>
        </p:spPr>
        <p:txBody>
          <a:bodyPr wrap="square" lIns="0" rIns="0" tIns="0" bIns="0">
            <a:spAutoFit/>
          </a:bodyPr>
          <a:lstStyle/>
          <a:p>
            <a:pPr algn="ctr">
              <a:spcAft>
                <a:spcPts val="500"/>
              </a:spcAft>
              <a:defRPr sz="1900" b="1">
                <a:solidFill>
                  <a:srgbClr val="6945A3"/>
                </a:solidFill>
                <a:latin typeface="Lato"/>
              </a:defRPr>
            </a:pPr>
            <a:r>
              <a:t>INTAKE</a:t>
            </a:r>
          </a:p>
        </p:txBody>
      </p:sp>
      <p:sp>
        <p:nvSpPr>
          <p:cNvPr id="11" name="TextBox 10"/>
          <p:cNvSpPr txBox="1"/>
          <p:nvPr/>
        </p:nvSpPr>
        <p:spPr>
          <a:xfrm>
            <a:off x="502920" y="3264408"/>
            <a:ext cx="1883664" cy="457200"/>
          </a:xfrm>
          <a:prstGeom prst="rect">
            <a:avLst/>
          </a:prstGeom>
          <a:noFill/>
        </p:spPr>
        <p:txBody>
          <a:bodyPr wrap="square" lIns="0" rIns="0" tIns="0" bIns="0">
            <a:spAutoFit/>
          </a:bodyPr>
          <a:lstStyle/>
          <a:p>
            <a:pPr algn="ctr">
              <a:spcAft>
                <a:spcPts val="500"/>
              </a:spcAft>
              <a:defRPr sz="1700" b="0">
                <a:solidFill>
                  <a:srgbClr val="776B80"/>
                </a:solidFill>
                <a:latin typeface="Lato"/>
              </a:defRPr>
            </a:pPr>
            <a:r>
              <a:t>Import / capture</a:t>
            </a:r>
          </a:p>
        </p:txBody>
      </p:sp>
      <p:sp>
        <p:nvSpPr>
          <p:cNvPr id="12" name="Oval 11"/>
          <p:cNvSpPr/>
          <p:nvPr/>
        </p:nvSpPr>
        <p:spPr>
          <a:xfrm>
            <a:off x="4261103" y="2670048"/>
            <a:ext cx="347472" cy="347472"/>
          </a:xfrm>
          <a:prstGeom prst="ellipse">
            <a:avLst/>
          </a:prstGeom>
          <a:solidFill>
            <a:srgbClr val="FFFFFF"/>
          </a:solid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85615" y="2240280"/>
            <a:ext cx="1810512" cy="338328"/>
          </a:xfrm>
          <a:prstGeom prst="rect">
            <a:avLst/>
          </a:prstGeom>
          <a:noFill/>
        </p:spPr>
        <p:txBody>
          <a:bodyPr wrap="square" lIns="0" rIns="0" tIns="0" bIns="0">
            <a:spAutoFit/>
          </a:bodyPr>
          <a:lstStyle/>
          <a:p>
            <a:pPr algn="ctr">
              <a:spcAft>
                <a:spcPts val="500"/>
              </a:spcAft>
              <a:defRPr sz="1900" b="1">
                <a:solidFill>
                  <a:srgbClr val="6945A3"/>
                </a:solidFill>
                <a:latin typeface="Lato"/>
              </a:defRPr>
            </a:pPr>
            <a:r>
              <a:t>CRE</a:t>
            </a:r>
          </a:p>
        </p:txBody>
      </p:sp>
      <p:sp>
        <p:nvSpPr>
          <p:cNvPr id="14" name="TextBox 13"/>
          <p:cNvSpPr txBox="1"/>
          <p:nvPr/>
        </p:nvSpPr>
        <p:spPr>
          <a:xfrm>
            <a:off x="3703320" y="3264408"/>
            <a:ext cx="1883664" cy="457200"/>
          </a:xfrm>
          <a:prstGeom prst="rect">
            <a:avLst/>
          </a:prstGeom>
          <a:noFill/>
        </p:spPr>
        <p:txBody>
          <a:bodyPr wrap="square" lIns="0" rIns="0" tIns="0" bIns="0">
            <a:spAutoFit/>
          </a:bodyPr>
          <a:lstStyle/>
          <a:p>
            <a:pPr algn="ctr">
              <a:spcAft>
                <a:spcPts val="500"/>
              </a:spcAft>
              <a:defRPr sz="1700" b="0">
                <a:solidFill>
                  <a:srgbClr val="776B80"/>
                </a:solidFill>
                <a:latin typeface="Lato"/>
              </a:defRPr>
            </a:pPr>
            <a:r>
              <a:t>Contact &amp; qualify</a:t>
            </a:r>
          </a:p>
        </p:txBody>
      </p:sp>
      <p:sp>
        <p:nvSpPr>
          <p:cNvPr id="15" name="Oval 14"/>
          <p:cNvSpPr/>
          <p:nvPr/>
        </p:nvSpPr>
        <p:spPr>
          <a:xfrm>
            <a:off x="7461504" y="2670048"/>
            <a:ext cx="347472" cy="347472"/>
          </a:xfrm>
          <a:prstGeom prst="ellipse">
            <a:avLst/>
          </a:prstGeom>
          <a:solidFill>
            <a:srgbClr val="FFFFFF"/>
          </a:solid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86016" y="2240280"/>
            <a:ext cx="1810512" cy="338328"/>
          </a:xfrm>
          <a:prstGeom prst="rect">
            <a:avLst/>
          </a:prstGeom>
          <a:noFill/>
        </p:spPr>
        <p:txBody>
          <a:bodyPr wrap="square" lIns="0" rIns="0" tIns="0" bIns="0">
            <a:spAutoFit/>
          </a:bodyPr>
          <a:lstStyle/>
          <a:p>
            <a:pPr algn="ctr">
              <a:spcAft>
                <a:spcPts val="500"/>
              </a:spcAft>
              <a:defRPr sz="1900" b="1">
                <a:solidFill>
                  <a:srgbClr val="6945A3"/>
                </a:solidFill>
                <a:latin typeface="Lato"/>
              </a:defRPr>
            </a:pPr>
            <a:r>
              <a:t>PS/SO</a:t>
            </a:r>
          </a:p>
        </p:txBody>
      </p:sp>
      <p:sp>
        <p:nvSpPr>
          <p:cNvPr id="17" name="TextBox 16"/>
          <p:cNvSpPr txBox="1"/>
          <p:nvPr/>
        </p:nvSpPr>
        <p:spPr>
          <a:xfrm>
            <a:off x="6903720" y="3264408"/>
            <a:ext cx="1883664" cy="457200"/>
          </a:xfrm>
          <a:prstGeom prst="rect">
            <a:avLst/>
          </a:prstGeom>
          <a:noFill/>
        </p:spPr>
        <p:txBody>
          <a:bodyPr wrap="square" lIns="0" rIns="0" tIns="0" bIns="0">
            <a:spAutoFit/>
          </a:bodyPr>
          <a:lstStyle/>
          <a:p>
            <a:pPr algn="ctr">
              <a:spcAft>
                <a:spcPts val="500"/>
              </a:spcAft>
              <a:defRPr sz="1700" b="0">
                <a:solidFill>
                  <a:srgbClr val="776B80"/>
                </a:solidFill>
                <a:latin typeface="Lato"/>
              </a:defRPr>
            </a:pPr>
            <a:r>
              <a:t>Follow-up &amp; book</a:t>
            </a:r>
          </a:p>
        </p:txBody>
      </p:sp>
      <p:sp>
        <p:nvSpPr>
          <p:cNvPr id="18" name="Oval 17"/>
          <p:cNvSpPr/>
          <p:nvPr/>
        </p:nvSpPr>
        <p:spPr>
          <a:xfrm>
            <a:off x="10661904" y="2670048"/>
            <a:ext cx="347472" cy="347472"/>
          </a:xfrm>
          <a:prstGeom prst="ellipse">
            <a:avLst/>
          </a:prstGeom>
          <a:solidFill>
            <a:srgbClr val="FFFFFF"/>
          </a:solid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86416" y="2240280"/>
            <a:ext cx="1810512" cy="338328"/>
          </a:xfrm>
          <a:prstGeom prst="rect">
            <a:avLst/>
          </a:prstGeom>
          <a:noFill/>
        </p:spPr>
        <p:txBody>
          <a:bodyPr wrap="square" lIns="0" rIns="0" tIns="0" bIns="0">
            <a:spAutoFit/>
          </a:bodyPr>
          <a:lstStyle/>
          <a:p>
            <a:pPr algn="ctr">
              <a:spcAft>
                <a:spcPts val="500"/>
              </a:spcAft>
              <a:defRPr sz="1900" b="1">
                <a:solidFill>
                  <a:srgbClr val="6945A3"/>
                </a:solidFill>
                <a:latin typeface="Lato"/>
              </a:defRPr>
            </a:pPr>
            <a:r>
              <a:t>RETAIL</a:t>
            </a:r>
          </a:p>
        </p:txBody>
      </p:sp>
      <p:sp>
        <p:nvSpPr>
          <p:cNvPr id="20" name="TextBox 19"/>
          <p:cNvSpPr txBox="1"/>
          <p:nvPr/>
        </p:nvSpPr>
        <p:spPr>
          <a:xfrm>
            <a:off x="10104119" y="3264408"/>
            <a:ext cx="1883664" cy="457200"/>
          </a:xfrm>
          <a:prstGeom prst="rect">
            <a:avLst/>
          </a:prstGeom>
          <a:noFill/>
        </p:spPr>
        <p:txBody>
          <a:bodyPr wrap="square" lIns="0" rIns="0" tIns="0" bIns="0">
            <a:spAutoFit/>
          </a:bodyPr>
          <a:lstStyle/>
          <a:p>
            <a:pPr algn="ctr">
              <a:spcAft>
                <a:spcPts val="500"/>
              </a:spcAft>
              <a:defRPr sz="1700" b="0">
                <a:solidFill>
                  <a:srgbClr val="776B80"/>
                </a:solidFill>
                <a:latin typeface="Lato"/>
              </a:defRPr>
            </a:pPr>
            <a:r>
              <a:t>Record the sale</a:t>
            </a:r>
          </a:p>
        </p:txBody>
      </p:sp>
      <p:cxnSp>
        <p:nvCxnSpPr>
          <p:cNvPr id="21" name="Connector 20"/>
          <p:cNvCxnSpPr/>
          <p:nvPr/>
        </p:nvCxnSpPr>
        <p:spPr>
          <a:xfrm>
            <a:off x="4434840" y="3017520"/>
            <a:ext cx="0" cy="109728"/>
          </a:xfrm>
          <a:prstGeom prst="line">
            <a:avLst/>
          </a:prstGeom>
          <a:ln w="381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3063240" y="3127248"/>
            <a:ext cx="1371600" cy="0"/>
          </a:xfrm>
          <a:prstGeom prst="line">
            <a:avLst/>
          </a:prstGeom>
          <a:ln w="381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063240" y="3127248"/>
            <a:ext cx="0" cy="1252728"/>
          </a:xfrm>
          <a:prstGeom prst="line">
            <a:avLst/>
          </a:prstGeom>
          <a:ln w="381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063240" y="4379976"/>
            <a:ext cx="2697480" cy="0"/>
          </a:xfrm>
          <a:prstGeom prst="line">
            <a:avLst/>
          </a:prstGeom>
          <a:ln w="38100">
            <a:solidFill>
              <a:srgbClr val="B65F2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212848" y="4526280"/>
            <a:ext cx="1755648" cy="356616"/>
          </a:xfrm>
          <a:prstGeom prst="roundRect">
            <a:avLst/>
          </a:prstGeom>
          <a:solidFill>
            <a:srgbClr val="F6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04288" y="4590288"/>
            <a:ext cx="1572768" cy="228600"/>
          </a:xfrm>
          <a:prstGeom prst="rect">
            <a:avLst/>
          </a:prstGeom>
          <a:noFill/>
        </p:spPr>
        <p:txBody>
          <a:bodyPr wrap="square" lIns="0" rIns="0" tIns="0" bIns="0">
            <a:spAutoFit/>
          </a:bodyPr>
          <a:lstStyle/>
          <a:p>
            <a:pPr algn="ctr">
              <a:spcAft>
                <a:spcPts val="500"/>
              </a:spcAft>
              <a:defRPr sz="1300" b="1">
                <a:solidFill>
                  <a:srgbClr val="B65F20"/>
                </a:solidFill>
                <a:latin typeface="Lato"/>
              </a:defRPr>
            </a:pPr>
            <a:r>
              <a:t>PENDING</a:t>
            </a:r>
          </a:p>
        </p:txBody>
      </p:sp>
      <p:sp>
        <p:nvSpPr>
          <p:cNvPr id="27" name="Rounded Rectangle 26"/>
          <p:cNvSpPr/>
          <p:nvPr/>
        </p:nvSpPr>
        <p:spPr>
          <a:xfrm>
            <a:off x="5038344" y="4526280"/>
            <a:ext cx="1554480" cy="356616"/>
          </a:xfrm>
          <a:prstGeom prst="roundRect">
            <a:avLst/>
          </a:prstGeom>
          <a:solidFill>
            <a:srgbClr val="F4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29783" y="4590288"/>
            <a:ext cx="1371600" cy="228600"/>
          </a:xfrm>
          <a:prstGeom prst="rect">
            <a:avLst/>
          </a:prstGeom>
          <a:noFill/>
        </p:spPr>
        <p:txBody>
          <a:bodyPr wrap="square" lIns="0" rIns="0" tIns="0" bIns="0">
            <a:spAutoFit/>
          </a:bodyPr>
          <a:lstStyle/>
          <a:p>
            <a:pPr algn="ctr">
              <a:spcAft>
                <a:spcPts val="500"/>
              </a:spcAft>
              <a:defRPr sz="1300" b="1">
                <a:solidFill>
                  <a:srgbClr val="AD405D"/>
                </a:solidFill>
                <a:latin typeface="Lato"/>
              </a:defRPr>
            </a:pPr>
            <a:r>
              <a:t>LOST</a:t>
            </a:r>
          </a:p>
        </p:txBody>
      </p:sp>
      <p:sp>
        <p:nvSpPr>
          <p:cNvPr id="29" name="Rounded Rectangle 28"/>
          <p:cNvSpPr/>
          <p:nvPr/>
        </p:nvSpPr>
        <p:spPr>
          <a:xfrm>
            <a:off x="7571231" y="4453128"/>
            <a:ext cx="3895344" cy="356616"/>
          </a:xfrm>
          <a:prstGeom prst="roundRect">
            <a:avLst/>
          </a:prstGeom>
          <a:solidFill>
            <a:srgbClr val="E8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62671" y="4517136"/>
            <a:ext cx="3712463" cy="228600"/>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SALES MANAGER · BRANCH REVIEW</a:t>
            </a:r>
          </a:p>
        </p:txBody>
      </p:sp>
      <p:sp>
        <p:nvSpPr>
          <p:cNvPr id="31" name="TextBox 30"/>
          <p:cNvSpPr txBox="1"/>
          <p:nvPr/>
        </p:nvSpPr>
        <p:spPr>
          <a:xfrm>
            <a:off x="685800" y="5294376"/>
            <a:ext cx="10881360" cy="356616"/>
          </a:xfrm>
          <a:prstGeom prst="rect">
            <a:avLst/>
          </a:prstGeom>
          <a:noFill/>
        </p:spPr>
        <p:txBody>
          <a:bodyPr wrap="square" lIns="0" rIns="0" tIns="0" bIns="0">
            <a:spAutoFit/>
          </a:bodyPr>
          <a:lstStyle/>
          <a:p>
            <a:pPr>
              <a:spcAft>
                <a:spcPts val="500"/>
              </a:spcAft>
              <a:defRPr sz="1900" b="1">
                <a:solidFill>
                  <a:srgbClr val="2D1B38"/>
                </a:solidFill>
                <a:latin typeface="Lato"/>
              </a:defRPr>
            </a:pPr>
            <a:r>
              <a:t>Complaint path: CRE logs a ticket → Complaints department resolves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PEOPLE &amp; PERMISSIONS</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Six roles, clear responsibilities</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Each workspace follows the person’s job.</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03 / 30</a:t>
            </a:r>
          </a:p>
        </p:txBody>
      </p:sp>
      <p:sp>
        <p:nvSpPr>
          <p:cNvPr id="8" name="Rounded Rectangle 7"/>
          <p:cNvSpPr/>
          <p:nvPr/>
        </p:nvSpPr>
        <p:spPr>
          <a:xfrm>
            <a:off x="576072" y="2249424"/>
            <a:ext cx="3483864"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56462" y="2485339"/>
            <a:ext cx="153619" cy="137160"/>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69924" y="2847441"/>
            <a:ext cx="153619" cy="137160"/>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43000" y="2847441"/>
            <a:ext cx="153619" cy="137160"/>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1033272" y="2622499"/>
            <a:ext cx="0" cy="109728"/>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46734" y="2732227"/>
            <a:ext cx="373075"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46734" y="2732227"/>
            <a:ext cx="0" cy="115214"/>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219809" y="2732227"/>
            <a:ext cx="0" cy="115214"/>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490472" y="2496312"/>
            <a:ext cx="2386584" cy="393192"/>
          </a:xfrm>
          <a:prstGeom prst="rect">
            <a:avLst/>
          </a:prstGeom>
          <a:noFill/>
        </p:spPr>
        <p:txBody>
          <a:bodyPr wrap="square" lIns="0" rIns="0" tIns="0" bIns="0">
            <a:spAutoFit/>
          </a:bodyPr>
          <a:lstStyle/>
          <a:p>
            <a:pPr>
              <a:spcAft>
                <a:spcPts val="500"/>
              </a:spcAft>
              <a:defRPr sz="2200" b="1">
                <a:solidFill>
                  <a:srgbClr val="6945A3"/>
                </a:solidFill>
                <a:latin typeface="Lato"/>
              </a:defRPr>
            </a:pPr>
            <a:r>
              <a:t>Admin</a:t>
            </a:r>
          </a:p>
        </p:txBody>
      </p:sp>
      <p:sp>
        <p:nvSpPr>
          <p:cNvPr id="17" name="TextBox 16"/>
          <p:cNvSpPr txBox="1"/>
          <p:nvPr/>
        </p:nvSpPr>
        <p:spPr>
          <a:xfrm>
            <a:off x="786384" y="3172968"/>
            <a:ext cx="3072384" cy="329184"/>
          </a:xfrm>
          <a:prstGeom prst="rect">
            <a:avLst/>
          </a:prstGeom>
          <a:noFill/>
        </p:spPr>
        <p:txBody>
          <a:bodyPr wrap="square" lIns="0" rIns="0" tIns="0" bIns="0">
            <a:spAutoFit/>
          </a:bodyPr>
          <a:lstStyle/>
          <a:p>
            <a:pPr>
              <a:spcAft>
                <a:spcPts val="500"/>
              </a:spcAft>
              <a:defRPr sz="1500" b="0">
                <a:solidFill>
                  <a:srgbClr val="776B80"/>
                </a:solidFill>
                <a:latin typeface="Lato"/>
              </a:defRPr>
            </a:pPr>
            <a:r>
              <a:t>Allocate · configure · recover work</a:t>
            </a:r>
          </a:p>
        </p:txBody>
      </p:sp>
      <p:sp>
        <p:nvSpPr>
          <p:cNvPr id="18" name="Rounded Rectangle 17"/>
          <p:cNvSpPr/>
          <p:nvPr/>
        </p:nvSpPr>
        <p:spPr>
          <a:xfrm>
            <a:off x="4352544" y="2249424"/>
            <a:ext cx="3483864"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flipH="1">
            <a:off x="4584801" y="2540203"/>
            <a:ext cx="49378" cy="115214"/>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584801" y="2655417"/>
            <a:ext cx="104242" cy="170079"/>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89043" y="2825496"/>
            <a:ext cx="202997" cy="148132"/>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4892040" y="2913278"/>
            <a:ext cx="126187" cy="6035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34179" y="2540203"/>
            <a:ext cx="115214" cy="109728"/>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4689043" y="2649931"/>
            <a:ext cx="60350" cy="71323"/>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4837176" y="2803550"/>
            <a:ext cx="76809" cy="65837"/>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913985" y="2803550"/>
            <a:ext cx="104242" cy="109728"/>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266944" y="2496312"/>
            <a:ext cx="2386584" cy="393192"/>
          </a:xfrm>
          <a:prstGeom prst="rect">
            <a:avLst/>
          </a:prstGeom>
          <a:noFill/>
        </p:spPr>
        <p:txBody>
          <a:bodyPr wrap="square" lIns="0" rIns="0" tIns="0" bIns="0">
            <a:spAutoFit/>
          </a:bodyPr>
          <a:lstStyle/>
          <a:p>
            <a:pPr>
              <a:spcAft>
                <a:spcPts val="500"/>
              </a:spcAft>
              <a:defRPr sz="2200" b="1">
                <a:solidFill>
                  <a:srgbClr val="6945A3"/>
                </a:solidFill>
                <a:latin typeface="Lato"/>
              </a:defRPr>
            </a:pPr>
            <a:r>
              <a:t>CRE</a:t>
            </a:r>
          </a:p>
        </p:txBody>
      </p:sp>
      <p:sp>
        <p:nvSpPr>
          <p:cNvPr id="28" name="TextBox 27"/>
          <p:cNvSpPr txBox="1"/>
          <p:nvPr/>
        </p:nvSpPr>
        <p:spPr>
          <a:xfrm>
            <a:off x="4562856" y="3172968"/>
            <a:ext cx="3072384" cy="329184"/>
          </a:xfrm>
          <a:prstGeom prst="rect">
            <a:avLst/>
          </a:prstGeom>
          <a:noFill/>
        </p:spPr>
        <p:txBody>
          <a:bodyPr wrap="square" lIns="0" rIns="0" tIns="0" bIns="0">
            <a:spAutoFit/>
          </a:bodyPr>
          <a:lstStyle/>
          <a:p>
            <a:pPr>
              <a:spcAft>
                <a:spcPts val="500"/>
              </a:spcAft>
              <a:defRPr sz="1500" b="0">
                <a:solidFill>
                  <a:srgbClr val="776B80"/>
                </a:solidFill>
                <a:latin typeface="Lato"/>
              </a:defRPr>
            </a:pPr>
            <a:r>
              <a:t>Contact · qualify · log complaints</a:t>
            </a:r>
          </a:p>
        </p:txBody>
      </p:sp>
      <p:sp>
        <p:nvSpPr>
          <p:cNvPr id="29" name="Rounded Rectangle 28"/>
          <p:cNvSpPr/>
          <p:nvPr/>
        </p:nvSpPr>
        <p:spPr>
          <a:xfrm>
            <a:off x="8129016" y="2249424"/>
            <a:ext cx="3483864"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344814" y="2501798"/>
            <a:ext cx="482803" cy="482803"/>
          </a:xfrm>
          <a:prstGeom prst="ellipse">
            <a:avLst/>
          </a:prstGeom>
          <a:noFill/>
          <a:ln w="15240">
            <a:solidFill>
              <a:srgbClr val="247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8438083" y="2737713"/>
            <a:ext cx="104241" cy="104242"/>
          </a:xfrm>
          <a:prstGeom prst="line">
            <a:avLst/>
          </a:prstGeom>
          <a:ln w="25400">
            <a:solidFill>
              <a:srgbClr val="24776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8542324" y="2627985"/>
            <a:ext cx="192024" cy="213970"/>
          </a:xfrm>
          <a:prstGeom prst="line">
            <a:avLst/>
          </a:prstGeom>
          <a:ln w="25400">
            <a:solidFill>
              <a:srgbClr val="24776D"/>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043416" y="2496312"/>
            <a:ext cx="2386584" cy="393192"/>
          </a:xfrm>
          <a:prstGeom prst="rect">
            <a:avLst/>
          </a:prstGeom>
          <a:noFill/>
        </p:spPr>
        <p:txBody>
          <a:bodyPr wrap="square" lIns="0" rIns="0" tIns="0" bIns="0">
            <a:spAutoFit/>
          </a:bodyPr>
          <a:lstStyle/>
          <a:p>
            <a:pPr>
              <a:spcAft>
                <a:spcPts val="500"/>
              </a:spcAft>
              <a:defRPr sz="2200" b="1">
                <a:solidFill>
                  <a:srgbClr val="24776D"/>
                </a:solidFill>
                <a:latin typeface="Lato"/>
              </a:defRPr>
            </a:pPr>
            <a:r>
              <a:t>PS/SO</a:t>
            </a:r>
          </a:p>
        </p:txBody>
      </p:sp>
      <p:sp>
        <p:nvSpPr>
          <p:cNvPr id="34" name="TextBox 33"/>
          <p:cNvSpPr txBox="1"/>
          <p:nvPr/>
        </p:nvSpPr>
        <p:spPr>
          <a:xfrm>
            <a:off x="8339328" y="3172968"/>
            <a:ext cx="3072384" cy="329184"/>
          </a:xfrm>
          <a:prstGeom prst="rect">
            <a:avLst/>
          </a:prstGeom>
          <a:noFill/>
        </p:spPr>
        <p:txBody>
          <a:bodyPr wrap="square" lIns="0" rIns="0" tIns="0" bIns="0">
            <a:spAutoFit/>
          </a:bodyPr>
          <a:lstStyle/>
          <a:p>
            <a:pPr>
              <a:spcAft>
                <a:spcPts val="500"/>
              </a:spcAft>
              <a:defRPr sz="1500" b="0">
                <a:solidFill>
                  <a:srgbClr val="776B80"/>
                </a:solidFill>
                <a:latin typeface="Lato"/>
              </a:defRPr>
            </a:pPr>
            <a:r>
              <a:t>Follow up · book · retail</a:t>
            </a:r>
          </a:p>
        </p:txBody>
      </p:sp>
      <p:sp>
        <p:nvSpPr>
          <p:cNvPr id="35" name="Rounded Rectangle 34"/>
          <p:cNvSpPr/>
          <p:nvPr/>
        </p:nvSpPr>
        <p:spPr>
          <a:xfrm>
            <a:off x="576072" y="3886200"/>
            <a:ext cx="3483864"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802843" y="4133088"/>
            <a:ext cx="0" cy="477316"/>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02843" y="4610404"/>
            <a:ext cx="493776"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923544" y="4407408"/>
            <a:ext cx="0" cy="12070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1066190" y="4292193"/>
            <a:ext cx="0" cy="235915"/>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1208836" y="4155033"/>
            <a:ext cx="0" cy="373075"/>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490472" y="4133087"/>
            <a:ext cx="2386584" cy="393192"/>
          </a:xfrm>
          <a:prstGeom prst="rect">
            <a:avLst/>
          </a:prstGeom>
          <a:noFill/>
        </p:spPr>
        <p:txBody>
          <a:bodyPr wrap="square" lIns="0" rIns="0" tIns="0" bIns="0">
            <a:spAutoFit/>
          </a:bodyPr>
          <a:lstStyle/>
          <a:p>
            <a:pPr>
              <a:spcAft>
                <a:spcPts val="500"/>
              </a:spcAft>
              <a:defRPr sz="2200" b="1">
                <a:solidFill>
                  <a:srgbClr val="6945A3"/>
                </a:solidFill>
                <a:latin typeface="Lato"/>
              </a:defRPr>
            </a:pPr>
            <a:r>
              <a:t>Sales Manager</a:t>
            </a:r>
          </a:p>
        </p:txBody>
      </p:sp>
      <p:sp>
        <p:nvSpPr>
          <p:cNvPr id="42" name="TextBox 41"/>
          <p:cNvSpPr txBox="1"/>
          <p:nvPr/>
        </p:nvSpPr>
        <p:spPr>
          <a:xfrm>
            <a:off x="786384" y="4809744"/>
            <a:ext cx="3072384" cy="329184"/>
          </a:xfrm>
          <a:prstGeom prst="rect">
            <a:avLst/>
          </a:prstGeom>
          <a:noFill/>
        </p:spPr>
        <p:txBody>
          <a:bodyPr wrap="square" lIns="0" rIns="0" tIns="0" bIns="0">
            <a:spAutoFit/>
          </a:bodyPr>
          <a:lstStyle/>
          <a:p>
            <a:pPr>
              <a:spcAft>
                <a:spcPts val="500"/>
              </a:spcAft>
              <a:defRPr sz="1500" b="0">
                <a:solidFill>
                  <a:srgbClr val="776B80"/>
                </a:solidFill>
                <a:latin typeface="Lato"/>
              </a:defRPr>
            </a:pPr>
            <a:r>
              <a:t>Review branch · coach owners</a:t>
            </a:r>
          </a:p>
        </p:txBody>
      </p:sp>
      <p:sp>
        <p:nvSpPr>
          <p:cNvPr id="43" name="Rounded Rectangle 42"/>
          <p:cNvSpPr/>
          <p:nvPr/>
        </p:nvSpPr>
        <p:spPr>
          <a:xfrm>
            <a:off x="4352544" y="3886200"/>
            <a:ext cx="3483864"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573828" y="4215384"/>
            <a:ext cx="471830" cy="345643"/>
          </a:xfrm>
          <a:prstGeom prst="roundRect">
            <a:avLst/>
          </a:prstGeom>
          <a:noFill/>
          <a:ln w="15240">
            <a:solidFill>
              <a:srgbClr val="B65F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4881067" y="4215384"/>
            <a:ext cx="0" cy="345643"/>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645152" y="4319625"/>
            <a:ext cx="153619" cy="0"/>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645152" y="4434840"/>
            <a:ext cx="153619" cy="0"/>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266944" y="4133087"/>
            <a:ext cx="2386584" cy="393192"/>
          </a:xfrm>
          <a:prstGeom prst="rect">
            <a:avLst/>
          </a:prstGeom>
          <a:noFill/>
        </p:spPr>
        <p:txBody>
          <a:bodyPr wrap="square" lIns="0" rIns="0" tIns="0" bIns="0">
            <a:spAutoFit/>
          </a:bodyPr>
          <a:lstStyle/>
          <a:p>
            <a:pPr>
              <a:spcAft>
                <a:spcPts val="500"/>
              </a:spcAft>
              <a:defRPr sz="2200" b="1">
                <a:solidFill>
                  <a:srgbClr val="B65F20"/>
                </a:solidFill>
                <a:latin typeface="Lato"/>
              </a:defRPr>
            </a:pPr>
            <a:r>
              <a:t>Complaints</a:t>
            </a:r>
          </a:p>
        </p:txBody>
      </p:sp>
      <p:sp>
        <p:nvSpPr>
          <p:cNvPr id="49" name="TextBox 48"/>
          <p:cNvSpPr txBox="1"/>
          <p:nvPr/>
        </p:nvSpPr>
        <p:spPr>
          <a:xfrm>
            <a:off x="4562856" y="4809744"/>
            <a:ext cx="3072384" cy="329184"/>
          </a:xfrm>
          <a:prstGeom prst="rect">
            <a:avLst/>
          </a:prstGeom>
          <a:noFill/>
        </p:spPr>
        <p:txBody>
          <a:bodyPr wrap="square" lIns="0" rIns="0" tIns="0" bIns="0">
            <a:spAutoFit/>
          </a:bodyPr>
          <a:lstStyle/>
          <a:p>
            <a:pPr>
              <a:spcAft>
                <a:spcPts val="500"/>
              </a:spcAft>
              <a:defRPr sz="1500" b="0">
                <a:solidFill>
                  <a:srgbClr val="776B80"/>
                </a:solidFill>
                <a:latin typeface="Lato"/>
              </a:defRPr>
            </a:pPr>
            <a:r>
              <a:t>Investigate · resolve · close</a:t>
            </a:r>
          </a:p>
        </p:txBody>
      </p:sp>
      <p:sp>
        <p:nvSpPr>
          <p:cNvPr id="50" name="Rounded Rectangle 49"/>
          <p:cNvSpPr/>
          <p:nvPr/>
        </p:nvSpPr>
        <p:spPr>
          <a:xfrm>
            <a:off x="8129016" y="3886200"/>
            <a:ext cx="3483864"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8492947" y="4138574"/>
            <a:ext cx="186537" cy="186537"/>
          </a:xfrm>
          <a:prstGeom prst="ellipse">
            <a:avLst/>
          </a:prstGeom>
          <a:noFill/>
          <a:ln w="15240">
            <a:solidFill>
              <a:srgbClr val="B65F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flipV="1">
            <a:off x="8405164" y="4467758"/>
            <a:ext cx="0" cy="131674"/>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8405164" y="4390948"/>
            <a:ext cx="98756" cy="76810"/>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503920" y="4390948"/>
            <a:ext cx="164592" cy="0"/>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8668512" y="4390948"/>
            <a:ext cx="98755" cy="76810"/>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8767267" y="4467758"/>
            <a:ext cx="0" cy="131674"/>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043416" y="4133087"/>
            <a:ext cx="2386584" cy="393192"/>
          </a:xfrm>
          <a:prstGeom prst="rect">
            <a:avLst/>
          </a:prstGeom>
          <a:noFill/>
        </p:spPr>
        <p:txBody>
          <a:bodyPr wrap="square" lIns="0" rIns="0" tIns="0" bIns="0">
            <a:spAutoFit/>
          </a:bodyPr>
          <a:lstStyle/>
          <a:p>
            <a:pPr>
              <a:spcAft>
                <a:spcPts val="500"/>
              </a:spcAft>
              <a:defRPr sz="2200" b="1">
                <a:solidFill>
                  <a:srgbClr val="B65F20"/>
                </a:solidFill>
                <a:latin typeface="Lato"/>
              </a:defRPr>
            </a:pPr>
            <a:r>
              <a:t>Receptionist</a:t>
            </a:r>
          </a:p>
        </p:txBody>
      </p:sp>
      <p:sp>
        <p:nvSpPr>
          <p:cNvPr id="58" name="TextBox 57"/>
          <p:cNvSpPr txBox="1"/>
          <p:nvPr/>
        </p:nvSpPr>
        <p:spPr>
          <a:xfrm>
            <a:off x="8339328" y="4809744"/>
            <a:ext cx="3072384" cy="329184"/>
          </a:xfrm>
          <a:prstGeom prst="rect">
            <a:avLst/>
          </a:prstGeom>
          <a:noFill/>
        </p:spPr>
        <p:txBody>
          <a:bodyPr wrap="square" lIns="0" rIns="0" tIns="0" bIns="0">
            <a:spAutoFit/>
          </a:bodyPr>
          <a:lstStyle/>
          <a:p>
            <a:pPr>
              <a:spcAft>
                <a:spcPts val="500"/>
              </a:spcAft>
              <a:defRPr sz="1500" b="0">
                <a:solidFill>
                  <a:srgbClr val="776B80"/>
                </a:solidFill>
                <a:latin typeface="Lato"/>
              </a:defRPr>
            </a:pPr>
            <a:r>
              <a:t>Capture walk-ins · select 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PEOPLE &amp; PERMISSIONS</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Access controls: leads &amp; administration</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“Own” means assigned records; “branch” means the manager’s configured branch.</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04 / 30</a:t>
            </a:r>
          </a:p>
        </p:txBody>
      </p:sp>
      <p:graphicFrame>
        <p:nvGraphicFramePr>
          <p:cNvPr id="8" name="Table 7"/>
          <p:cNvGraphicFramePr>
            <a:graphicFrameLocks noGrp="1"/>
          </p:cNvGraphicFramePr>
          <p:nvPr/>
        </p:nvGraphicFramePr>
        <p:xfrm>
          <a:off x="548640" y="2258568"/>
          <a:ext cx="11082528" cy="3374136"/>
        </p:xfrm>
        <a:graphic>
          <a:graphicData uri="http://schemas.openxmlformats.org/drawingml/2006/table">
            <a:tbl>
              <a:tblPr firstRow="1" bandRow="1">
                <a:tableStyleId>{5C22544A-7EE6-4342-B048-85BDC9FD1C3A}</a:tableStyleId>
              </a:tblPr>
              <a:tblGrid>
                <a:gridCol w="2852928"/>
                <a:gridCol w="1371600"/>
                <a:gridCol w="1371600"/>
                <a:gridCol w="1371600"/>
                <a:gridCol w="1371600"/>
                <a:gridCol w="1371600"/>
                <a:gridCol w="1371600"/>
              </a:tblGrid>
              <a:tr h="482019">
                <a:tc>
                  <a:txBody>
                    <a:bodyPr/>
                    <a:lstStyle/>
                    <a:p>
                      <a:pPr>
                        <a:defRPr sz="1400" b="1">
                          <a:solidFill>
                            <a:srgbClr val="FFFFFF"/>
                          </a:solidFill>
                          <a:latin typeface="Lato"/>
                        </a:defRPr>
                      </a:pPr>
                      <a:r>
                        <a:t>Action</a:t>
                      </a:r>
                    </a:p>
                  </a:txBody>
                  <a:tcPr anchor="ctr" marL="128016" marR="91440" marT="50292" marB="41148">
                    <a:solidFill>
                      <a:srgbClr val="2D1B38"/>
                    </a:solidFill>
                  </a:tcPr>
                </a:tc>
                <a:tc>
                  <a:txBody>
                    <a:bodyPr/>
                    <a:lstStyle/>
                    <a:p>
                      <a:pPr>
                        <a:defRPr sz="1400" b="1">
                          <a:solidFill>
                            <a:srgbClr val="FFFFFF"/>
                          </a:solidFill>
                          <a:latin typeface="Lato"/>
                        </a:defRPr>
                      </a:pPr>
                      <a:r>
                        <a:t>Admin</a:t>
                      </a:r>
                    </a:p>
                  </a:txBody>
                  <a:tcPr anchor="ctr" marL="128016" marR="91440" marT="50292" marB="41148">
                    <a:solidFill>
                      <a:srgbClr val="2D1B38"/>
                    </a:solidFill>
                  </a:tcPr>
                </a:tc>
                <a:tc>
                  <a:txBody>
                    <a:bodyPr/>
                    <a:lstStyle/>
                    <a:p>
                      <a:pPr>
                        <a:defRPr sz="1400" b="1">
                          <a:solidFill>
                            <a:srgbClr val="FFFFFF"/>
                          </a:solidFill>
                          <a:latin typeface="Lato"/>
                        </a:defRPr>
                      </a:pPr>
                      <a:r>
                        <a:t>CRE</a:t>
                      </a:r>
                    </a:p>
                  </a:txBody>
                  <a:tcPr anchor="ctr" marL="128016" marR="91440" marT="50292" marB="41148">
                    <a:solidFill>
                      <a:srgbClr val="2D1B38"/>
                    </a:solidFill>
                  </a:tcPr>
                </a:tc>
                <a:tc>
                  <a:txBody>
                    <a:bodyPr/>
                    <a:lstStyle/>
                    <a:p>
                      <a:pPr>
                        <a:defRPr sz="1400" b="1">
                          <a:solidFill>
                            <a:srgbClr val="FFFFFF"/>
                          </a:solidFill>
                          <a:latin typeface="Lato"/>
                        </a:defRPr>
                      </a:pPr>
                      <a:r>
                        <a:t>PS/SO</a:t>
                      </a:r>
                    </a:p>
                  </a:txBody>
                  <a:tcPr anchor="ctr" marL="128016" marR="91440" marT="50292" marB="41148">
                    <a:solidFill>
                      <a:srgbClr val="2D1B38"/>
                    </a:solidFill>
                  </a:tcPr>
                </a:tc>
                <a:tc>
                  <a:txBody>
                    <a:bodyPr/>
                    <a:lstStyle/>
                    <a:p>
                      <a:pPr>
                        <a:defRPr sz="1400" b="1">
                          <a:solidFill>
                            <a:srgbClr val="FFFFFF"/>
                          </a:solidFill>
                          <a:latin typeface="Lato"/>
                        </a:defRPr>
                      </a:pPr>
                      <a:r>
                        <a:t>SM</a:t>
                      </a:r>
                    </a:p>
                  </a:txBody>
                  <a:tcPr anchor="ctr" marL="128016" marR="91440" marT="50292" marB="41148">
                    <a:solidFill>
                      <a:srgbClr val="2D1B38"/>
                    </a:solidFill>
                  </a:tcPr>
                </a:tc>
                <a:tc>
                  <a:txBody>
                    <a:bodyPr/>
                    <a:lstStyle/>
                    <a:p>
                      <a:pPr>
                        <a:defRPr sz="1400" b="1">
                          <a:solidFill>
                            <a:srgbClr val="FFFFFF"/>
                          </a:solidFill>
                          <a:latin typeface="Lato"/>
                        </a:defRPr>
                      </a:pPr>
                      <a:r>
                        <a:t>Reception</a:t>
                      </a:r>
                    </a:p>
                  </a:txBody>
                  <a:tcPr anchor="ctr" marL="128016" marR="91440" marT="50292" marB="41148">
                    <a:solidFill>
                      <a:srgbClr val="2D1B38"/>
                    </a:solidFill>
                  </a:tcPr>
                </a:tc>
                <a:tc>
                  <a:txBody>
                    <a:bodyPr/>
                    <a:lstStyle/>
                    <a:p>
                      <a:pPr>
                        <a:defRPr sz="1400" b="1">
                          <a:solidFill>
                            <a:srgbClr val="FFFFFF"/>
                          </a:solidFill>
                          <a:latin typeface="Lato"/>
                        </a:defRPr>
                      </a:pPr>
                      <a:r>
                        <a:t>Complaints</a:t>
                      </a:r>
                    </a:p>
                  </a:txBody>
                  <a:tcPr anchor="ctr" marL="128016" marR="91440" marT="50292" marB="41148">
                    <a:solidFill>
                      <a:srgbClr val="2D1B38"/>
                    </a:solidFill>
                  </a:tcPr>
                </a:tc>
              </a:tr>
              <a:tr h="482019">
                <a:tc>
                  <a:txBody>
                    <a:bodyPr/>
                    <a:lstStyle/>
                    <a:p>
                      <a:pPr>
                        <a:defRPr sz="1400" b="1">
                          <a:solidFill>
                            <a:srgbClr val="2D1B38"/>
                          </a:solidFill>
                          <a:latin typeface="Lato"/>
                        </a:defRPr>
                      </a:pPr>
                      <a:r>
                        <a:t>View lead queue</a:t>
                      </a:r>
                    </a:p>
                  </a:txBody>
                  <a:tcPr anchor="ctr" marL="128016" marR="91440" marT="50292" marB="41148">
                    <a:solidFill>
                      <a:srgbClr val="FFFFFF"/>
                    </a:solidFill>
                  </a:tcPr>
                </a:tc>
                <a:tc>
                  <a:txBody>
                    <a:bodyPr/>
                    <a:lstStyle/>
                    <a:p>
                      <a:pPr>
                        <a:defRPr sz="1400" b="0">
                          <a:solidFill>
                            <a:srgbClr val="2D1B38"/>
                          </a:solidFill>
                          <a:latin typeface="Lato"/>
                        </a:defRPr>
                      </a:pPr>
                      <a:r>
                        <a:t>All</a:t>
                      </a:r>
                    </a:p>
                  </a:txBody>
                  <a:tcPr anchor="ctr" marL="128016" marR="91440" marT="50292" marB="41148">
                    <a:solidFill>
                      <a:srgbClr val="FFFFFF"/>
                    </a:solidFill>
                  </a:tcPr>
                </a:tc>
                <a:tc>
                  <a:txBody>
                    <a:bodyPr/>
                    <a:lstStyle/>
                    <a:p>
                      <a:pPr>
                        <a:defRPr sz="1400" b="0">
                          <a:solidFill>
                            <a:srgbClr val="2D1B38"/>
                          </a:solidFill>
                          <a:latin typeface="Lato"/>
                        </a:defRPr>
                      </a:pPr>
                      <a:r>
                        <a:t>Own</a:t>
                      </a:r>
                    </a:p>
                  </a:txBody>
                  <a:tcPr anchor="ctr" marL="128016" marR="91440" marT="50292" marB="41148">
                    <a:solidFill>
                      <a:srgbClr val="FFFFFF"/>
                    </a:solidFill>
                  </a:tcPr>
                </a:tc>
                <a:tc>
                  <a:txBody>
                    <a:bodyPr/>
                    <a:lstStyle/>
                    <a:p>
                      <a:pPr>
                        <a:defRPr sz="1400" b="0">
                          <a:solidFill>
                            <a:srgbClr val="2D1B38"/>
                          </a:solidFill>
                          <a:latin typeface="Lato"/>
                        </a:defRPr>
                      </a:pPr>
                      <a:r>
                        <a:t>Own</a:t>
                      </a:r>
                    </a:p>
                  </a:txBody>
                  <a:tcPr anchor="ctr" marL="128016" marR="91440" marT="50292" marB="41148">
                    <a:solidFill>
                      <a:srgbClr val="FFFFFF"/>
                    </a:solidFill>
                  </a:tcPr>
                </a:tc>
                <a:tc>
                  <a:txBody>
                    <a:bodyPr/>
                    <a:lstStyle/>
                    <a:p>
                      <a:pPr>
                        <a:defRPr sz="1400" b="0">
                          <a:solidFill>
                            <a:srgbClr val="2D1B38"/>
                          </a:solidFill>
                          <a:latin typeface="Lato"/>
                        </a:defRPr>
                      </a:pPr>
                      <a:r>
                        <a:t>Branch</a:t>
                      </a:r>
                    </a:p>
                  </a:txBody>
                  <a:tcPr anchor="ctr" marL="128016" marR="91440" marT="50292" marB="41148">
                    <a:solidFill>
                      <a:srgbClr val="FFFFFF"/>
                    </a:solidFill>
                  </a:tcPr>
                </a:tc>
                <a:tc>
                  <a:txBody>
                    <a:bodyPr/>
                    <a:lstStyle/>
                    <a:p>
                      <a:pPr>
                        <a:defRPr sz="1400" b="0">
                          <a:solidFill>
                            <a:srgbClr val="2D1B38"/>
                          </a:solidFill>
                          <a:latin typeface="Lato"/>
                        </a:defRPr>
                      </a:pPr>
                      <a:r>
                        <a:t>Capture*</a:t>
                      </a:r>
                    </a:p>
                  </a:txBody>
                  <a:tcPr anchor="ctr" marL="128016" marR="91440" marT="50292" marB="41148">
                    <a:solidFill>
                      <a:srgbClr val="FFFFFF"/>
                    </a:solidFill>
                  </a:tcPr>
                </a:tc>
                <a:tc>
                  <a:txBody>
                    <a:bodyPr/>
                    <a:lstStyle/>
                    <a:p>
                      <a:pPr>
                        <a:defRPr sz="1400" b="0">
                          <a:solidFill>
                            <a:srgbClr val="2D1B38"/>
                          </a:solidFill>
                          <a:latin typeface="Lato"/>
                        </a:defRPr>
                      </a:pPr>
                      <a:r>
                        <a:t>No</a:t>
                      </a:r>
                    </a:p>
                  </a:txBody>
                  <a:tcPr anchor="ctr" marL="128016" marR="91440" marT="50292" marB="41148">
                    <a:solidFill>
                      <a:srgbClr val="FFFFFF"/>
                    </a:solidFill>
                  </a:tcPr>
                </a:tc>
              </a:tr>
              <a:tr h="482019">
                <a:tc>
                  <a:txBody>
                    <a:bodyPr/>
                    <a:lstStyle/>
                    <a:p>
                      <a:pPr>
                        <a:defRPr sz="1400" b="1">
                          <a:solidFill>
                            <a:srgbClr val="2D1B38"/>
                          </a:solidFill>
                          <a:latin typeface="Lato"/>
                        </a:defRPr>
                      </a:pPr>
                      <a:r>
                        <a:t>Capture lead</a:t>
                      </a:r>
                    </a:p>
                  </a:txBody>
                  <a:tcPr anchor="ctr" marL="128016" marR="91440" marT="50292" marB="41148">
                    <a:solidFill>
                      <a:srgbClr val="E8DDF4"/>
                    </a:solidFill>
                  </a:tcPr>
                </a:tc>
                <a:tc>
                  <a:txBody>
                    <a:bodyPr/>
                    <a:lstStyle/>
                    <a:p>
                      <a:pPr>
                        <a:defRPr sz="1400" b="0">
                          <a:solidFill>
                            <a:srgbClr val="2D1B38"/>
                          </a:solidFill>
                          <a:latin typeface="Lato"/>
                        </a:defRPr>
                      </a:pPr>
                      <a:r>
                        <a:t>Yes</a:t>
                      </a:r>
                    </a:p>
                  </a:txBody>
                  <a:tcPr anchor="ctr" marL="128016" marR="91440" marT="50292" marB="41148">
                    <a:solidFill>
                      <a:srgbClr val="E8DDF4"/>
                    </a:solidFill>
                  </a:tcPr>
                </a:tc>
                <a:tc>
                  <a:txBody>
                    <a:bodyPr/>
                    <a:lstStyle/>
                    <a:p>
                      <a:pPr>
                        <a:defRPr sz="1400" b="0">
                          <a:solidFill>
                            <a:srgbClr val="2D1B38"/>
                          </a:solidFill>
                          <a:latin typeface="Lato"/>
                        </a:defRPr>
                      </a:pPr>
                      <a:r>
                        <a:t>Yes</a:t>
                      </a:r>
                    </a:p>
                  </a:txBody>
                  <a:tcPr anchor="ctr" marL="128016" marR="91440" marT="50292" marB="41148">
                    <a:solidFill>
                      <a:srgbClr val="E8DDF4"/>
                    </a:solidFill>
                  </a:tcPr>
                </a:tc>
                <a:tc>
                  <a:txBody>
                    <a:bodyPr/>
                    <a:lstStyle/>
                    <a:p>
                      <a:pPr>
                        <a:defRPr sz="1400" b="0">
                          <a:solidFill>
                            <a:srgbClr val="2D1B38"/>
                          </a:solidFill>
                          <a:latin typeface="Lato"/>
                        </a:defRPr>
                      </a:pPr>
                      <a:r>
                        <a:t>No</a:t>
                      </a:r>
                    </a:p>
                  </a:txBody>
                  <a:tcPr anchor="ctr" marL="128016" marR="91440" marT="50292" marB="41148">
                    <a:solidFill>
                      <a:srgbClr val="E8DDF4"/>
                    </a:solidFill>
                  </a:tcPr>
                </a:tc>
                <a:tc>
                  <a:txBody>
                    <a:bodyPr/>
                    <a:lstStyle/>
                    <a:p>
                      <a:pPr>
                        <a:defRPr sz="1400" b="0">
                          <a:solidFill>
                            <a:srgbClr val="2D1B38"/>
                          </a:solidFill>
                          <a:latin typeface="Lato"/>
                        </a:defRPr>
                      </a:pPr>
                      <a:r>
                        <a:t>No</a:t>
                      </a:r>
                    </a:p>
                  </a:txBody>
                  <a:tcPr anchor="ctr" marL="128016" marR="91440" marT="50292" marB="41148">
                    <a:solidFill>
                      <a:srgbClr val="E8DDF4"/>
                    </a:solidFill>
                  </a:tcPr>
                </a:tc>
                <a:tc>
                  <a:txBody>
                    <a:bodyPr/>
                    <a:lstStyle/>
                    <a:p>
                      <a:pPr>
                        <a:defRPr sz="1400" b="0">
                          <a:solidFill>
                            <a:srgbClr val="2D1B38"/>
                          </a:solidFill>
                          <a:latin typeface="Lato"/>
                        </a:defRPr>
                      </a:pPr>
                      <a:r>
                        <a:t>Walk-in</a:t>
                      </a:r>
                    </a:p>
                  </a:txBody>
                  <a:tcPr anchor="ctr" marL="128016" marR="91440" marT="50292" marB="41148">
                    <a:solidFill>
                      <a:srgbClr val="E8DDF4"/>
                    </a:solidFill>
                  </a:tcPr>
                </a:tc>
                <a:tc>
                  <a:txBody>
                    <a:bodyPr/>
                    <a:lstStyle/>
                    <a:p>
                      <a:pPr>
                        <a:defRPr sz="1400" b="0">
                          <a:solidFill>
                            <a:srgbClr val="2D1B38"/>
                          </a:solidFill>
                          <a:latin typeface="Lato"/>
                        </a:defRPr>
                      </a:pPr>
                      <a:r>
                        <a:t>No</a:t>
                      </a:r>
                    </a:p>
                  </a:txBody>
                  <a:tcPr anchor="ctr" marL="128016" marR="91440" marT="50292" marB="41148">
                    <a:solidFill>
                      <a:srgbClr val="E8DDF4"/>
                    </a:solidFill>
                  </a:tcPr>
                </a:tc>
              </a:tr>
              <a:tr h="482019">
                <a:tc>
                  <a:txBody>
                    <a:bodyPr/>
                    <a:lstStyle/>
                    <a:p>
                      <a:pPr>
                        <a:defRPr sz="1400" b="1">
                          <a:solidFill>
                            <a:srgbClr val="2D1B38"/>
                          </a:solidFill>
                          <a:latin typeface="Lato"/>
                        </a:defRPr>
                      </a:pPr>
                      <a:r>
                        <a:t>Work sales outcome</a:t>
                      </a:r>
                    </a:p>
                  </a:txBody>
                  <a:tcPr anchor="ctr" marL="128016" marR="91440" marT="50292" marB="41148">
                    <a:solidFill>
                      <a:srgbClr val="FFFFFF"/>
                    </a:solidFill>
                  </a:tcPr>
                </a:tc>
                <a:tc>
                  <a:txBody>
                    <a:bodyPr/>
                    <a:lstStyle/>
                    <a:p>
                      <a:pPr>
                        <a:defRPr sz="1400" b="0">
                          <a:solidFill>
                            <a:srgbClr val="2D1B38"/>
                          </a:solidFill>
                          <a:latin typeface="Lato"/>
                        </a:defRPr>
                      </a:pPr>
                      <a:r>
                        <a:t>Yes</a:t>
                      </a:r>
                    </a:p>
                  </a:txBody>
                  <a:tcPr anchor="ctr" marL="128016" marR="91440" marT="50292" marB="41148">
                    <a:solidFill>
                      <a:srgbClr val="FFFFFF"/>
                    </a:solidFill>
                  </a:tcPr>
                </a:tc>
                <a:tc>
                  <a:txBody>
                    <a:bodyPr/>
                    <a:lstStyle/>
                    <a:p>
                      <a:pPr>
                        <a:defRPr sz="1400" b="0">
                          <a:solidFill>
                            <a:srgbClr val="2D1B38"/>
                          </a:solidFill>
                          <a:latin typeface="Lato"/>
                        </a:defRPr>
                      </a:pPr>
                      <a:r>
                        <a:t>Own</a:t>
                      </a:r>
                    </a:p>
                  </a:txBody>
                  <a:tcPr anchor="ctr" marL="128016" marR="91440" marT="50292" marB="41148">
                    <a:solidFill>
                      <a:srgbClr val="FFFFFF"/>
                    </a:solidFill>
                  </a:tcPr>
                </a:tc>
                <a:tc>
                  <a:txBody>
                    <a:bodyPr/>
                    <a:lstStyle/>
                    <a:p>
                      <a:pPr>
                        <a:defRPr sz="1400" b="0">
                          <a:solidFill>
                            <a:srgbClr val="2D1B38"/>
                          </a:solidFill>
                          <a:latin typeface="Lato"/>
                        </a:defRPr>
                      </a:pPr>
                      <a:r>
                        <a:t>Own</a:t>
                      </a:r>
                    </a:p>
                  </a:txBody>
                  <a:tcPr anchor="ctr" marL="128016" marR="91440" marT="50292" marB="41148">
                    <a:solidFill>
                      <a:srgbClr val="FFFFFF"/>
                    </a:solidFill>
                  </a:tcPr>
                </a:tc>
                <a:tc>
                  <a:txBody>
                    <a:bodyPr/>
                    <a:lstStyle/>
                    <a:p>
                      <a:pPr>
                        <a:defRPr sz="1400" b="0">
                          <a:solidFill>
                            <a:srgbClr val="2D1B38"/>
                          </a:solidFill>
                          <a:latin typeface="Lato"/>
                        </a:defRPr>
                      </a:pPr>
                      <a:r>
                        <a:t>Read only</a:t>
                      </a:r>
                    </a:p>
                  </a:txBody>
                  <a:tcPr anchor="ctr" marL="128016" marR="91440" marT="50292" marB="41148">
                    <a:solidFill>
                      <a:srgbClr val="FFFFFF"/>
                    </a:solidFill>
                  </a:tcPr>
                </a:tc>
                <a:tc>
                  <a:txBody>
                    <a:bodyPr/>
                    <a:lstStyle/>
                    <a:p>
                      <a:pPr>
                        <a:defRPr sz="1400" b="0">
                          <a:solidFill>
                            <a:srgbClr val="2D1B38"/>
                          </a:solidFill>
                          <a:latin typeface="Lato"/>
                        </a:defRPr>
                      </a:pPr>
                      <a:r>
                        <a:t>No</a:t>
                      </a:r>
                    </a:p>
                  </a:txBody>
                  <a:tcPr anchor="ctr" marL="128016" marR="91440" marT="50292" marB="41148">
                    <a:solidFill>
                      <a:srgbClr val="FFFFFF"/>
                    </a:solidFill>
                  </a:tcPr>
                </a:tc>
                <a:tc>
                  <a:txBody>
                    <a:bodyPr/>
                    <a:lstStyle/>
                    <a:p>
                      <a:pPr>
                        <a:defRPr sz="1400" b="0">
                          <a:solidFill>
                            <a:srgbClr val="2D1B38"/>
                          </a:solidFill>
                          <a:latin typeface="Lato"/>
                        </a:defRPr>
                      </a:pPr>
                      <a:r>
                        <a:t>No</a:t>
                      </a:r>
                    </a:p>
                  </a:txBody>
                  <a:tcPr anchor="ctr" marL="128016" marR="91440" marT="50292" marB="41148">
                    <a:solidFill>
                      <a:srgbClr val="FFFFFF"/>
                    </a:solidFill>
                  </a:tcPr>
                </a:tc>
              </a:tr>
              <a:tr h="482019">
                <a:tc>
                  <a:txBody>
                    <a:bodyPr/>
                    <a:lstStyle/>
                    <a:p>
                      <a:pPr>
                        <a:defRPr sz="1400" b="1">
                          <a:solidFill>
                            <a:srgbClr val="2D1B38"/>
                          </a:solidFill>
                          <a:latin typeface="Lato"/>
                        </a:defRPr>
                      </a:pPr>
                      <a:r>
                        <a:t>Edit CRE qualification</a:t>
                      </a:r>
                    </a:p>
                  </a:txBody>
                  <a:tcPr anchor="ctr" marL="128016" marR="91440" marT="50292" marB="41148">
                    <a:solidFill>
                      <a:srgbClr val="E8DDF4"/>
                    </a:solidFill>
                  </a:tcPr>
                </a:tc>
                <a:tc>
                  <a:txBody>
                    <a:bodyPr/>
                    <a:lstStyle/>
                    <a:p>
                      <a:pPr>
                        <a:defRPr sz="1400" b="0">
                          <a:solidFill>
                            <a:srgbClr val="2D1B38"/>
                          </a:solidFill>
                          <a:latin typeface="Lato"/>
                        </a:defRPr>
                      </a:pPr>
                      <a:r>
                        <a:t>Yes</a:t>
                      </a:r>
                    </a:p>
                  </a:txBody>
                  <a:tcPr anchor="ctr" marL="128016" marR="91440" marT="50292" marB="41148">
                    <a:solidFill>
                      <a:srgbClr val="E8DDF4"/>
                    </a:solidFill>
                  </a:tcPr>
                </a:tc>
                <a:tc>
                  <a:txBody>
                    <a:bodyPr/>
                    <a:lstStyle/>
                    <a:p>
                      <a:pPr>
                        <a:defRPr sz="1400" b="0">
                          <a:solidFill>
                            <a:srgbClr val="2D1B38"/>
                          </a:solidFill>
                          <a:latin typeface="Lato"/>
                        </a:defRPr>
                      </a:pPr>
                      <a:r>
                        <a:t>Own**</a:t>
                      </a:r>
                    </a:p>
                  </a:txBody>
                  <a:tcPr anchor="ctr" marL="128016" marR="91440" marT="50292" marB="41148">
                    <a:solidFill>
                      <a:srgbClr val="E8DDF4"/>
                    </a:solidFill>
                  </a:tcPr>
                </a:tc>
                <a:tc>
                  <a:txBody>
                    <a:bodyPr/>
                    <a:lstStyle/>
                    <a:p>
                      <a:pPr>
                        <a:defRPr sz="1400" b="0">
                          <a:solidFill>
                            <a:srgbClr val="2D1B38"/>
                          </a:solidFill>
                          <a:latin typeface="Lato"/>
                        </a:defRPr>
                      </a:pPr>
                      <a:r>
                        <a:t>No</a:t>
                      </a:r>
                    </a:p>
                  </a:txBody>
                  <a:tcPr anchor="ctr" marL="128016" marR="91440" marT="50292" marB="41148">
                    <a:solidFill>
                      <a:srgbClr val="E8DDF4"/>
                    </a:solidFill>
                  </a:tcPr>
                </a:tc>
                <a:tc>
                  <a:txBody>
                    <a:bodyPr/>
                    <a:lstStyle/>
                    <a:p>
                      <a:pPr>
                        <a:defRPr sz="1400" b="0">
                          <a:solidFill>
                            <a:srgbClr val="2D1B38"/>
                          </a:solidFill>
                          <a:latin typeface="Lato"/>
                        </a:defRPr>
                      </a:pPr>
                      <a:r>
                        <a:t>No</a:t>
                      </a:r>
                    </a:p>
                  </a:txBody>
                  <a:tcPr anchor="ctr" marL="128016" marR="91440" marT="50292" marB="41148">
                    <a:solidFill>
                      <a:srgbClr val="E8DDF4"/>
                    </a:solidFill>
                  </a:tcPr>
                </a:tc>
                <a:tc>
                  <a:txBody>
                    <a:bodyPr/>
                    <a:lstStyle/>
                    <a:p>
                      <a:pPr>
                        <a:defRPr sz="1400" b="0">
                          <a:solidFill>
                            <a:srgbClr val="2D1B38"/>
                          </a:solidFill>
                          <a:latin typeface="Lato"/>
                        </a:defRPr>
                      </a:pPr>
                      <a:r>
                        <a:t>At capture</a:t>
                      </a:r>
                    </a:p>
                  </a:txBody>
                  <a:tcPr anchor="ctr" marL="128016" marR="91440" marT="50292" marB="41148">
                    <a:solidFill>
                      <a:srgbClr val="E8DDF4"/>
                    </a:solidFill>
                  </a:tcPr>
                </a:tc>
                <a:tc>
                  <a:txBody>
                    <a:bodyPr/>
                    <a:lstStyle/>
                    <a:p>
                      <a:pPr>
                        <a:defRPr sz="1400" b="0">
                          <a:solidFill>
                            <a:srgbClr val="2D1B38"/>
                          </a:solidFill>
                          <a:latin typeface="Lato"/>
                        </a:defRPr>
                      </a:pPr>
                      <a:r>
                        <a:t>No</a:t>
                      </a:r>
                    </a:p>
                  </a:txBody>
                  <a:tcPr anchor="ctr" marL="128016" marR="91440" marT="50292" marB="41148">
                    <a:solidFill>
                      <a:srgbClr val="E8DDF4"/>
                    </a:solidFill>
                  </a:tcPr>
                </a:tc>
              </a:tr>
              <a:tr h="482019">
                <a:tc>
                  <a:txBody>
                    <a:bodyPr/>
                    <a:lstStyle/>
                    <a:p>
                      <a:pPr>
                        <a:defRPr sz="1400" b="1">
                          <a:solidFill>
                            <a:srgbClr val="2D1B38"/>
                          </a:solidFill>
                          <a:latin typeface="Lato"/>
                        </a:defRPr>
                      </a:pPr>
                      <a:r>
                        <a:t>Distribute / reassign</a:t>
                      </a:r>
                    </a:p>
                  </a:txBody>
                  <a:tcPr anchor="ctr" marL="128016" marR="91440" marT="50292" marB="41148">
                    <a:solidFill>
                      <a:srgbClr val="FFFFFF"/>
                    </a:solidFill>
                  </a:tcPr>
                </a:tc>
                <a:tc>
                  <a:txBody>
                    <a:bodyPr/>
                    <a:lstStyle/>
                    <a:p>
                      <a:pPr>
                        <a:defRPr sz="1400" b="0">
                          <a:solidFill>
                            <a:srgbClr val="2D1B38"/>
                          </a:solidFill>
                          <a:latin typeface="Lato"/>
                        </a:defRPr>
                      </a:pPr>
                      <a:r>
                        <a:t>Yes</a:t>
                      </a:r>
                    </a:p>
                  </a:txBody>
                  <a:tcPr anchor="ctr" marL="128016" marR="91440" marT="50292" marB="41148">
                    <a:solidFill>
                      <a:srgbClr val="FFFFFF"/>
                    </a:solidFill>
                  </a:tcPr>
                </a:tc>
                <a:tc>
                  <a:txBody>
                    <a:bodyPr/>
                    <a:lstStyle/>
                    <a:p>
                      <a:pPr>
                        <a:defRPr sz="1400" b="0">
                          <a:solidFill>
                            <a:srgbClr val="2D1B38"/>
                          </a:solidFill>
                          <a:latin typeface="Lato"/>
                        </a:defRPr>
                      </a:pPr>
                      <a:r>
                        <a:t>Handoff**</a:t>
                      </a:r>
                    </a:p>
                  </a:txBody>
                  <a:tcPr anchor="ctr" marL="128016" marR="91440" marT="50292" marB="41148">
                    <a:solidFill>
                      <a:srgbClr val="FFFFFF"/>
                    </a:solidFill>
                  </a:tcPr>
                </a:tc>
                <a:tc>
                  <a:txBody>
                    <a:bodyPr/>
                    <a:lstStyle/>
                    <a:p>
                      <a:pPr>
                        <a:defRPr sz="1400" b="0">
                          <a:solidFill>
                            <a:srgbClr val="2D1B38"/>
                          </a:solidFill>
                          <a:latin typeface="Lato"/>
                        </a:defRPr>
                      </a:pPr>
                      <a:r>
                        <a:t>No</a:t>
                      </a:r>
                    </a:p>
                  </a:txBody>
                  <a:tcPr anchor="ctr" marL="128016" marR="91440" marT="50292" marB="41148">
                    <a:solidFill>
                      <a:srgbClr val="FFFFFF"/>
                    </a:solidFill>
                  </a:tcPr>
                </a:tc>
                <a:tc>
                  <a:txBody>
                    <a:bodyPr/>
                    <a:lstStyle/>
                    <a:p>
                      <a:pPr>
                        <a:defRPr sz="1400" b="0">
                          <a:solidFill>
                            <a:srgbClr val="2D1B38"/>
                          </a:solidFill>
                          <a:latin typeface="Lato"/>
                        </a:defRPr>
                      </a:pPr>
                      <a:r>
                        <a:t>No</a:t>
                      </a:r>
                    </a:p>
                  </a:txBody>
                  <a:tcPr anchor="ctr" marL="128016" marR="91440" marT="50292" marB="41148">
                    <a:solidFill>
                      <a:srgbClr val="FFFFFF"/>
                    </a:solidFill>
                  </a:tcPr>
                </a:tc>
                <a:tc>
                  <a:txBody>
                    <a:bodyPr/>
                    <a:lstStyle/>
                    <a:p>
                      <a:pPr>
                        <a:defRPr sz="1400" b="0">
                          <a:solidFill>
                            <a:srgbClr val="2D1B38"/>
                          </a:solidFill>
                          <a:latin typeface="Lato"/>
                        </a:defRPr>
                      </a:pPr>
                      <a:r>
                        <a:t>At capture</a:t>
                      </a:r>
                    </a:p>
                  </a:txBody>
                  <a:tcPr anchor="ctr" marL="128016" marR="91440" marT="50292" marB="41148">
                    <a:solidFill>
                      <a:srgbClr val="FFFFFF"/>
                    </a:solidFill>
                  </a:tcPr>
                </a:tc>
                <a:tc>
                  <a:txBody>
                    <a:bodyPr/>
                    <a:lstStyle/>
                    <a:p>
                      <a:pPr>
                        <a:defRPr sz="1400" b="0">
                          <a:solidFill>
                            <a:srgbClr val="2D1B38"/>
                          </a:solidFill>
                          <a:latin typeface="Lato"/>
                        </a:defRPr>
                      </a:pPr>
                      <a:r>
                        <a:t>No</a:t>
                      </a:r>
                    </a:p>
                  </a:txBody>
                  <a:tcPr anchor="ctr" marL="128016" marR="91440" marT="50292" marB="41148">
                    <a:solidFill>
                      <a:srgbClr val="FFFFFF"/>
                    </a:solidFill>
                  </a:tcPr>
                </a:tc>
              </a:tr>
              <a:tr h="482022">
                <a:tc>
                  <a:txBody>
                    <a:bodyPr/>
                    <a:lstStyle/>
                    <a:p>
                      <a:pPr>
                        <a:defRPr sz="1400" b="1">
                          <a:solidFill>
                            <a:srgbClr val="2D1B38"/>
                          </a:solidFill>
                          <a:latin typeface="Lato"/>
                        </a:defRPr>
                      </a:pPr>
                      <a:r>
                        <a:t>Users / master lists</a:t>
                      </a:r>
                    </a:p>
                  </a:txBody>
                  <a:tcPr anchor="ctr" marL="128016" marR="91440" marT="50292" marB="41148">
                    <a:solidFill>
                      <a:srgbClr val="E8DDF4"/>
                    </a:solidFill>
                  </a:tcPr>
                </a:tc>
                <a:tc>
                  <a:txBody>
                    <a:bodyPr/>
                    <a:lstStyle/>
                    <a:p>
                      <a:pPr>
                        <a:defRPr sz="1400" b="0">
                          <a:solidFill>
                            <a:srgbClr val="2D1B38"/>
                          </a:solidFill>
                          <a:latin typeface="Lato"/>
                        </a:defRPr>
                      </a:pPr>
                      <a:r>
                        <a:t>Manage</a:t>
                      </a:r>
                    </a:p>
                  </a:txBody>
                  <a:tcPr anchor="ctr" marL="128016" marR="91440" marT="50292" marB="41148">
                    <a:solidFill>
                      <a:srgbClr val="E8DDF4"/>
                    </a:solidFill>
                  </a:tcPr>
                </a:tc>
                <a:tc>
                  <a:txBody>
                    <a:bodyPr/>
                    <a:lstStyle/>
                    <a:p>
                      <a:pPr>
                        <a:defRPr sz="1400" b="0">
                          <a:solidFill>
                            <a:srgbClr val="2D1B38"/>
                          </a:solidFill>
                          <a:latin typeface="Lato"/>
                        </a:defRPr>
                      </a:pPr>
                      <a:r>
                        <a:t>Read options</a:t>
                      </a:r>
                    </a:p>
                  </a:txBody>
                  <a:tcPr anchor="ctr" marL="128016" marR="91440" marT="50292" marB="41148">
                    <a:solidFill>
                      <a:srgbClr val="E8DDF4"/>
                    </a:solidFill>
                  </a:tcPr>
                </a:tc>
                <a:tc>
                  <a:txBody>
                    <a:bodyPr/>
                    <a:lstStyle/>
                    <a:p>
                      <a:pPr>
                        <a:defRPr sz="1400" b="0">
                          <a:solidFill>
                            <a:srgbClr val="2D1B38"/>
                          </a:solidFill>
                          <a:latin typeface="Lato"/>
                        </a:defRPr>
                      </a:pPr>
                      <a:r>
                        <a:t>Read options</a:t>
                      </a:r>
                    </a:p>
                  </a:txBody>
                  <a:tcPr anchor="ctr" marL="128016" marR="91440" marT="50292" marB="41148">
                    <a:solidFill>
                      <a:srgbClr val="E8DDF4"/>
                    </a:solidFill>
                  </a:tcPr>
                </a:tc>
                <a:tc>
                  <a:txBody>
                    <a:bodyPr/>
                    <a:lstStyle/>
                    <a:p>
                      <a:pPr>
                        <a:defRPr sz="1400" b="0">
                          <a:solidFill>
                            <a:srgbClr val="2D1B38"/>
                          </a:solidFill>
                          <a:latin typeface="Lato"/>
                        </a:defRPr>
                      </a:pPr>
                      <a:r>
                        <a:t>Read options</a:t>
                      </a:r>
                    </a:p>
                  </a:txBody>
                  <a:tcPr anchor="ctr" marL="128016" marR="91440" marT="50292" marB="41148">
                    <a:solidFill>
                      <a:srgbClr val="E8DDF4"/>
                    </a:solidFill>
                  </a:tcPr>
                </a:tc>
                <a:tc>
                  <a:txBody>
                    <a:bodyPr/>
                    <a:lstStyle/>
                    <a:p>
                      <a:pPr>
                        <a:defRPr sz="1400" b="0">
                          <a:solidFill>
                            <a:srgbClr val="2D1B38"/>
                          </a:solidFill>
                          <a:latin typeface="Lato"/>
                        </a:defRPr>
                      </a:pPr>
                      <a:r>
                        <a:t>Read options</a:t>
                      </a:r>
                    </a:p>
                  </a:txBody>
                  <a:tcPr anchor="ctr" marL="128016" marR="91440" marT="50292" marB="41148">
                    <a:solidFill>
                      <a:srgbClr val="E8DDF4"/>
                    </a:solidFill>
                  </a:tcPr>
                </a:tc>
                <a:tc>
                  <a:txBody>
                    <a:bodyPr/>
                    <a:lstStyle/>
                    <a:p>
                      <a:pPr>
                        <a:defRPr sz="1400" b="0">
                          <a:solidFill>
                            <a:srgbClr val="2D1B38"/>
                          </a:solidFill>
                          <a:latin typeface="Lato"/>
                        </a:defRPr>
                      </a:pPr>
                      <a:r>
                        <a:t>Read options</a:t>
                      </a:r>
                    </a:p>
                  </a:txBody>
                  <a:tcPr anchor="ctr" marL="128016" marR="91440" marT="50292" marB="41148">
                    <a:solidFill>
                      <a:srgbClr val="E8DDF4"/>
                    </a:solidFill>
                  </a:tcPr>
                </a:tc>
              </a:tr>
            </a:tbl>
          </a:graphicData>
        </a:graphic>
      </p:graphicFrame>
      <p:cxnSp>
        <p:nvCxnSpPr>
          <p:cNvPr id="9" name="Connector 8"/>
          <p:cNvCxnSpPr/>
          <p:nvPr/>
        </p:nvCxnSpPr>
        <p:spPr>
          <a:xfrm>
            <a:off x="576072" y="5888736"/>
            <a:ext cx="329184" cy="0"/>
          </a:xfrm>
          <a:prstGeom prst="line">
            <a:avLst/>
          </a:prstGeom>
          <a:ln w="38100">
            <a:solidFill>
              <a:srgbClr val="6945A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60704" y="5724144"/>
            <a:ext cx="10332720" cy="448056"/>
          </a:xfrm>
          <a:prstGeom prst="rect">
            <a:avLst/>
          </a:prstGeom>
          <a:noFill/>
        </p:spPr>
        <p:txBody>
          <a:bodyPr wrap="square" lIns="0" rIns="0" tIns="0" bIns="0">
            <a:spAutoFit/>
          </a:bodyPr>
          <a:lstStyle/>
          <a:p>
            <a:pPr>
              <a:spcAft>
                <a:spcPts val="500"/>
              </a:spcAft>
              <a:defRPr sz="1500" b="1">
                <a:solidFill>
                  <a:srgbClr val="6945A3"/>
                </a:solidFill>
                <a:latin typeface="Lato"/>
              </a:defRPr>
            </a:pPr>
            <a:r>
              <a:t>Capture*: own reception dashboard. Own** / Handoff**: CRE qualification rules apply.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PEOPLE &amp; PERMISSIONS</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Access controls: complaints &amp; reporting</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The complaint logger, resolver and management viewer have different rights.</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05 / 30</a:t>
            </a:r>
          </a:p>
        </p:txBody>
      </p:sp>
      <p:graphicFrame>
        <p:nvGraphicFramePr>
          <p:cNvPr id="8" name="Table 7"/>
          <p:cNvGraphicFramePr>
            <a:graphicFrameLocks noGrp="1"/>
          </p:cNvGraphicFramePr>
          <p:nvPr/>
        </p:nvGraphicFramePr>
        <p:xfrm>
          <a:off x="548640" y="2258568"/>
          <a:ext cx="11082528" cy="3374136"/>
        </p:xfrm>
        <a:graphic>
          <a:graphicData uri="http://schemas.openxmlformats.org/drawingml/2006/table">
            <a:tbl>
              <a:tblPr firstRow="1" bandRow="1">
                <a:tableStyleId>{5C22544A-7EE6-4342-B048-85BDC9FD1C3A}</a:tableStyleId>
              </a:tblPr>
              <a:tblGrid>
                <a:gridCol w="2852928"/>
                <a:gridCol w="1371600"/>
                <a:gridCol w="1371600"/>
                <a:gridCol w="1371600"/>
                <a:gridCol w="1371600"/>
                <a:gridCol w="1371600"/>
                <a:gridCol w="1371600"/>
              </a:tblGrid>
              <a:tr h="482019">
                <a:tc>
                  <a:txBody>
                    <a:bodyPr/>
                    <a:lstStyle/>
                    <a:p>
                      <a:pPr>
                        <a:defRPr sz="1400" b="1">
                          <a:solidFill>
                            <a:srgbClr val="FFFFFF"/>
                          </a:solidFill>
                          <a:latin typeface="Lato"/>
                        </a:defRPr>
                      </a:pPr>
                      <a:r>
                        <a:t>Action</a:t>
                      </a:r>
                    </a:p>
                  </a:txBody>
                  <a:tcPr anchor="ctr" marL="128016" marR="91440" marT="50292" marB="41148">
                    <a:solidFill>
                      <a:srgbClr val="2D1B38"/>
                    </a:solidFill>
                  </a:tcPr>
                </a:tc>
                <a:tc>
                  <a:txBody>
                    <a:bodyPr/>
                    <a:lstStyle/>
                    <a:p>
                      <a:pPr>
                        <a:defRPr sz="1400" b="1">
                          <a:solidFill>
                            <a:srgbClr val="FFFFFF"/>
                          </a:solidFill>
                          <a:latin typeface="Lato"/>
                        </a:defRPr>
                      </a:pPr>
                      <a:r>
                        <a:t>Admin</a:t>
                      </a:r>
                    </a:p>
                  </a:txBody>
                  <a:tcPr anchor="ctr" marL="128016" marR="91440" marT="50292" marB="41148">
                    <a:solidFill>
                      <a:srgbClr val="2D1B38"/>
                    </a:solidFill>
                  </a:tcPr>
                </a:tc>
                <a:tc>
                  <a:txBody>
                    <a:bodyPr/>
                    <a:lstStyle/>
                    <a:p>
                      <a:pPr>
                        <a:defRPr sz="1400" b="1">
                          <a:solidFill>
                            <a:srgbClr val="FFFFFF"/>
                          </a:solidFill>
                          <a:latin typeface="Lato"/>
                        </a:defRPr>
                      </a:pPr>
                      <a:r>
                        <a:t>CRE</a:t>
                      </a:r>
                    </a:p>
                  </a:txBody>
                  <a:tcPr anchor="ctr" marL="128016" marR="91440" marT="50292" marB="41148">
                    <a:solidFill>
                      <a:srgbClr val="2D1B38"/>
                    </a:solidFill>
                  </a:tcPr>
                </a:tc>
                <a:tc>
                  <a:txBody>
                    <a:bodyPr/>
                    <a:lstStyle/>
                    <a:p>
                      <a:pPr>
                        <a:defRPr sz="1400" b="1">
                          <a:solidFill>
                            <a:srgbClr val="FFFFFF"/>
                          </a:solidFill>
                          <a:latin typeface="Lato"/>
                        </a:defRPr>
                      </a:pPr>
                      <a:r>
                        <a:t>PS/SO</a:t>
                      </a:r>
                    </a:p>
                  </a:txBody>
                  <a:tcPr anchor="ctr" marL="128016" marR="91440" marT="50292" marB="41148">
                    <a:solidFill>
                      <a:srgbClr val="2D1B38"/>
                    </a:solidFill>
                  </a:tcPr>
                </a:tc>
                <a:tc>
                  <a:txBody>
                    <a:bodyPr/>
                    <a:lstStyle/>
                    <a:p>
                      <a:pPr>
                        <a:defRPr sz="1400" b="1">
                          <a:solidFill>
                            <a:srgbClr val="FFFFFF"/>
                          </a:solidFill>
                          <a:latin typeface="Lato"/>
                        </a:defRPr>
                      </a:pPr>
                      <a:r>
                        <a:t>SM</a:t>
                      </a:r>
                    </a:p>
                  </a:txBody>
                  <a:tcPr anchor="ctr" marL="128016" marR="91440" marT="50292" marB="41148">
                    <a:solidFill>
                      <a:srgbClr val="2D1B38"/>
                    </a:solidFill>
                  </a:tcPr>
                </a:tc>
                <a:tc>
                  <a:txBody>
                    <a:bodyPr/>
                    <a:lstStyle/>
                    <a:p>
                      <a:pPr>
                        <a:defRPr sz="1400" b="1">
                          <a:solidFill>
                            <a:srgbClr val="FFFFFF"/>
                          </a:solidFill>
                          <a:latin typeface="Lato"/>
                        </a:defRPr>
                      </a:pPr>
                      <a:r>
                        <a:t>Reception</a:t>
                      </a:r>
                    </a:p>
                  </a:txBody>
                  <a:tcPr anchor="ctr" marL="128016" marR="91440" marT="50292" marB="41148">
                    <a:solidFill>
                      <a:srgbClr val="2D1B38"/>
                    </a:solidFill>
                  </a:tcPr>
                </a:tc>
                <a:tc>
                  <a:txBody>
                    <a:bodyPr/>
                    <a:lstStyle/>
                    <a:p>
                      <a:pPr>
                        <a:defRPr sz="1400" b="1">
                          <a:solidFill>
                            <a:srgbClr val="FFFFFF"/>
                          </a:solidFill>
                          <a:latin typeface="Lato"/>
                        </a:defRPr>
                      </a:pPr>
                      <a:r>
                        <a:t>Complaints</a:t>
                      </a:r>
                    </a:p>
                  </a:txBody>
                  <a:tcPr anchor="ctr" marL="128016" marR="91440" marT="50292" marB="41148">
                    <a:solidFill>
                      <a:srgbClr val="2D1B38"/>
                    </a:solidFill>
                  </a:tcPr>
                </a:tc>
              </a:tr>
              <a:tr h="482019">
                <a:tc>
                  <a:txBody>
                    <a:bodyPr/>
                    <a:lstStyle/>
                    <a:p>
                      <a:pPr>
                        <a:defRPr sz="1400" b="1">
                          <a:solidFill>
                            <a:srgbClr val="2D1B38"/>
                          </a:solidFill>
                          <a:latin typeface="Lato"/>
                        </a:defRPr>
                      </a:pPr>
                      <a:r>
                        <a:t>Log complaint</a:t>
                      </a:r>
                    </a:p>
                  </a:txBody>
                  <a:tcPr anchor="ctr" marL="128016" marR="91440" marT="50292" marB="41148">
                    <a:solidFill>
                      <a:srgbClr val="FFFFFF"/>
                    </a:solidFill>
                  </a:tcPr>
                </a:tc>
                <a:tc>
                  <a:txBody>
                    <a:bodyPr/>
                    <a:lstStyle/>
                    <a:p>
                      <a:pPr>
                        <a:defRPr sz="1400" b="0">
                          <a:solidFill>
                            <a:srgbClr val="2D1B38"/>
                          </a:solidFill>
                          <a:latin typeface="Lato"/>
                        </a:defRPr>
                      </a:pPr>
                      <a:r>
                        <a:t>No</a:t>
                      </a:r>
                    </a:p>
                  </a:txBody>
                  <a:tcPr anchor="ctr" marL="128016" marR="91440" marT="50292" marB="41148">
                    <a:solidFill>
                      <a:srgbClr val="FFFFFF"/>
                    </a:solidFill>
                  </a:tcPr>
                </a:tc>
                <a:tc>
                  <a:txBody>
                    <a:bodyPr/>
                    <a:lstStyle/>
                    <a:p>
                      <a:pPr>
                        <a:defRPr sz="1400" b="0">
                          <a:solidFill>
                            <a:srgbClr val="2D1B38"/>
                          </a:solidFill>
                          <a:latin typeface="Lato"/>
                        </a:defRPr>
                      </a:pPr>
                      <a:r>
                        <a:t>Yes</a:t>
                      </a:r>
                    </a:p>
                  </a:txBody>
                  <a:tcPr anchor="ctr" marL="128016" marR="91440" marT="50292" marB="41148">
                    <a:solidFill>
                      <a:srgbClr val="FFFFFF"/>
                    </a:solidFill>
                  </a:tcPr>
                </a:tc>
                <a:tc>
                  <a:txBody>
                    <a:bodyPr/>
                    <a:lstStyle/>
                    <a:p>
                      <a:pPr>
                        <a:defRPr sz="1400" b="0">
                          <a:solidFill>
                            <a:srgbClr val="2D1B38"/>
                          </a:solidFill>
                          <a:latin typeface="Lato"/>
                        </a:defRPr>
                      </a:pPr>
                      <a:r>
                        <a:t>No</a:t>
                      </a:r>
                    </a:p>
                  </a:txBody>
                  <a:tcPr anchor="ctr" marL="128016" marR="91440" marT="50292" marB="41148">
                    <a:solidFill>
                      <a:srgbClr val="FFFFFF"/>
                    </a:solidFill>
                  </a:tcPr>
                </a:tc>
                <a:tc>
                  <a:txBody>
                    <a:bodyPr/>
                    <a:lstStyle/>
                    <a:p>
                      <a:pPr>
                        <a:defRPr sz="1400" b="0">
                          <a:solidFill>
                            <a:srgbClr val="2D1B38"/>
                          </a:solidFill>
                          <a:latin typeface="Lato"/>
                        </a:defRPr>
                      </a:pPr>
                      <a:r>
                        <a:t>No</a:t>
                      </a:r>
                    </a:p>
                  </a:txBody>
                  <a:tcPr anchor="ctr" marL="128016" marR="91440" marT="50292" marB="41148">
                    <a:solidFill>
                      <a:srgbClr val="FFFFFF"/>
                    </a:solidFill>
                  </a:tcPr>
                </a:tc>
                <a:tc>
                  <a:txBody>
                    <a:bodyPr/>
                    <a:lstStyle/>
                    <a:p>
                      <a:pPr>
                        <a:defRPr sz="1400" b="0">
                          <a:solidFill>
                            <a:srgbClr val="2D1B38"/>
                          </a:solidFill>
                          <a:latin typeface="Lato"/>
                        </a:defRPr>
                      </a:pPr>
                      <a:r>
                        <a:t>No</a:t>
                      </a:r>
                    </a:p>
                  </a:txBody>
                  <a:tcPr anchor="ctr" marL="128016" marR="91440" marT="50292" marB="41148">
                    <a:solidFill>
                      <a:srgbClr val="FFFFFF"/>
                    </a:solidFill>
                  </a:tcPr>
                </a:tc>
                <a:tc>
                  <a:txBody>
                    <a:bodyPr/>
                    <a:lstStyle/>
                    <a:p>
                      <a:pPr>
                        <a:defRPr sz="1400" b="0">
                          <a:solidFill>
                            <a:srgbClr val="2D1B38"/>
                          </a:solidFill>
                          <a:latin typeface="Lato"/>
                        </a:defRPr>
                      </a:pPr>
                      <a:r>
                        <a:t>No</a:t>
                      </a:r>
                    </a:p>
                  </a:txBody>
                  <a:tcPr anchor="ctr" marL="128016" marR="91440" marT="50292" marB="41148">
                    <a:solidFill>
                      <a:srgbClr val="FFFFFF"/>
                    </a:solidFill>
                  </a:tcPr>
                </a:tc>
              </a:tr>
              <a:tr h="482019">
                <a:tc>
                  <a:txBody>
                    <a:bodyPr/>
                    <a:lstStyle/>
                    <a:p>
                      <a:pPr>
                        <a:defRPr sz="1400" b="1">
                          <a:solidFill>
                            <a:srgbClr val="2D1B38"/>
                          </a:solidFill>
                          <a:latin typeface="Lato"/>
                        </a:defRPr>
                      </a:pPr>
                      <a:r>
                        <a:t>Read complaint</a:t>
                      </a:r>
                    </a:p>
                  </a:txBody>
                  <a:tcPr anchor="ctr" marL="128016" marR="91440" marT="50292" marB="41148">
                    <a:solidFill>
                      <a:srgbClr val="E8DDF4"/>
                    </a:solidFill>
                  </a:tcPr>
                </a:tc>
                <a:tc>
                  <a:txBody>
                    <a:bodyPr/>
                    <a:lstStyle/>
                    <a:p>
                      <a:pPr>
                        <a:defRPr sz="1400" b="0">
                          <a:solidFill>
                            <a:srgbClr val="2D1B38"/>
                          </a:solidFill>
                          <a:latin typeface="Lato"/>
                        </a:defRPr>
                      </a:pPr>
                      <a:r>
                        <a:t>All</a:t>
                      </a:r>
                    </a:p>
                  </a:txBody>
                  <a:tcPr anchor="ctr" marL="128016" marR="91440" marT="50292" marB="41148">
                    <a:solidFill>
                      <a:srgbClr val="E8DDF4"/>
                    </a:solidFill>
                  </a:tcPr>
                </a:tc>
                <a:tc>
                  <a:txBody>
                    <a:bodyPr/>
                    <a:lstStyle/>
                    <a:p>
                      <a:pPr>
                        <a:defRPr sz="1400" b="0">
                          <a:solidFill>
                            <a:srgbClr val="2D1B38"/>
                          </a:solidFill>
                          <a:latin typeface="Lato"/>
                        </a:defRPr>
                      </a:pPr>
                      <a:r>
                        <a:t>Own logged</a:t>
                      </a:r>
                    </a:p>
                  </a:txBody>
                  <a:tcPr anchor="ctr" marL="128016" marR="91440" marT="50292" marB="41148">
                    <a:solidFill>
                      <a:srgbClr val="E8DDF4"/>
                    </a:solidFill>
                  </a:tcPr>
                </a:tc>
                <a:tc>
                  <a:txBody>
                    <a:bodyPr/>
                    <a:lstStyle/>
                    <a:p>
                      <a:pPr>
                        <a:defRPr sz="1400" b="0">
                          <a:solidFill>
                            <a:srgbClr val="2D1B38"/>
                          </a:solidFill>
                          <a:latin typeface="Lato"/>
                        </a:defRPr>
                      </a:pPr>
                      <a:r>
                        <a:t>No</a:t>
                      </a:r>
                    </a:p>
                  </a:txBody>
                  <a:tcPr anchor="ctr" marL="128016" marR="91440" marT="50292" marB="41148">
                    <a:solidFill>
                      <a:srgbClr val="E8DDF4"/>
                    </a:solidFill>
                  </a:tcPr>
                </a:tc>
                <a:tc>
                  <a:txBody>
                    <a:bodyPr/>
                    <a:lstStyle/>
                    <a:p>
                      <a:pPr>
                        <a:defRPr sz="1400" b="0">
                          <a:solidFill>
                            <a:srgbClr val="2D1B38"/>
                          </a:solidFill>
                          <a:latin typeface="Lato"/>
                        </a:defRPr>
                      </a:pPr>
                      <a:r>
                        <a:t>No</a:t>
                      </a:r>
                    </a:p>
                  </a:txBody>
                  <a:tcPr anchor="ctr" marL="128016" marR="91440" marT="50292" marB="41148">
                    <a:solidFill>
                      <a:srgbClr val="E8DDF4"/>
                    </a:solidFill>
                  </a:tcPr>
                </a:tc>
                <a:tc>
                  <a:txBody>
                    <a:bodyPr/>
                    <a:lstStyle/>
                    <a:p>
                      <a:pPr>
                        <a:defRPr sz="1400" b="0">
                          <a:solidFill>
                            <a:srgbClr val="2D1B38"/>
                          </a:solidFill>
                          <a:latin typeface="Lato"/>
                        </a:defRPr>
                      </a:pPr>
                      <a:r>
                        <a:t>No</a:t>
                      </a:r>
                    </a:p>
                  </a:txBody>
                  <a:tcPr anchor="ctr" marL="128016" marR="91440" marT="50292" marB="41148">
                    <a:solidFill>
                      <a:srgbClr val="E8DDF4"/>
                    </a:solidFill>
                  </a:tcPr>
                </a:tc>
                <a:tc>
                  <a:txBody>
                    <a:bodyPr/>
                    <a:lstStyle/>
                    <a:p>
                      <a:pPr>
                        <a:defRPr sz="1400" b="0">
                          <a:solidFill>
                            <a:srgbClr val="2D1B38"/>
                          </a:solidFill>
                          <a:latin typeface="Lato"/>
                        </a:defRPr>
                      </a:pPr>
                      <a:r>
                        <a:t>All</a:t>
                      </a:r>
                    </a:p>
                  </a:txBody>
                  <a:tcPr anchor="ctr" marL="128016" marR="91440" marT="50292" marB="41148">
                    <a:solidFill>
                      <a:srgbClr val="E8DDF4"/>
                    </a:solidFill>
                  </a:tcPr>
                </a:tc>
              </a:tr>
              <a:tr h="482019">
                <a:tc>
                  <a:txBody>
                    <a:bodyPr/>
                    <a:lstStyle/>
                    <a:p>
                      <a:pPr>
                        <a:defRPr sz="1400" b="1">
                          <a:solidFill>
                            <a:srgbClr val="2D1B38"/>
                          </a:solidFill>
                          <a:latin typeface="Lato"/>
                        </a:defRPr>
                      </a:pPr>
                      <a:r>
                        <a:t>Change status / priority</a:t>
                      </a:r>
                    </a:p>
                  </a:txBody>
                  <a:tcPr anchor="ctr" marL="128016" marR="91440" marT="50292" marB="41148">
                    <a:solidFill>
                      <a:srgbClr val="FFFFFF"/>
                    </a:solidFill>
                  </a:tcPr>
                </a:tc>
                <a:tc>
                  <a:txBody>
                    <a:bodyPr/>
                    <a:lstStyle/>
                    <a:p>
                      <a:pPr>
                        <a:defRPr sz="1400" b="0">
                          <a:solidFill>
                            <a:srgbClr val="2D1B38"/>
                          </a:solidFill>
                          <a:latin typeface="Lato"/>
                        </a:defRPr>
                      </a:pPr>
                      <a:r>
                        <a:t>No</a:t>
                      </a:r>
                    </a:p>
                  </a:txBody>
                  <a:tcPr anchor="ctr" marL="128016" marR="91440" marT="50292" marB="41148">
                    <a:solidFill>
                      <a:srgbClr val="FFFFFF"/>
                    </a:solidFill>
                  </a:tcPr>
                </a:tc>
                <a:tc>
                  <a:txBody>
                    <a:bodyPr/>
                    <a:lstStyle/>
                    <a:p>
                      <a:pPr>
                        <a:defRPr sz="1400" b="0">
                          <a:solidFill>
                            <a:srgbClr val="2D1B38"/>
                          </a:solidFill>
                          <a:latin typeface="Lato"/>
                        </a:defRPr>
                      </a:pPr>
                      <a:r>
                        <a:t>No</a:t>
                      </a:r>
                    </a:p>
                  </a:txBody>
                  <a:tcPr anchor="ctr" marL="128016" marR="91440" marT="50292" marB="41148">
                    <a:solidFill>
                      <a:srgbClr val="FFFFFF"/>
                    </a:solidFill>
                  </a:tcPr>
                </a:tc>
                <a:tc>
                  <a:txBody>
                    <a:bodyPr/>
                    <a:lstStyle/>
                    <a:p>
                      <a:pPr>
                        <a:defRPr sz="1400" b="0">
                          <a:solidFill>
                            <a:srgbClr val="2D1B38"/>
                          </a:solidFill>
                          <a:latin typeface="Lato"/>
                        </a:defRPr>
                      </a:pPr>
                      <a:r>
                        <a:t>No</a:t>
                      </a:r>
                    </a:p>
                  </a:txBody>
                  <a:tcPr anchor="ctr" marL="128016" marR="91440" marT="50292" marB="41148">
                    <a:solidFill>
                      <a:srgbClr val="FFFFFF"/>
                    </a:solidFill>
                  </a:tcPr>
                </a:tc>
                <a:tc>
                  <a:txBody>
                    <a:bodyPr/>
                    <a:lstStyle/>
                    <a:p>
                      <a:pPr>
                        <a:defRPr sz="1400" b="0">
                          <a:solidFill>
                            <a:srgbClr val="2D1B38"/>
                          </a:solidFill>
                          <a:latin typeface="Lato"/>
                        </a:defRPr>
                      </a:pPr>
                      <a:r>
                        <a:t>No</a:t>
                      </a:r>
                    </a:p>
                  </a:txBody>
                  <a:tcPr anchor="ctr" marL="128016" marR="91440" marT="50292" marB="41148">
                    <a:solidFill>
                      <a:srgbClr val="FFFFFF"/>
                    </a:solidFill>
                  </a:tcPr>
                </a:tc>
                <a:tc>
                  <a:txBody>
                    <a:bodyPr/>
                    <a:lstStyle/>
                    <a:p>
                      <a:pPr>
                        <a:defRPr sz="1400" b="0">
                          <a:solidFill>
                            <a:srgbClr val="2D1B38"/>
                          </a:solidFill>
                          <a:latin typeface="Lato"/>
                        </a:defRPr>
                      </a:pPr>
                      <a:r>
                        <a:t>No</a:t>
                      </a:r>
                    </a:p>
                  </a:txBody>
                  <a:tcPr anchor="ctr" marL="128016" marR="91440" marT="50292" marB="41148">
                    <a:solidFill>
                      <a:srgbClr val="FFFFFF"/>
                    </a:solidFill>
                  </a:tcPr>
                </a:tc>
                <a:tc>
                  <a:txBody>
                    <a:bodyPr/>
                    <a:lstStyle/>
                    <a:p>
                      <a:pPr>
                        <a:defRPr sz="1400" b="0">
                          <a:solidFill>
                            <a:srgbClr val="2D1B38"/>
                          </a:solidFill>
                          <a:latin typeface="Lato"/>
                        </a:defRPr>
                      </a:pPr>
                      <a:r>
                        <a:t>Yes</a:t>
                      </a:r>
                    </a:p>
                  </a:txBody>
                  <a:tcPr anchor="ctr" marL="128016" marR="91440" marT="50292" marB="41148">
                    <a:solidFill>
                      <a:srgbClr val="FFFFFF"/>
                    </a:solidFill>
                  </a:tcPr>
                </a:tc>
              </a:tr>
              <a:tr h="482019">
                <a:tc>
                  <a:txBody>
                    <a:bodyPr/>
                    <a:lstStyle/>
                    <a:p>
                      <a:pPr>
                        <a:defRPr sz="1400" b="1">
                          <a:solidFill>
                            <a:srgbClr val="2D1B38"/>
                          </a:solidFill>
                          <a:latin typeface="Lato"/>
                        </a:defRPr>
                      </a:pPr>
                      <a:r>
                        <a:t>Add note / resolve / close</a:t>
                      </a:r>
                    </a:p>
                  </a:txBody>
                  <a:tcPr anchor="ctr" marL="128016" marR="91440" marT="50292" marB="41148">
                    <a:solidFill>
                      <a:srgbClr val="E8DDF4"/>
                    </a:solidFill>
                  </a:tcPr>
                </a:tc>
                <a:tc>
                  <a:txBody>
                    <a:bodyPr/>
                    <a:lstStyle/>
                    <a:p>
                      <a:pPr>
                        <a:defRPr sz="1400" b="0">
                          <a:solidFill>
                            <a:srgbClr val="2D1B38"/>
                          </a:solidFill>
                          <a:latin typeface="Lato"/>
                        </a:defRPr>
                      </a:pPr>
                      <a:r>
                        <a:t>No</a:t>
                      </a:r>
                    </a:p>
                  </a:txBody>
                  <a:tcPr anchor="ctr" marL="128016" marR="91440" marT="50292" marB="41148">
                    <a:solidFill>
                      <a:srgbClr val="E8DDF4"/>
                    </a:solidFill>
                  </a:tcPr>
                </a:tc>
                <a:tc>
                  <a:txBody>
                    <a:bodyPr/>
                    <a:lstStyle/>
                    <a:p>
                      <a:pPr>
                        <a:defRPr sz="1400" b="0">
                          <a:solidFill>
                            <a:srgbClr val="2D1B38"/>
                          </a:solidFill>
                          <a:latin typeface="Lato"/>
                        </a:defRPr>
                      </a:pPr>
                      <a:r>
                        <a:t>No</a:t>
                      </a:r>
                    </a:p>
                  </a:txBody>
                  <a:tcPr anchor="ctr" marL="128016" marR="91440" marT="50292" marB="41148">
                    <a:solidFill>
                      <a:srgbClr val="E8DDF4"/>
                    </a:solidFill>
                  </a:tcPr>
                </a:tc>
                <a:tc>
                  <a:txBody>
                    <a:bodyPr/>
                    <a:lstStyle/>
                    <a:p>
                      <a:pPr>
                        <a:defRPr sz="1400" b="0">
                          <a:solidFill>
                            <a:srgbClr val="2D1B38"/>
                          </a:solidFill>
                          <a:latin typeface="Lato"/>
                        </a:defRPr>
                      </a:pPr>
                      <a:r>
                        <a:t>No</a:t>
                      </a:r>
                    </a:p>
                  </a:txBody>
                  <a:tcPr anchor="ctr" marL="128016" marR="91440" marT="50292" marB="41148">
                    <a:solidFill>
                      <a:srgbClr val="E8DDF4"/>
                    </a:solidFill>
                  </a:tcPr>
                </a:tc>
                <a:tc>
                  <a:txBody>
                    <a:bodyPr/>
                    <a:lstStyle/>
                    <a:p>
                      <a:pPr>
                        <a:defRPr sz="1400" b="0">
                          <a:solidFill>
                            <a:srgbClr val="2D1B38"/>
                          </a:solidFill>
                          <a:latin typeface="Lato"/>
                        </a:defRPr>
                      </a:pPr>
                      <a:r>
                        <a:t>No</a:t>
                      </a:r>
                    </a:p>
                  </a:txBody>
                  <a:tcPr anchor="ctr" marL="128016" marR="91440" marT="50292" marB="41148">
                    <a:solidFill>
                      <a:srgbClr val="E8DDF4"/>
                    </a:solidFill>
                  </a:tcPr>
                </a:tc>
                <a:tc>
                  <a:txBody>
                    <a:bodyPr/>
                    <a:lstStyle/>
                    <a:p>
                      <a:pPr>
                        <a:defRPr sz="1400" b="0">
                          <a:solidFill>
                            <a:srgbClr val="2D1B38"/>
                          </a:solidFill>
                          <a:latin typeface="Lato"/>
                        </a:defRPr>
                      </a:pPr>
                      <a:r>
                        <a:t>No</a:t>
                      </a:r>
                    </a:p>
                  </a:txBody>
                  <a:tcPr anchor="ctr" marL="128016" marR="91440" marT="50292" marB="41148">
                    <a:solidFill>
                      <a:srgbClr val="E8DDF4"/>
                    </a:solidFill>
                  </a:tcPr>
                </a:tc>
                <a:tc>
                  <a:txBody>
                    <a:bodyPr/>
                    <a:lstStyle/>
                    <a:p>
                      <a:pPr>
                        <a:defRPr sz="1400" b="0">
                          <a:solidFill>
                            <a:srgbClr val="2D1B38"/>
                          </a:solidFill>
                          <a:latin typeface="Lato"/>
                        </a:defRPr>
                      </a:pPr>
                      <a:r>
                        <a:t>Yes</a:t>
                      </a:r>
                    </a:p>
                  </a:txBody>
                  <a:tcPr anchor="ctr" marL="128016" marR="91440" marT="50292" marB="41148">
                    <a:solidFill>
                      <a:srgbClr val="E8DDF4"/>
                    </a:solidFill>
                  </a:tcPr>
                </a:tc>
              </a:tr>
              <a:tr h="482019">
                <a:tc>
                  <a:txBody>
                    <a:bodyPr/>
                    <a:lstStyle/>
                    <a:p>
                      <a:pPr>
                        <a:defRPr sz="1400" b="1">
                          <a:solidFill>
                            <a:srgbClr val="2D1B38"/>
                          </a:solidFill>
                          <a:latin typeface="Lato"/>
                        </a:defRPr>
                      </a:pPr>
                      <a:r>
                        <a:t>Complaint analytics</a:t>
                      </a:r>
                    </a:p>
                  </a:txBody>
                  <a:tcPr anchor="ctr" marL="128016" marR="91440" marT="50292" marB="41148">
                    <a:solidFill>
                      <a:srgbClr val="FFFFFF"/>
                    </a:solidFill>
                  </a:tcPr>
                </a:tc>
                <a:tc>
                  <a:txBody>
                    <a:bodyPr/>
                    <a:lstStyle/>
                    <a:p>
                      <a:pPr>
                        <a:defRPr sz="1400" b="0">
                          <a:solidFill>
                            <a:srgbClr val="2D1B38"/>
                          </a:solidFill>
                          <a:latin typeface="Lato"/>
                        </a:defRPr>
                      </a:pPr>
                      <a:r>
                        <a:t>All + team</a:t>
                      </a:r>
                    </a:p>
                  </a:txBody>
                  <a:tcPr anchor="ctr" marL="128016" marR="91440" marT="50292" marB="41148">
                    <a:solidFill>
                      <a:srgbClr val="FFFFFF"/>
                    </a:solidFill>
                  </a:tcPr>
                </a:tc>
                <a:tc>
                  <a:txBody>
                    <a:bodyPr/>
                    <a:lstStyle/>
                    <a:p>
                      <a:pPr>
                        <a:defRPr sz="1400" b="0">
                          <a:solidFill>
                            <a:srgbClr val="2D1B38"/>
                          </a:solidFill>
                          <a:latin typeface="Lato"/>
                        </a:defRPr>
                      </a:pPr>
                      <a:r>
                        <a:t>No</a:t>
                      </a:r>
                    </a:p>
                  </a:txBody>
                  <a:tcPr anchor="ctr" marL="128016" marR="91440" marT="50292" marB="41148">
                    <a:solidFill>
                      <a:srgbClr val="FFFFFF"/>
                    </a:solidFill>
                  </a:tcPr>
                </a:tc>
                <a:tc>
                  <a:txBody>
                    <a:bodyPr/>
                    <a:lstStyle/>
                    <a:p>
                      <a:pPr>
                        <a:defRPr sz="1400" b="0">
                          <a:solidFill>
                            <a:srgbClr val="2D1B38"/>
                          </a:solidFill>
                          <a:latin typeface="Lato"/>
                        </a:defRPr>
                      </a:pPr>
                      <a:r>
                        <a:t>No</a:t>
                      </a:r>
                    </a:p>
                  </a:txBody>
                  <a:tcPr anchor="ctr" marL="128016" marR="91440" marT="50292" marB="41148">
                    <a:solidFill>
                      <a:srgbClr val="FFFFFF"/>
                    </a:solidFill>
                  </a:tcPr>
                </a:tc>
                <a:tc>
                  <a:txBody>
                    <a:bodyPr/>
                    <a:lstStyle/>
                    <a:p>
                      <a:pPr>
                        <a:defRPr sz="1400" b="0">
                          <a:solidFill>
                            <a:srgbClr val="2D1B38"/>
                          </a:solidFill>
                          <a:latin typeface="Lato"/>
                        </a:defRPr>
                      </a:pPr>
                      <a:r>
                        <a:t>No</a:t>
                      </a:r>
                    </a:p>
                  </a:txBody>
                  <a:tcPr anchor="ctr" marL="128016" marR="91440" marT="50292" marB="41148">
                    <a:solidFill>
                      <a:srgbClr val="FFFFFF"/>
                    </a:solidFill>
                  </a:tcPr>
                </a:tc>
                <a:tc>
                  <a:txBody>
                    <a:bodyPr/>
                    <a:lstStyle/>
                    <a:p>
                      <a:pPr>
                        <a:defRPr sz="1400" b="0">
                          <a:solidFill>
                            <a:srgbClr val="2D1B38"/>
                          </a:solidFill>
                          <a:latin typeface="Lato"/>
                        </a:defRPr>
                      </a:pPr>
                      <a:r>
                        <a:t>No</a:t>
                      </a:r>
                    </a:p>
                  </a:txBody>
                  <a:tcPr anchor="ctr" marL="128016" marR="91440" marT="50292" marB="41148">
                    <a:solidFill>
                      <a:srgbClr val="FFFFFF"/>
                    </a:solidFill>
                  </a:tcPr>
                </a:tc>
                <a:tc>
                  <a:txBody>
                    <a:bodyPr/>
                    <a:lstStyle/>
                    <a:p>
                      <a:pPr>
                        <a:defRPr sz="1400" b="0">
                          <a:solidFill>
                            <a:srgbClr val="2D1B38"/>
                          </a:solidFill>
                          <a:latin typeface="Lato"/>
                        </a:defRPr>
                      </a:pPr>
                      <a:r>
                        <a:t>Shared</a:t>
                      </a:r>
                    </a:p>
                  </a:txBody>
                  <a:tcPr anchor="ctr" marL="128016" marR="91440" marT="50292" marB="41148">
                    <a:solidFill>
                      <a:srgbClr val="FFFFFF"/>
                    </a:solidFill>
                  </a:tcPr>
                </a:tc>
              </a:tr>
              <a:tr h="482022">
                <a:tc>
                  <a:txBody>
                    <a:bodyPr/>
                    <a:lstStyle/>
                    <a:p>
                      <a:pPr>
                        <a:defRPr sz="1400" b="1">
                          <a:solidFill>
                            <a:srgbClr val="2D1B38"/>
                          </a:solidFill>
                          <a:latin typeface="Lato"/>
                        </a:defRPr>
                      </a:pPr>
                      <a:r>
                        <a:t>Sales reporting</a:t>
                      </a:r>
                    </a:p>
                  </a:txBody>
                  <a:tcPr anchor="ctr" marL="128016" marR="91440" marT="50292" marB="41148">
                    <a:solidFill>
                      <a:srgbClr val="E8DDF4"/>
                    </a:solidFill>
                  </a:tcPr>
                </a:tc>
                <a:tc>
                  <a:txBody>
                    <a:bodyPr/>
                    <a:lstStyle/>
                    <a:p>
                      <a:pPr>
                        <a:defRPr sz="1400" b="0">
                          <a:solidFill>
                            <a:srgbClr val="2D1B38"/>
                          </a:solidFill>
                          <a:latin typeface="Lato"/>
                        </a:defRPr>
                      </a:pPr>
                      <a:r>
                        <a:t>Company</a:t>
                      </a:r>
                    </a:p>
                  </a:txBody>
                  <a:tcPr anchor="ctr" marL="128016" marR="91440" marT="50292" marB="41148">
                    <a:solidFill>
                      <a:srgbClr val="E8DDF4"/>
                    </a:solidFill>
                  </a:tcPr>
                </a:tc>
                <a:tc>
                  <a:txBody>
                    <a:bodyPr/>
                    <a:lstStyle/>
                    <a:p>
                      <a:pPr>
                        <a:defRPr sz="1400" b="0">
                          <a:solidFill>
                            <a:srgbClr val="2D1B38"/>
                          </a:solidFill>
                          <a:latin typeface="Lato"/>
                        </a:defRPr>
                      </a:pPr>
                      <a:r>
                        <a:t>Personal</a:t>
                      </a:r>
                    </a:p>
                  </a:txBody>
                  <a:tcPr anchor="ctr" marL="128016" marR="91440" marT="50292" marB="41148">
                    <a:solidFill>
                      <a:srgbClr val="E8DDF4"/>
                    </a:solidFill>
                  </a:tcPr>
                </a:tc>
                <a:tc>
                  <a:txBody>
                    <a:bodyPr/>
                    <a:lstStyle/>
                    <a:p>
                      <a:pPr>
                        <a:defRPr sz="1400" b="0">
                          <a:solidFill>
                            <a:srgbClr val="2D1B38"/>
                          </a:solidFill>
                          <a:latin typeface="Lato"/>
                        </a:defRPr>
                      </a:pPr>
                      <a:r>
                        <a:t>Personal</a:t>
                      </a:r>
                    </a:p>
                  </a:txBody>
                  <a:tcPr anchor="ctr" marL="128016" marR="91440" marT="50292" marB="41148">
                    <a:solidFill>
                      <a:srgbClr val="E8DDF4"/>
                    </a:solidFill>
                  </a:tcPr>
                </a:tc>
                <a:tc>
                  <a:txBody>
                    <a:bodyPr/>
                    <a:lstStyle/>
                    <a:p>
                      <a:pPr>
                        <a:defRPr sz="1400" b="0">
                          <a:solidFill>
                            <a:srgbClr val="2D1B38"/>
                          </a:solidFill>
                          <a:latin typeface="Lato"/>
                        </a:defRPr>
                      </a:pPr>
                      <a:r>
                        <a:t>Branch</a:t>
                      </a:r>
                    </a:p>
                  </a:txBody>
                  <a:tcPr anchor="ctr" marL="128016" marR="91440" marT="50292" marB="41148">
                    <a:solidFill>
                      <a:srgbClr val="E8DDF4"/>
                    </a:solidFill>
                  </a:tcPr>
                </a:tc>
                <a:tc>
                  <a:txBody>
                    <a:bodyPr/>
                    <a:lstStyle/>
                    <a:p>
                      <a:pPr>
                        <a:defRPr sz="1400" b="0">
                          <a:solidFill>
                            <a:srgbClr val="2D1B38"/>
                          </a:solidFill>
                          <a:latin typeface="Lato"/>
                        </a:defRPr>
                      </a:pPr>
                      <a:r>
                        <a:t>Own today</a:t>
                      </a:r>
                    </a:p>
                  </a:txBody>
                  <a:tcPr anchor="ctr" marL="128016" marR="91440" marT="50292" marB="41148">
                    <a:solidFill>
                      <a:srgbClr val="E8DDF4"/>
                    </a:solidFill>
                  </a:tcPr>
                </a:tc>
                <a:tc>
                  <a:txBody>
                    <a:bodyPr/>
                    <a:lstStyle/>
                    <a:p>
                      <a:pPr>
                        <a:defRPr sz="1400" b="0">
                          <a:solidFill>
                            <a:srgbClr val="2D1B38"/>
                          </a:solidFill>
                          <a:latin typeface="Lato"/>
                        </a:defRPr>
                      </a:pPr>
                      <a:r>
                        <a:t>No sales UI</a:t>
                      </a:r>
                    </a:p>
                  </a:txBody>
                  <a:tcPr anchor="ctr" marL="128016" marR="91440" marT="50292" marB="41148">
                    <a:solidFill>
                      <a:srgbClr val="E8DDF4"/>
                    </a:solidFill>
                  </a:tcPr>
                </a:tc>
              </a:tr>
            </a:tbl>
          </a:graphicData>
        </a:graphic>
      </p:graphicFrame>
      <p:cxnSp>
        <p:nvCxnSpPr>
          <p:cNvPr id="9" name="Connector 8"/>
          <p:cNvCxnSpPr/>
          <p:nvPr/>
        </p:nvCxnSpPr>
        <p:spPr>
          <a:xfrm>
            <a:off x="576072" y="5888736"/>
            <a:ext cx="329184" cy="0"/>
          </a:xfrm>
          <a:prstGeom prst="line">
            <a:avLst/>
          </a:prstGeom>
          <a:ln w="38100">
            <a:solidFill>
              <a:srgbClr val="6945A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60704" y="5724144"/>
            <a:ext cx="10332720" cy="448056"/>
          </a:xfrm>
          <a:prstGeom prst="rect">
            <a:avLst/>
          </a:prstGeom>
          <a:noFill/>
        </p:spPr>
        <p:txBody>
          <a:bodyPr wrap="square" lIns="0" rIns="0" tIns="0" bIns="0">
            <a:spAutoFit/>
          </a:bodyPr>
          <a:lstStyle/>
          <a:p>
            <a:pPr>
              <a:spcAft>
                <a:spcPts val="500"/>
              </a:spcAft>
              <a:defRPr sz="1500" b="1">
                <a:solidFill>
                  <a:srgbClr val="6945A3"/>
                </a:solidFill>
                <a:latin typeface="Lato"/>
              </a:defRPr>
            </a:pPr>
            <a:r>
              <a:t>CRE logs. Complaints team resolves. Admin observes.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ADMIN WORKSPACE</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Admin controls the operating setup</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Set up the team, allocate work, and handle exceptions.</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06 / 30</a:t>
            </a:r>
          </a:p>
        </p:txBody>
      </p:sp>
      <p:cxnSp>
        <p:nvCxnSpPr>
          <p:cNvPr id="8" name="Connector 7"/>
          <p:cNvCxnSpPr/>
          <p:nvPr/>
        </p:nvCxnSpPr>
        <p:spPr>
          <a:xfrm flipH="1" flipV="1">
            <a:off x="2331720" y="3008376"/>
            <a:ext cx="3730752" cy="832104"/>
          </a:xfrm>
          <a:prstGeom prst="line">
            <a:avLst/>
          </a:prstGeom>
          <a:ln w="38100">
            <a:solidFill>
              <a:srgbClr val="DDD4E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6062472" y="3008376"/>
            <a:ext cx="3749040" cy="832104"/>
          </a:xfrm>
          <a:prstGeom prst="line">
            <a:avLst/>
          </a:prstGeom>
          <a:ln w="38100">
            <a:solidFill>
              <a:srgbClr val="DDD4E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2331720" y="3840480"/>
            <a:ext cx="3730752" cy="923544"/>
          </a:xfrm>
          <a:prstGeom prst="line">
            <a:avLst/>
          </a:prstGeom>
          <a:ln w="38100">
            <a:solidFill>
              <a:srgbClr val="DDD4E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62472" y="3840480"/>
            <a:ext cx="3749040" cy="923544"/>
          </a:xfrm>
          <a:prstGeom prst="line">
            <a:avLst/>
          </a:prstGeom>
          <a:ln w="38100">
            <a:solidFill>
              <a:srgbClr val="DDD4E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5230368" y="3008376"/>
            <a:ext cx="1664208" cy="1664208"/>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950915" y="3258921"/>
            <a:ext cx="204825" cy="182880"/>
          </a:xfrm>
          <a:prstGeom prst="roundRect">
            <a:avLst/>
          </a:prstGeom>
          <a:no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702198" y="3741724"/>
            <a:ext cx="204825" cy="182880"/>
          </a:xfrm>
          <a:prstGeom prst="roundRect">
            <a:avLst/>
          </a:prstGeom>
          <a:no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199631" y="3741724"/>
            <a:ext cx="204825" cy="182880"/>
          </a:xfrm>
          <a:prstGeom prst="roundRect">
            <a:avLst/>
          </a:prstGeom>
          <a:no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6053328" y="3441801"/>
            <a:ext cx="0" cy="146304"/>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804611" y="3588105"/>
            <a:ext cx="497433"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804611" y="3588105"/>
            <a:ext cx="0" cy="153619"/>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302044" y="3588105"/>
            <a:ext cx="0" cy="153619"/>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276088" y="4178808"/>
            <a:ext cx="1572768" cy="329184"/>
          </a:xfrm>
          <a:prstGeom prst="rect">
            <a:avLst/>
          </a:prstGeom>
          <a:noFill/>
        </p:spPr>
        <p:txBody>
          <a:bodyPr wrap="square" lIns="0" rIns="0" tIns="0" bIns="0">
            <a:spAutoFit/>
          </a:bodyPr>
          <a:lstStyle/>
          <a:p>
            <a:pPr algn="ctr">
              <a:spcAft>
                <a:spcPts val="500"/>
              </a:spcAft>
              <a:defRPr sz="1800" b="1">
                <a:solidFill>
                  <a:srgbClr val="FFFFFF"/>
                </a:solidFill>
                <a:latin typeface="Lato"/>
              </a:defRPr>
            </a:pPr>
            <a:r>
              <a:t>ADMIN</a:t>
            </a:r>
          </a:p>
        </p:txBody>
      </p:sp>
      <p:sp>
        <p:nvSpPr>
          <p:cNvPr id="21" name="Rounded Rectangle 20"/>
          <p:cNvSpPr/>
          <p:nvPr/>
        </p:nvSpPr>
        <p:spPr>
          <a:xfrm>
            <a:off x="914400" y="2331720"/>
            <a:ext cx="2862072" cy="111556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99601" y="2538191"/>
            <a:ext cx="133685" cy="133685"/>
          </a:xfrm>
          <a:prstGeom prst="ellipse">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V="1">
            <a:off x="1136690" y="2774106"/>
            <a:ext cx="0" cy="94366"/>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136690" y="2719059"/>
            <a:ext cx="70775" cy="55047"/>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207465" y="2719059"/>
            <a:ext cx="117957"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325422" y="2719059"/>
            <a:ext cx="70775" cy="55047"/>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396197" y="2774106"/>
            <a:ext cx="0" cy="94366"/>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618488" y="2487168"/>
            <a:ext cx="2020824" cy="365760"/>
          </a:xfrm>
          <a:prstGeom prst="rect">
            <a:avLst/>
          </a:prstGeom>
          <a:noFill/>
        </p:spPr>
        <p:txBody>
          <a:bodyPr wrap="square" lIns="0" rIns="0" tIns="0" bIns="0">
            <a:spAutoFit/>
          </a:bodyPr>
          <a:lstStyle/>
          <a:p>
            <a:pPr>
              <a:spcAft>
                <a:spcPts val="500"/>
              </a:spcAft>
              <a:defRPr sz="2200" b="1">
                <a:solidFill>
                  <a:srgbClr val="2D1B38"/>
                </a:solidFill>
                <a:latin typeface="Lato"/>
              </a:defRPr>
            </a:pPr>
            <a:r>
              <a:t>Users</a:t>
            </a:r>
          </a:p>
        </p:txBody>
      </p:sp>
      <p:sp>
        <p:nvSpPr>
          <p:cNvPr id="29" name="TextBox 28"/>
          <p:cNvSpPr txBox="1"/>
          <p:nvPr/>
        </p:nvSpPr>
        <p:spPr>
          <a:xfrm>
            <a:off x="1060704" y="3090672"/>
            <a:ext cx="2569464" cy="292608"/>
          </a:xfrm>
          <a:prstGeom prst="rect">
            <a:avLst/>
          </a:prstGeom>
          <a:noFill/>
        </p:spPr>
        <p:txBody>
          <a:bodyPr wrap="square" lIns="0" rIns="0" tIns="0" bIns="0">
            <a:spAutoFit/>
          </a:bodyPr>
          <a:lstStyle/>
          <a:p>
            <a:pPr>
              <a:spcAft>
                <a:spcPts val="500"/>
              </a:spcAft>
              <a:defRPr sz="1400" b="0">
                <a:solidFill>
                  <a:srgbClr val="776B80"/>
                </a:solidFill>
                <a:latin typeface="Lato"/>
              </a:defRPr>
            </a:pPr>
            <a:r>
              <a:t>Roles · active staff · branches</a:t>
            </a:r>
          </a:p>
        </p:txBody>
      </p:sp>
      <p:sp>
        <p:nvSpPr>
          <p:cNvPr id="30" name="Rounded Rectangle 29"/>
          <p:cNvSpPr/>
          <p:nvPr/>
        </p:nvSpPr>
        <p:spPr>
          <a:xfrm>
            <a:off x="8394192" y="2331720"/>
            <a:ext cx="2862072" cy="111556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616482" y="2526395"/>
            <a:ext cx="259506" cy="369600"/>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a:off x="8671529" y="2628625"/>
            <a:ext cx="153345"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71529" y="2711196"/>
            <a:ext cx="153345"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671529" y="2797698"/>
            <a:ext cx="110094"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098280" y="2487168"/>
            <a:ext cx="2020824" cy="365760"/>
          </a:xfrm>
          <a:prstGeom prst="rect">
            <a:avLst/>
          </a:prstGeom>
          <a:noFill/>
        </p:spPr>
        <p:txBody>
          <a:bodyPr wrap="square" lIns="0" rIns="0" tIns="0" bIns="0">
            <a:spAutoFit/>
          </a:bodyPr>
          <a:lstStyle/>
          <a:p>
            <a:pPr>
              <a:spcAft>
                <a:spcPts val="500"/>
              </a:spcAft>
              <a:defRPr sz="2200" b="1">
                <a:solidFill>
                  <a:srgbClr val="2D1B38"/>
                </a:solidFill>
                <a:latin typeface="Lato"/>
              </a:defRPr>
            </a:pPr>
            <a:r>
              <a:t>Lists</a:t>
            </a:r>
          </a:p>
        </p:txBody>
      </p:sp>
      <p:sp>
        <p:nvSpPr>
          <p:cNvPr id="36" name="TextBox 35"/>
          <p:cNvSpPr txBox="1"/>
          <p:nvPr/>
        </p:nvSpPr>
        <p:spPr>
          <a:xfrm>
            <a:off x="8540496" y="3090672"/>
            <a:ext cx="2569464" cy="292608"/>
          </a:xfrm>
          <a:prstGeom prst="rect">
            <a:avLst/>
          </a:prstGeom>
          <a:noFill/>
        </p:spPr>
        <p:txBody>
          <a:bodyPr wrap="square" lIns="0" rIns="0" tIns="0" bIns="0">
            <a:spAutoFit/>
          </a:bodyPr>
          <a:lstStyle/>
          <a:p>
            <a:pPr>
              <a:spcAft>
                <a:spcPts val="500"/>
              </a:spcAft>
              <a:defRPr sz="1400" b="0">
                <a:solidFill>
                  <a:srgbClr val="776B80"/>
                </a:solidFill>
                <a:latin typeface="Lato"/>
              </a:defRPr>
            </a:pPr>
            <a:r>
              <a:t>Sources · models · colors</a:t>
            </a:r>
          </a:p>
        </p:txBody>
      </p:sp>
      <p:sp>
        <p:nvSpPr>
          <p:cNvPr id="37" name="Rounded Rectangle 36"/>
          <p:cNvSpPr/>
          <p:nvPr/>
        </p:nvSpPr>
        <p:spPr>
          <a:xfrm>
            <a:off x="914400" y="4160520"/>
            <a:ext cx="2862072" cy="111556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211397" y="4355195"/>
            <a:ext cx="110093" cy="98298"/>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077711" y="4614702"/>
            <a:ext cx="110093" cy="98298"/>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345082" y="4614702"/>
            <a:ext cx="110093" cy="98298"/>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1266444" y="4453493"/>
            <a:ext cx="0" cy="78639"/>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132758" y="4532132"/>
            <a:ext cx="267371"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132758" y="4532132"/>
            <a:ext cx="0" cy="8257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400129" y="4532132"/>
            <a:ext cx="0" cy="8257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618488" y="4315968"/>
            <a:ext cx="2020824" cy="365760"/>
          </a:xfrm>
          <a:prstGeom prst="rect">
            <a:avLst/>
          </a:prstGeom>
          <a:noFill/>
        </p:spPr>
        <p:txBody>
          <a:bodyPr wrap="square" lIns="0" rIns="0" tIns="0" bIns="0">
            <a:spAutoFit/>
          </a:bodyPr>
          <a:lstStyle/>
          <a:p>
            <a:pPr>
              <a:spcAft>
                <a:spcPts val="500"/>
              </a:spcAft>
              <a:defRPr sz="2200" b="1">
                <a:solidFill>
                  <a:srgbClr val="2D1B38"/>
                </a:solidFill>
                <a:latin typeface="Lato"/>
              </a:defRPr>
            </a:pPr>
            <a:r>
              <a:t>Allocation</a:t>
            </a:r>
          </a:p>
        </p:txBody>
      </p:sp>
      <p:sp>
        <p:nvSpPr>
          <p:cNvPr id="46" name="TextBox 45"/>
          <p:cNvSpPr txBox="1"/>
          <p:nvPr/>
        </p:nvSpPr>
        <p:spPr>
          <a:xfrm>
            <a:off x="1060704" y="4919472"/>
            <a:ext cx="2569464" cy="292608"/>
          </a:xfrm>
          <a:prstGeom prst="rect">
            <a:avLst/>
          </a:prstGeom>
          <a:noFill/>
        </p:spPr>
        <p:txBody>
          <a:bodyPr wrap="square" lIns="0" rIns="0" tIns="0" bIns="0">
            <a:spAutoFit/>
          </a:bodyPr>
          <a:lstStyle/>
          <a:p>
            <a:pPr>
              <a:spcAft>
                <a:spcPts val="500"/>
              </a:spcAft>
              <a:defRPr sz="1400" b="0">
                <a:solidFill>
                  <a:srgbClr val="776B80"/>
                </a:solidFill>
                <a:latin typeface="Lato"/>
              </a:defRPr>
            </a:pPr>
            <a:r>
              <a:t>Single lead · filtered bucket</a:t>
            </a:r>
          </a:p>
        </p:txBody>
      </p:sp>
      <p:sp>
        <p:nvSpPr>
          <p:cNvPr id="47" name="Rounded Rectangle 46"/>
          <p:cNvSpPr/>
          <p:nvPr/>
        </p:nvSpPr>
        <p:spPr>
          <a:xfrm>
            <a:off x="8394192" y="4160520"/>
            <a:ext cx="2862072" cy="111556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8581095" y="4414174"/>
            <a:ext cx="330281" cy="290962"/>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8581095" y="4500676"/>
            <a:ext cx="330281"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667597" y="4359127"/>
            <a:ext cx="0" cy="98298"/>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824874" y="4359127"/>
            <a:ext cx="0" cy="98298"/>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663665" y="4587179"/>
            <a:ext cx="55047" cy="55046"/>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8718712" y="4536064"/>
            <a:ext cx="121890" cy="106161"/>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9098280" y="4315968"/>
            <a:ext cx="2020824" cy="365760"/>
          </a:xfrm>
          <a:prstGeom prst="rect">
            <a:avLst/>
          </a:prstGeom>
          <a:noFill/>
        </p:spPr>
        <p:txBody>
          <a:bodyPr wrap="square" lIns="0" rIns="0" tIns="0" bIns="0">
            <a:spAutoFit/>
          </a:bodyPr>
          <a:lstStyle/>
          <a:p>
            <a:pPr>
              <a:spcAft>
                <a:spcPts val="500"/>
              </a:spcAft>
              <a:defRPr sz="2200" b="1">
                <a:solidFill>
                  <a:srgbClr val="2D1B38"/>
                </a:solidFill>
                <a:latin typeface="Lato"/>
              </a:defRPr>
            </a:pPr>
            <a:r>
              <a:t>Continuity</a:t>
            </a:r>
          </a:p>
        </p:txBody>
      </p:sp>
      <p:sp>
        <p:nvSpPr>
          <p:cNvPr id="55" name="TextBox 54"/>
          <p:cNvSpPr txBox="1"/>
          <p:nvPr/>
        </p:nvSpPr>
        <p:spPr>
          <a:xfrm>
            <a:off x="8540496" y="4919472"/>
            <a:ext cx="2569464" cy="292608"/>
          </a:xfrm>
          <a:prstGeom prst="rect">
            <a:avLst/>
          </a:prstGeom>
          <a:noFill/>
        </p:spPr>
        <p:txBody>
          <a:bodyPr wrap="square" lIns="0" rIns="0" tIns="0" bIns="0">
            <a:spAutoFit/>
          </a:bodyPr>
          <a:lstStyle/>
          <a:p>
            <a:pPr>
              <a:spcAft>
                <a:spcPts val="500"/>
              </a:spcAft>
              <a:defRPr sz="1400" b="0">
                <a:solidFill>
                  <a:srgbClr val="776B80"/>
                </a:solidFill>
                <a:latin typeface="Lato"/>
              </a:defRPr>
            </a:pPr>
            <a:r>
              <a:t>Reassign · review reminders</a:t>
            </a:r>
          </a:p>
        </p:txBody>
      </p:sp>
      <p:cxnSp>
        <p:nvCxnSpPr>
          <p:cNvPr id="56" name="Connector 55"/>
          <p:cNvCxnSpPr/>
          <p:nvPr/>
        </p:nvCxnSpPr>
        <p:spPr>
          <a:xfrm>
            <a:off x="576072" y="5888736"/>
            <a:ext cx="329184" cy="0"/>
          </a:xfrm>
          <a:prstGeom prst="line">
            <a:avLst/>
          </a:prstGeom>
          <a:ln w="38100">
            <a:solidFill>
              <a:srgbClr val="6945A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060704" y="5724144"/>
            <a:ext cx="10332720" cy="448056"/>
          </a:xfrm>
          <a:prstGeom prst="rect">
            <a:avLst/>
          </a:prstGeom>
          <a:noFill/>
        </p:spPr>
        <p:txBody>
          <a:bodyPr wrap="square" lIns="0" rIns="0" tIns="0" bIns="0">
            <a:spAutoFit/>
          </a:bodyPr>
          <a:lstStyle/>
          <a:p>
            <a:pPr>
              <a:spcAft>
                <a:spcPts val="500"/>
              </a:spcAft>
              <a:defRPr sz="1500" b="1">
                <a:solidFill>
                  <a:srgbClr val="6945A3"/>
                </a:solidFill>
                <a:latin typeface="Lato"/>
              </a:defRPr>
            </a:pPr>
            <a:r>
              <a:t>Keep branch names consistent across users, lead records and Admin Lists.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INTAKE</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Three entry routes into the CRM</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Sources describe origin; imports and forms bring the enquiries in.</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07 / 30</a:t>
            </a:r>
          </a:p>
        </p:txBody>
      </p:sp>
      <p:sp>
        <p:nvSpPr>
          <p:cNvPr id="8" name="Rounded Rectangle 7"/>
          <p:cNvSpPr/>
          <p:nvPr/>
        </p:nvSpPr>
        <p:spPr>
          <a:xfrm>
            <a:off x="640080" y="2322576"/>
            <a:ext cx="4187952" cy="822960"/>
          </a:xfrm>
          <a:prstGeom prst="roundRect">
            <a:avLst/>
          </a:prstGeom>
          <a:solidFill>
            <a:srgbClr val="FFFFFF"/>
          </a:solidFill>
          <a:ln w="15240">
            <a:solidFill>
              <a:srgbClr val="DD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95527" y="2505456"/>
            <a:ext cx="109728" cy="109728"/>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432304"/>
            <a:ext cx="3685032" cy="301752"/>
          </a:xfrm>
          <a:prstGeom prst="rect">
            <a:avLst/>
          </a:prstGeom>
          <a:noFill/>
        </p:spPr>
        <p:txBody>
          <a:bodyPr wrap="square" lIns="0" rIns="0" tIns="0" bIns="0">
            <a:spAutoFit/>
          </a:bodyPr>
          <a:lstStyle/>
          <a:p>
            <a:pPr>
              <a:spcAft>
                <a:spcPts val="500"/>
              </a:spcAft>
              <a:defRPr sz="1800" b="1">
                <a:solidFill>
                  <a:srgbClr val="6945A3"/>
                </a:solidFill>
                <a:latin typeface="Lato"/>
              </a:defRPr>
            </a:pPr>
            <a:r>
              <a:t>BULK UPLOAD</a:t>
            </a:r>
          </a:p>
        </p:txBody>
      </p:sp>
      <p:sp>
        <p:nvSpPr>
          <p:cNvPr id="11" name="TextBox 10"/>
          <p:cNvSpPr txBox="1"/>
          <p:nvPr/>
        </p:nvSpPr>
        <p:spPr>
          <a:xfrm>
            <a:off x="795528" y="2807208"/>
            <a:ext cx="3877056" cy="338328"/>
          </a:xfrm>
          <a:prstGeom prst="rect">
            <a:avLst/>
          </a:prstGeom>
          <a:noFill/>
        </p:spPr>
        <p:txBody>
          <a:bodyPr wrap="square" lIns="0" rIns="0" tIns="0" bIns="0">
            <a:spAutoFit/>
          </a:bodyPr>
          <a:lstStyle/>
          <a:p>
            <a:pPr algn="ctr">
              <a:spcAft>
                <a:spcPts val="500"/>
              </a:spcAft>
              <a:defRPr sz="1400" b="0">
                <a:solidFill>
                  <a:srgbClr val="776B80"/>
                </a:solidFill>
                <a:latin typeface="Lato"/>
              </a:defRPr>
            </a:pPr>
            <a:r>
              <a:t>Admin · CSV / XLSX</a:t>
            </a:r>
          </a:p>
        </p:txBody>
      </p:sp>
      <p:cxnSp>
        <p:nvCxnSpPr>
          <p:cNvPr id="12" name="Connector 11"/>
          <p:cNvCxnSpPr/>
          <p:nvPr/>
        </p:nvCxnSpPr>
        <p:spPr>
          <a:xfrm>
            <a:off x="4828032" y="2734056"/>
            <a:ext cx="932688"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40080" y="3355848"/>
            <a:ext cx="4187952" cy="822960"/>
          </a:xfrm>
          <a:prstGeom prst="roundRect">
            <a:avLst/>
          </a:prstGeom>
          <a:solidFill>
            <a:srgbClr val="FFFFFF"/>
          </a:solidFill>
          <a:ln w="15240">
            <a:solidFill>
              <a:srgbClr val="DD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95527" y="3538727"/>
            <a:ext cx="109728" cy="109728"/>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465576"/>
            <a:ext cx="3685032" cy="301752"/>
          </a:xfrm>
          <a:prstGeom prst="rect">
            <a:avLst/>
          </a:prstGeom>
          <a:noFill/>
        </p:spPr>
        <p:txBody>
          <a:bodyPr wrap="square" lIns="0" rIns="0" tIns="0" bIns="0">
            <a:spAutoFit/>
          </a:bodyPr>
          <a:lstStyle/>
          <a:p>
            <a:pPr>
              <a:spcAft>
                <a:spcPts val="500"/>
              </a:spcAft>
              <a:defRPr sz="1800" b="1">
                <a:solidFill>
                  <a:srgbClr val="6945A3"/>
                </a:solidFill>
                <a:latin typeface="Lato"/>
              </a:defRPr>
            </a:pPr>
            <a:r>
              <a:t>MANUAL ENQUIRY</a:t>
            </a:r>
          </a:p>
        </p:txBody>
      </p:sp>
      <p:sp>
        <p:nvSpPr>
          <p:cNvPr id="16" name="TextBox 15"/>
          <p:cNvSpPr txBox="1"/>
          <p:nvPr/>
        </p:nvSpPr>
        <p:spPr>
          <a:xfrm>
            <a:off x="795528" y="3840480"/>
            <a:ext cx="3877056" cy="338328"/>
          </a:xfrm>
          <a:prstGeom prst="rect">
            <a:avLst/>
          </a:prstGeom>
          <a:noFill/>
        </p:spPr>
        <p:txBody>
          <a:bodyPr wrap="square" lIns="0" rIns="0" tIns="0" bIns="0">
            <a:spAutoFit/>
          </a:bodyPr>
          <a:lstStyle/>
          <a:p>
            <a:pPr algn="ctr">
              <a:spcAft>
                <a:spcPts val="500"/>
              </a:spcAft>
              <a:defRPr sz="1400" b="0">
                <a:solidFill>
                  <a:srgbClr val="776B80"/>
                </a:solidFill>
                <a:latin typeface="Lato"/>
              </a:defRPr>
            </a:pPr>
            <a:r>
              <a:t>Admin / CRE capture</a:t>
            </a:r>
          </a:p>
        </p:txBody>
      </p:sp>
      <p:cxnSp>
        <p:nvCxnSpPr>
          <p:cNvPr id="17" name="Connector 16"/>
          <p:cNvCxnSpPr/>
          <p:nvPr/>
        </p:nvCxnSpPr>
        <p:spPr>
          <a:xfrm>
            <a:off x="4828032" y="3767328"/>
            <a:ext cx="932688"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40080" y="4389120"/>
            <a:ext cx="4187952" cy="822960"/>
          </a:xfrm>
          <a:prstGeom prst="roundRect">
            <a:avLst/>
          </a:prstGeom>
          <a:solidFill>
            <a:srgbClr val="FFFFFF"/>
          </a:solidFill>
          <a:ln w="15240">
            <a:solidFill>
              <a:srgbClr val="DD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95527" y="4572000"/>
            <a:ext cx="109728" cy="109728"/>
          </a:xfrm>
          <a:prstGeom prst="ellipse">
            <a:avLst/>
          </a:prstGeom>
          <a:solidFill>
            <a:srgbClr val="B65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498848"/>
            <a:ext cx="3685032" cy="301752"/>
          </a:xfrm>
          <a:prstGeom prst="rect">
            <a:avLst/>
          </a:prstGeom>
          <a:noFill/>
        </p:spPr>
        <p:txBody>
          <a:bodyPr wrap="square" lIns="0" rIns="0" tIns="0" bIns="0">
            <a:spAutoFit/>
          </a:bodyPr>
          <a:lstStyle/>
          <a:p>
            <a:pPr>
              <a:spcAft>
                <a:spcPts val="500"/>
              </a:spcAft>
              <a:defRPr sz="1800" b="1">
                <a:solidFill>
                  <a:srgbClr val="B65F20"/>
                </a:solidFill>
                <a:latin typeface="Lato"/>
              </a:defRPr>
            </a:pPr>
            <a:r>
              <a:t>SHOWROOM WALK-IN</a:t>
            </a:r>
          </a:p>
        </p:txBody>
      </p:sp>
      <p:sp>
        <p:nvSpPr>
          <p:cNvPr id="21" name="TextBox 20"/>
          <p:cNvSpPr txBox="1"/>
          <p:nvPr/>
        </p:nvSpPr>
        <p:spPr>
          <a:xfrm>
            <a:off x="795528" y="4873752"/>
            <a:ext cx="3877056" cy="338328"/>
          </a:xfrm>
          <a:prstGeom prst="rect">
            <a:avLst/>
          </a:prstGeom>
          <a:noFill/>
        </p:spPr>
        <p:txBody>
          <a:bodyPr wrap="square" lIns="0" rIns="0" tIns="0" bIns="0">
            <a:spAutoFit/>
          </a:bodyPr>
          <a:lstStyle/>
          <a:p>
            <a:pPr algn="ctr">
              <a:spcAft>
                <a:spcPts val="500"/>
              </a:spcAft>
              <a:defRPr sz="1400" b="0">
                <a:solidFill>
                  <a:srgbClr val="776B80"/>
                </a:solidFill>
                <a:latin typeface="Lato"/>
              </a:defRPr>
            </a:pPr>
            <a:r>
              <a:t>Receptionist → PS/SO</a:t>
            </a:r>
          </a:p>
        </p:txBody>
      </p:sp>
      <p:cxnSp>
        <p:nvCxnSpPr>
          <p:cNvPr id="22" name="Connector 21"/>
          <p:cNvCxnSpPr/>
          <p:nvPr/>
        </p:nvCxnSpPr>
        <p:spPr>
          <a:xfrm>
            <a:off x="4828032" y="4800600"/>
            <a:ext cx="932688" cy="0"/>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760720" y="2734056"/>
            <a:ext cx="0" cy="2066544"/>
          </a:xfrm>
          <a:prstGeom prst="line">
            <a:avLst/>
          </a:prstGeom>
          <a:ln w="38100">
            <a:solidFill>
              <a:srgbClr val="DDD4E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760720" y="3767328"/>
            <a:ext cx="713232" cy="0"/>
          </a:xfrm>
          <a:prstGeom prst="line">
            <a:avLst/>
          </a:prstGeom>
          <a:ln w="38100">
            <a:solidFill>
              <a:srgbClr val="6945A3"/>
            </a:solidFill>
          </a:ln>
        </p:spPr>
        <p:style>
          <a:lnRef idx="2">
            <a:schemeClr val="accent1"/>
          </a:lnRef>
          <a:fillRef idx="0">
            <a:schemeClr val="accent1"/>
          </a:fillRef>
          <a:effectRef idx="1">
            <a:schemeClr val="accent1"/>
          </a:effectRef>
          <a:fontRef idx="minor">
            <a:schemeClr val="tx1"/>
          </a:fontRef>
        </p:style>
      </p:cxnSp>
      <p:sp>
        <p:nvSpPr>
          <p:cNvPr id="25" name="Chevron 24"/>
          <p:cNvSpPr/>
          <p:nvPr/>
        </p:nvSpPr>
        <p:spPr>
          <a:xfrm>
            <a:off x="6473952" y="3666744"/>
            <a:ext cx="274320" cy="201168"/>
          </a:xfrm>
          <a:prstGeom prst="chevron">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949440" y="3264408"/>
            <a:ext cx="4453128" cy="1115568"/>
          </a:xfrm>
          <a:prstGeom prst="roundRect">
            <a:avLst/>
          </a:prstGeom>
          <a:solidFill>
            <a:srgbClr val="FFFFFF"/>
          </a:solidFill>
          <a:ln w="15240">
            <a:solidFill>
              <a:srgbClr val="DD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104888" y="3447288"/>
            <a:ext cx="109728" cy="109728"/>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0" y="3374136"/>
            <a:ext cx="3950208" cy="301752"/>
          </a:xfrm>
          <a:prstGeom prst="rect">
            <a:avLst/>
          </a:prstGeom>
          <a:noFill/>
        </p:spPr>
        <p:txBody>
          <a:bodyPr wrap="square" lIns="0" rIns="0" tIns="0" bIns="0">
            <a:spAutoFit/>
          </a:bodyPr>
          <a:lstStyle/>
          <a:p>
            <a:pPr>
              <a:spcAft>
                <a:spcPts val="500"/>
              </a:spcAft>
              <a:defRPr sz="1800" b="1">
                <a:solidFill>
                  <a:srgbClr val="6945A3"/>
                </a:solidFill>
                <a:latin typeface="Lato"/>
              </a:defRPr>
            </a:pPr>
            <a:r>
              <a:t>Assigned work queue</a:t>
            </a:r>
          </a:p>
        </p:txBody>
      </p:sp>
      <p:sp>
        <p:nvSpPr>
          <p:cNvPr id="29" name="TextBox 28"/>
          <p:cNvSpPr txBox="1"/>
          <p:nvPr/>
        </p:nvSpPr>
        <p:spPr>
          <a:xfrm>
            <a:off x="7104888" y="3749039"/>
            <a:ext cx="4142232" cy="338328"/>
          </a:xfrm>
          <a:prstGeom prst="rect">
            <a:avLst/>
          </a:prstGeom>
          <a:noFill/>
        </p:spPr>
        <p:txBody>
          <a:bodyPr wrap="square" lIns="0" rIns="0" tIns="0" bIns="0">
            <a:spAutoFit/>
          </a:bodyPr>
          <a:lstStyle/>
          <a:p>
            <a:pPr algn="ctr">
              <a:spcAft>
                <a:spcPts val="500"/>
              </a:spcAft>
              <a:defRPr sz="1400" b="0">
                <a:solidFill>
                  <a:srgbClr val="776B80"/>
                </a:solidFill>
                <a:latin typeface="Lato"/>
              </a:defRPr>
            </a:pPr>
            <a:r>
              <a:t>Fresh allocation or direct qualified lead</a:t>
            </a:r>
          </a:p>
        </p:txBody>
      </p:sp>
      <p:cxnSp>
        <p:nvCxnSpPr>
          <p:cNvPr id="30" name="Connector 29"/>
          <p:cNvCxnSpPr/>
          <p:nvPr/>
        </p:nvCxnSpPr>
        <p:spPr>
          <a:xfrm>
            <a:off x="576072" y="5888736"/>
            <a:ext cx="329184" cy="0"/>
          </a:xfrm>
          <a:prstGeom prst="line">
            <a:avLst/>
          </a:prstGeom>
          <a:ln w="38100">
            <a:solidFill>
              <a:srgbClr val="6945A3"/>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60704" y="5724144"/>
            <a:ext cx="10332720" cy="448056"/>
          </a:xfrm>
          <a:prstGeom prst="rect">
            <a:avLst/>
          </a:prstGeom>
          <a:noFill/>
        </p:spPr>
        <p:txBody>
          <a:bodyPr wrap="square" lIns="0" rIns="0" tIns="0" bIns="0">
            <a:spAutoFit/>
          </a:bodyPr>
          <a:lstStyle/>
          <a:p>
            <a:pPr>
              <a:spcAft>
                <a:spcPts val="500"/>
              </a:spcAft>
              <a:defRPr sz="1500" b="1">
                <a:solidFill>
                  <a:srgbClr val="6945A3"/>
                </a:solidFill>
                <a:latin typeface="Lato"/>
              </a:defRPr>
            </a:pPr>
            <a:r>
              <a:t>Walk-ins bypass the CRE allocation step; confirm branch and enquiry date for reporting.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INTAKE</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Check the data before importing</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Review the upload summary, then confirm import.</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08 / 30</a:t>
            </a:r>
          </a:p>
        </p:txBody>
      </p:sp>
      <p:graphicFrame>
        <p:nvGraphicFramePr>
          <p:cNvPr id="8" name="Table 7"/>
          <p:cNvGraphicFramePr>
            <a:graphicFrameLocks noGrp="1"/>
          </p:cNvGraphicFramePr>
          <p:nvPr/>
        </p:nvGraphicFramePr>
        <p:xfrm>
          <a:off x="548640" y="2258568"/>
          <a:ext cx="11082528" cy="3264408"/>
        </p:xfrm>
        <a:graphic>
          <a:graphicData uri="http://schemas.openxmlformats.org/drawingml/2006/table">
            <a:tbl>
              <a:tblPr firstRow="1" bandRow="1">
                <a:tableStyleId>{5C22544A-7EE6-4342-B048-85BDC9FD1C3A}</a:tableStyleId>
              </a:tblPr>
              <a:tblGrid>
                <a:gridCol w="2414016"/>
                <a:gridCol w="3950208"/>
                <a:gridCol w="4718304"/>
              </a:tblGrid>
              <a:tr h="544068">
                <a:tc>
                  <a:txBody>
                    <a:bodyPr/>
                    <a:lstStyle/>
                    <a:p>
                      <a:pPr>
                        <a:defRPr sz="1600" b="1">
                          <a:solidFill>
                            <a:srgbClr val="FFFFFF"/>
                          </a:solidFill>
                          <a:latin typeface="Lato"/>
                        </a:defRPr>
                      </a:pPr>
                      <a:r>
                        <a:t>Check</a:t>
                      </a:r>
                    </a:p>
                  </a:txBody>
                  <a:tcPr anchor="ctr" marL="128016" marR="91440" marT="50292" marB="41148">
                    <a:solidFill>
                      <a:srgbClr val="2D1B38"/>
                    </a:solidFill>
                  </a:tcPr>
                </a:tc>
                <a:tc>
                  <a:txBody>
                    <a:bodyPr/>
                    <a:lstStyle/>
                    <a:p>
                      <a:pPr>
                        <a:defRPr sz="1600" b="1">
                          <a:solidFill>
                            <a:srgbClr val="FFFFFF"/>
                          </a:solidFill>
                          <a:latin typeface="Lato"/>
                        </a:defRPr>
                      </a:pPr>
                      <a:r>
                        <a:t>Current behavior</a:t>
                      </a:r>
                    </a:p>
                  </a:txBody>
                  <a:tcPr anchor="ctr" marL="128016" marR="91440" marT="50292" marB="41148">
                    <a:solidFill>
                      <a:srgbClr val="2D1B38"/>
                    </a:solidFill>
                  </a:tcPr>
                </a:tc>
                <a:tc>
                  <a:txBody>
                    <a:bodyPr/>
                    <a:lstStyle/>
                    <a:p>
                      <a:pPr>
                        <a:defRPr sz="1600" b="1">
                          <a:solidFill>
                            <a:srgbClr val="FFFFFF"/>
                          </a:solidFill>
                          <a:latin typeface="Lato"/>
                        </a:defRPr>
                      </a:pPr>
                      <a:r>
                        <a:t>Operator response</a:t>
                      </a:r>
                    </a:p>
                  </a:txBody>
                  <a:tcPr anchor="ctr" marL="128016" marR="91440" marT="50292" marB="41148">
                    <a:solidFill>
                      <a:srgbClr val="2D1B38"/>
                    </a:solidFill>
                  </a:tcPr>
                </a:tc>
              </a:tr>
              <a:tr h="544068">
                <a:tc>
                  <a:txBody>
                    <a:bodyPr/>
                    <a:lstStyle/>
                    <a:p>
                      <a:pPr>
                        <a:defRPr sz="1600" b="1">
                          <a:solidFill>
                            <a:srgbClr val="2D1B38"/>
                          </a:solidFill>
                          <a:latin typeface="Lato"/>
                        </a:defRPr>
                      </a:pPr>
                      <a:r>
                        <a:t>CSV / XLSX</a:t>
                      </a:r>
                    </a:p>
                  </a:txBody>
                  <a:tcPr anchor="ctr" marL="128016" marR="91440" marT="50292" marB="41148">
                    <a:solidFill>
                      <a:srgbClr val="FFFFFF"/>
                    </a:solidFill>
                  </a:tcPr>
                </a:tc>
                <a:tc>
                  <a:txBody>
                    <a:bodyPr/>
                    <a:lstStyle/>
                    <a:p>
                      <a:pPr>
                        <a:defRPr sz="1600" b="0">
                          <a:solidFill>
                            <a:srgbClr val="2D1B38"/>
                          </a:solidFill>
                          <a:latin typeface="Lato"/>
                        </a:defRPr>
                      </a:pPr>
                      <a:r>
                        <a:t>Up to 10 MB</a:t>
                      </a:r>
                    </a:p>
                  </a:txBody>
                  <a:tcPr anchor="ctr" marL="128016" marR="91440" marT="50292" marB="41148">
                    <a:solidFill>
                      <a:srgbClr val="FFFFFF"/>
                    </a:solidFill>
                  </a:tcPr>
                </a:tc>
                <a:tc>
                  <a:txBody>
                    <a:bodyPr/>
                    <a:lstStyle/>
                    <a:p>
                      <a:pPr>
                        <a:defRPr sz="1600" b="0">
                          <a:solidFill>
                            <a:srgbClr val="2D1B38"/>
                          </a:solidFill>
                          <a:latin typeface="Lato"/>
                        </a:defRPr>
                      </a:pPr>
                      <a:r>
                        <a:t>Use expected column headers</a:t>
                      </a:r>
                    </a:p>
                  </a:txBody>
                  <a:tcPr anchor="ctr" marL="128016" marR="91440" marT="50292" marB="41148">
                    <a:solidFill>
                      <a:srgbClr val="FFFFFF"/>
                    </a:solidFill>
                  </a:tcPr>
                </a:tc>
              </a:tr>
              <a:tr h="544068">
                <a:tc>
                  <a:txBody>
                    <a:bodyPr/>
                    <a:lstStyle/>
                    <a:p>
                      <a:pPr>
                        <a:defRPr sz="1600" b="1">
                          <a:solidFill>
                            <a:srgbClr val="2D1B38"/>
                          </a:solidFill>
                          <a:latin typeface="Lato"/>
                        </a:defRPr>
                      </a:pPr>
                      <a:r>
                        <a:t>Phone duplicate</a:t>
                      </a:r>
                    </a:p>
                  </a:txBody>
                  <a:tcPr anchor="ctr" marL="128016" marR="91440" marT="50292" marB="41148">
                    <a:solidFill>
                      <a:srgbClr val="E8DDF4"/>
                    </a:solidFill>
                  </a:tcPr>
                </a:tc>
                <a:tc>
                  <a:txBody>
                    <a:bodyPr/>
                    <a:lstStyle/>
                    <a:p>
                      <a:pPr>
                        <a:defRPr sz="1600" b="0">
                          <a:solidFill>
                            <a:srgbClr val="2D1B38"/>
                          </a:solidFill>
                          <a:latin typeface="Lato"/>
                        </a:defRPr>
                      </a:pPr>
                      <a:r>
                        <a:t>Skip CRM or same-file repeats</a:t>
                      </a:r>
                    </a:p>
                  </a:txBody>
                  <a:tcPr anchor="ctr" marL="128016" marR="91440" marT="50292" marB="41148">
                    <a:solidFill>
                      <a:srgbClr val="E8DDF4"/>
                    </a:solidFill>
                  </a:tcPr>
                </a:tc>
                <a:tc>
                  <a:txBody>
                    <a:bodyPr/>
                    <a:lstStyle/>
                    <a:p>
                      <a:pPr>
                        <a:defRPr sz="1600" b="0">
                          <a:solidFill>
                            <a:srgbClr val="2D1B38"/>
                          </a:solidFill>
                          <a:latin typeface="Lato"/>
                        </a:defRPr>
                      </a:pPr>
                      <a:r>
                        <a:t>Review the existing enquiry</a:t>
                      </a:r>
                    </a:p>
                  </a:txBody>
                  <a:tcPr anchor="ctr" marL="128016" marR="91440" marT="50292" marB="41148">
                    <a:solidFill>
                      <a:srgbClr val="E8DDF4"/>
                    </a:solidFill>
                  </a:tcPr>
                </a:tc>
              </a:tr>
              <a:tr h="544068">
                <a:tc>
                  <a:txBody>
                    <a:bodyPr/>
                    <a:lstStyle/>
                    <a:p>
                      <a:pPr>
                        <a:defRPr sz="1600" b="1">
                          <a:solidFill>
                            <a:srgbClr val="2D1B38"/>
                          </a:solidFill>
                          <a:latin typeface="Lato"/>
                        </a:defRPr>
                      </a:pPr>
                      <a:r>
                        <a:t>Name / phone invalid</a:t>
                      </a:r>
                    </a:p>
                  </a:txBody>
                  <a:tcPr anchor="ctr" marL="128016" marR="91440" marT="50292" marB="41148">
                    <a:solidFill>
                      <a:srgbClr val="FFFFFF"/>
                    </a:solidFill>
                  </a:tcPr>
                </a:tc>
                <a:tc>
                  <a:txBody>
                    <a:bodyPr/>
                    <a:lstStyle/>
                    <a:p>
                      <a:pPr>
                        <a:defRPr sz="1600" b="0">
                          <a:solidFill>
                            <a:srgbClr val="2D1B38"/>
                          </a:solidFill>
                          <a:latin typeface="Lato"/>
                        </a:defRPr>
                      </a:pPr>
                      <a:r>
                        <a:t>Skip the invalid row</a:t>
                      </a:r>
                    </a:p>
                  </a:txBody>
                  <a:tcPr anchor="ctr" marL="128016" marR="91440" marT="50292" marB="41148">
                    <a:solidFill>
                      <a:srgbClr val="FFFFFF"/>
                    </a:solidFill>
                  </a:tcPr>
                </a:tc>
                <a:tc>
                  <a:txBody>
                    <a:bodyPr/>
                    <a:lstStyle/>
                    <a:p>
                      <a:pPr>
                        <a:defRPr sz="1600" b="0">
                          <a:solidFill>
                            <a:srgbClr val="2D1B38"/>
                          </a:solidFill>
                          <a:latin typeface="Lato"/>
                        </a:defRPr>
                      </a:pPr>
                      <a:r>
                        <a:t>Correct and re-upload</a:t>
                      </a:r>
                    </a:p>
                  </a:txBody>
                  <a:tcPr anchor="ctr" marL="128016" marR="91440" marT="50292" marB="41148">
                    <a:solidFill>
                      <a:srgbClr val="FFFFFF"/>
                    </a:solidFill>
                  </a:tcPr>
                </a:tc>
              </a:tr>
              <a:tr h="544068">
                <a:tc>
                  <a:txBody>
                    <a:bodyPr/>
                    <a:lstStyle/>
                    <a:p>
                      <a:pPr>
                        <a:defRPr sz="1600" b="1">
                          <a:solidFill>
                            <a:srgbClr val="2D1B38"/>
                          </a:solidFill>
                          <a:latin typeface="Lato"/>
                        </a:defRPr>
                      </a:pPr>
                      <a:r>
                        <a:t>Source / model mismatch</a:t>
                      </a:r>
                    </a:p>
                  </a:txBody>
                  <a:tcPr anchor="ctr" marL="128016" marR="91440" marT="50292" marB="41148">
                    <a:solidFill>
                      <a:srgbClr val="E8DDF4"/>
                    </a:solidFill>
                  </a:tcPr>
                </a:tc>
                <a:tc>
                  <a:txBody>
                    <a:bodyPr/>
                    <a:lstStyle/>
                    <a:p>
                      <a:pPr>
                        <a:defRPr sz="1600" b="0">
                          <a:solidFill>
                            <a:srgbClr val="2D1B38"/>
                          </a:solidFill>
                          <a:latin typeface="Lato"/>
                        </a:defRPr>
                      </a:pPr>
                      <a:r>
                        <a:t>Reject invalid configured value</a:t>
                      </a:r>
                    </a:p>
                  </a:txBody>
                  <a:tcPr anchor="ctr" marL="128016" marR="91440" marT="50292" marB="41148">
                    <a:solidFill>
                      <a:srgbClr val="E8DDF4"/>
                    </a:solidFill>
                  </a:tcPr>
                </a:tc>
                <a:tc>
                  <a:txBody>
                    <a:bodyPr/>
                    <a:lstStyle/>
                    <a:p>
                      <a:pPr>
                        <a:defRPr sz="1600" b="0">
                          <a:solidFill>
                            <a:srgbClr val="2D1B38"/>
                          </a:solidFill>
                          <a:latin typeface="Lato"/>
                        </a:defRPr>
                      </a:pPr>
                      <a:r>
                        <a:t>Use Admin Lists values</a:t>
                      </a:r>
                    </a:p>
                  </a:txBody>
                  <a:tcPr anchor="ctr" marL="128016" marR="91440" marT="50292" marB="41148">
                    <a:solidFill>
                      <a:srgbClr val="E8DDF4"/>
                    </a:solidFill>
                  </a:tcPr>
                </a:tc>
              </a:tr>
              <a:tr h="544068">
                <a:tc>
                  <a:txBody>
                    <a:bodyPr/>
                    <a:lstStyle/>
                    <a:p>
                      <a:pPr>
                        <a:defRPr sz="1600" b="1">
                          <a:solidFill>
                            <a:srgbClr val="2D1B38"/>
                          </a:solidFill>
                          <a:latin typeface="Lato"/>
                        </a:defRPr>
                      </a:pPr>
                      <a:r>
                        <a:t>Enquiry date</a:t>
                      </a:r>
                    </a:p>
                  </a:txBody>
                  <a:tcPr anchor="ctr" marL="128016" marR="91440" marT="50292" marB="41148">
                    <a:solidFill>
                      <a:srgbClr val="FFFFFF"/>
                    </a:solidFill>
                  </a:tcPr>
                </a:tc>
                <a:tc>
                  <a:txBody>
                    <a:bodyPr/>
                    <a:lstStyle/>
                    <a:p>
                      <a:pPr>
                        <a:defRPr sz="1600" b="0">
                          <a:solidFill>
                            <a:srgbClr val="2D1B38"/>
                          </a:solidFill>
                          <a:latin typeface="Lato"/>
                        </a:defRPr>
                      </a:pPr>
                      <a:r>
                        <a:t>Future rejected; missing may default</a:t>
                      </a:r>
                    </a:p>
                  </a:txBody>
                  <a:tcPr anchor="ctr" marL="128016" marR="91440" marT="50292" marB="41148">
                    <a:solidFill>
                      <a:srgbClr val="FFFFFF"/>
                    </a:solidFill>
                  </a:tcPr>
                </a:tc>
                <a:tc>
                  <a:txBody>
                    <a:bodyPr/>
                    <a:lstStyle/>
                    <a:p>
                      <a:pPr>
                        <a:defRPr sz="1600" b="0">
                          <a:solidFill>
                            <a:srgbClr val="2D1B38"/>
                          </a:solidFill>
                          <a:latin typeface="Lato"/>
                        </a:defRPr>
                      </a:pPr>
                      <a:r>
                        <a:t>Confirm the actual enquiry date</a:t>
                      </a:r>
                    </a:p>
                  </a:txBody>
                  <a:tcPr anchor="ctr" marL="128016" marR="91440" marT="50292" marB="41148">
                    <a:solidFill>
                      <a:srgbClr val="FFFFFF"/>
                    </a:solidFill>
                  </a:tcPr>
                </a:tc>
              </a:tr>
            </a:tbl>
          </a:graphicData>
        </a:graphic>
      </p:graphicFrame>
      <p:cxnSp>
        <p:nvCxnSpPr>
          <p:cNvPr id="9" name="Connector 8"/>
          <p:cNvCxnSpPr/>
          <p:nvPr/>
        </p:nvCxnSpPr>
        <p:spPr>
          <a:xfrm>
            <a:off x="576072" y="5888736"/>
            <a:ext cx="329184" cy="0"/>
          </a:xfrm>
          <a:prstGeom prst="line">
            <a:avLst/>
          </a:prstGeom>
          <a:ln w="38100">
            <a:solidFill>
              <a:srgbClr val="B65F2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60704" y="5724144"/>
            <a:ext cx="10332720" cy="448056"/>
          </a:xfrm>
          <a:prstGeom prst="rect">
            <a:avLst/>
          </a:prstGeom>
          <a:noFill/>
        </p:spPr>
        <p:txBody>
          <a:bodyPr wrap="square" lIns="0" rIns="0" tIns="0" bIns="0">
            <a:spAutoFit/>
          </a:bodyPr>
          <a:lstStyle/>
          <a:p>
            <a:pPr>
              <a:spcAft>
                <a:spcPts val="500"/>
              </a:spcAft>
              <a:defRPr sz="1500" b="1">
                <a:solidFill>
                  <a:srgbClr val="B65F20"/>
                </a:solidFill>
                <a:latin typeface="Lato"/>
              </a:defRPr>
            </a:pPr>
            <a:r>
              <a:t>Import duplicate checks do not prevent repeated phone numbers in manual entry.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ALLOCATION</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Choose how the batch is shared</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Individual assignment, filtered buckets, or global Auto assign.</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09 / 30</a:t>
            </a:r>
          </a:p>
        </p:txBody>
      </p:sp>
      <p:sp>
        <p:nvSpPr>
          <p:cNvPr id="8" name="Rounded Rectangle 7"/>
          <p:cNvSpPr/>
          <p:nvPr/>
        </p:nvSpPr>
        <p:spPr>
          <a:xfrm>
            <a:off x="640080" y="2157984"/>
            <a:ext cx="3264408" cy="356616"/>
          </a:xfrm>
          <a:prstGeom prst="roundRect">
            <a:avLst/>
          </a:prstGeom>
          <a:solidFill>
            <a:srgbClr val="E8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19" y="2221991"/>
            <a:ext cx="3081527" cy="228600"/>
          </a:xfrm>
          <a:prstGeom prst="rect">
            <a:avLst/>
          </a:prstGeom>
          <a:noFill/>
        </p:spPr>
        <p:txBody>
          <a:bodyPr wrap="square" lIns="0" rIns="0" tIns="0" bIns="0">
            <a:spAutoFit/>
          </a:bodyPr>
          <a:lstStyle/>
          <a:p>
            <a:pPr algn="ctr">
              <a:spcAft>
                <a:spcPts val="500"/>
              </a:spcAft>
              <a:defRPr sz="1300" b="1">
                <a:solidFill>
                  <a:srgbClr val="6945A3"/>
                </a:solidFill>
                <a:latin typeface="Lato"/>
              </a:defRPr>
            </a:pPr>
            <a:r>
              <a:t>SINGLE LEAD → NAMED CRE</a:t>
            </a:r>
          </a:p>
        </p:txBody>
      </p:sp>
      <p:sp>
        <p:nvSpPr>
          <p:cNvPr id="10" name="Rounded Rectangle 9"/>
          <p:cNvSpPr/>
          <p:nvPr/>
        </p:nvSpPr>
        <p:spPr>
          <a:xfrm>
            <a:off x="4242816" y="2157984"/>
            <a:ext cx="3630168" cy="356616"/>
          </a:xfrm>
          <a:prstGeom prst="roundRect">
            <a:avLst/>
          </a:prstGeom>
          <a:solidFill>
            <a:srgbClr val="E8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34255" y="2221991"/>
            <a:ext cx="3447288" cy="228600"/>
          </a:xfrm>
          <a:prstGeom prst="rect">
            <a:avLst/>
          </a:prstGeom>
          <a:noFill/>
        </p:spPr>
        <p:txBody>
          <a:bodyPr wrap="square" lIns="0" rIns="0" tIns="0" bIns="0">
            <a:spAutoFit/>
          </a:bodyPr>
          <a:lstStyle/>
          <a:p>
            <a:pPr algn="ctr">
              <a:spcAft>
                <a:spcPts val="500"/>
              </a:spcAft>
              <a:defRPr sz="1300" b="1">
                <a:solidFill>
                  <a:srgbClr val="6945A3"/>
                </a:solidFill>
                <a:latin typeface="Lato"/>
              </a:defRPr>
            </a:pPr>
            <a:r>
              <a:t>FILTERED BUCKET → CHOSEN CREs</a:t>
            </a:r>
          </a:p>
        </p:txBody>
      </p:sp>
      <p:sp>
        <p:nvSpPr>
          <p:cNvPr id="12" name="Rounded Rectangle 11"/>
          <p:cNvSpPr/>
          <p:nvPr/>
        </p:nvSpPr>
        <p:spPr>
          <a:xfrm>
            <a:off x="8211312" y="2157984"/>
            <a:ext cx="3383280" cy="356616"/>
          </a:xfrm>
          <a:prstGeom prst="roundRect">
            <a:avLst/>
          </a:prstGeom>
          <a:solidFill>
            <a:srgbClr val="E8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02752" y="2221991"/>
            <a:ext cx="3200400" cy="228600"/>
          </a:xfrm>
          <a:prstGeom prst="rect">
            <a:avLst/>
          </a:prstGeom>
          <a:noFill/>
        </p:spPr>
        <p:txBody>
          <a:bodyPr wrap="square" lIns="0" rIns="0" tIns="0" bIns="0">
            <a:spAutoFit/>
          </a:bodyPr>
          <a:lstStyle/>
          <a:p>
            <a:pPr algn="ctr">
              <a:spcAft>
                <a:spcPts val="500"/>
              </a:spcAft>
              <a:defRPr sz="1300" b="1">
                <a:solidFill>
                  <a:srgbClr val="6945A3"/>
                </a:solidFill>
                <a:latin typeface="Lato"/>
              </a:defRPr>
            </a:pPr>
            <a:r>
              <a:t>AUTO → ELIGIBLE POOL</a:t>
            </a:r>
          </a:p>
        </p:txBody>
      </p:sp>
      <p:sp>
        <p:nvSpPr>
          <p:cNvPr id="14" name="TextBox 13"/>
          <p:cNvSpPr txBox="1"/>
          <p:nvPr/>
        </p:nvSpPr>
        <p:spPr>
          <a:xfrm>
            <a:off x="658368" y="2971800"/>
            <a:ext cx="2834640" cy="905256"/>
          </a:xfrm>
          <a:prstGeom prst="rect">
            <a:avLst/>
          </a:prstGeom>
          <a:noFill/>
        </p:spPr>
        <p:txBody>
          <a:bodyPr wrap="square" lIns="0" rIns="0" tIns="0" bIns="0">
            <a:spAutoFit/>
          </a:bodyPr>
          <a:lstStyle/>
          <a:p>
            <a:pPr>
              <a:spcAft>
                <a:spcPts val="500"/>
              </a:spcAft>
              <a:defRPr sz="3000" b="1">
                <a:solidFill>
                  <a:srgbClr val="2D1B38"/>
                </a:solidFill>
                <a:latin typeface="Lato"/>
              </a:defRPr>
            </a:pPr>
            <a:r>
              <a:t>11 leads</a:t>
            </a:r>
          </a:p>
          <a:p>
            <a:pPr>
              <a:spcAft>
                <a:spcPts val="500"/>
              </a:spcAft>
              <a:defRPr sz="3000" b="1">
                <a:solidFill>
                  <a:srgbClr val="2D1B38"/>
                </a:solidFill>
                <a:latin typeface="Lato"/>
              </a:defRPr>
            </a:pPr>
            <a:r>
              <a:t>3 selected CREs</a:t>
            </a:r>
          </a:p>
        </p:txBody>
      </p:sp>
      <p:sp>
        <p:nvSpPr>
          <p:cNvPr id="15" name="TextBox 14"/>
          <p:cNvSpPr txBox="1"/>
          <p:nvPr/>
        </p:nvSpPr>
        <p:spPr>
          <a:xfrm>
            <a:off x="667512" y="4370832"/>
            <a:ext cx="2862072" cy="640080"/>
          </a:xfrm>
          <a:prstGeom prst="rect">
            <a:avLst/>
          </a:prstGeom>
          <a:noFill/>
        </p:spPr>
        <p:txBody>
          <a:bodyPr wrap="square" lIns="0" rIns="0" tIns="0" bIns="0">
            <a:spAutoFit/>
          </a:bodyPr>
          <a:lstStyle/>
          <a:p>
            <a:pPr>
              <a:spcAft>
                <a:spcPts val="500"/>
              </a:spcAft>
              <a:defRPr sz="1900" b="0">
                <a:solidFill>
                  <a:srgbClr val="776B80"/>
                </a:solidFill>
                <a:latin typeface="Lato"/>
              </a:defRPr>
            </a:pPr>
            <a:r>
              <a:t>Equal turns across</a:t>
            </a:r>
          </a:p>
          <a:p>
            <a:pPr>
              <a:spcAft>
                <a:spcPts val="500"/>
              </a:spcAft>
              <a:defRPr sz="1900" b="0">
                <a:solidFill>
                  <a:srgbClr val="776B80"/>
                </a:solidFill>
                <a:latin typeface="Lato"/>
              </a:defRPr>
            </a:pPr>
            <a:r>
              <a:t>the new batch</a:t>
            </a:r>
          </a:p>
        </p:txBody>
      </p:sp>
      <p:sp>
        <p:nvSpPr>
          <p:cNvPr id="16" name="TextBox 15"/>
          <p:cNvSpPr txBox="1"/>
          <p:nvPr/>
        </p:nvSpPr>
        <p:spPr>
          <a:xfrm>
            <a:off x="4023360" y="2962656"/>
            <a:ext cx="1280160" cy="365760"/>
          </a:xfrm>
          <a:prstGeom prst="rect">
            <a:avLst/>
          </a:prstGeom>
          <a:noFill/>
        </p:spPr>
        <p:txBody>
          <a:bodyPr wrap="square" lIns="0" rIns="0" tIns="0" bIns="0">
            <a:spAutoFit/>
          </a:bodyPr>
          <a:lstStyle/>
          <a:p>
            <a:pPr>
              <a:spcAft>
                <a:spcPts val="500"/>
              </a:spcAft>
              <a:defRPr sz="2100" b="1">
                <a:solidFill>
                  <a:srgbClr val="6945A3"/>
                </a:solidFill>
                <a:latin typeface="Lato"/>
              </a:defRPr>
            </a:pPr>
            <a:r>
              <a:t>CRE A</a:t>
            </a:r>
          </a:p>
        </p:txBody>
      </p:sp>
      <p:sp>
        <p:nvSpPr>
          <p:cNvPr id="17" name="Oval 16"/>
          <p:cNvSpPr/>
          <p:nvPr/>
        </p:nvSpPr>
        <p:spPr>
          <a:xfrm>
            <a:off x="5843016" y="3008376"/>
            <a:ext cx="292608" cy="292608"/>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09944" y="3008376"/>
            <a:ext cx="292608" cy="292608"/>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976872" y="3008376"/>
            <a:ext cx="292608" cy="292608"/>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543800" y="3008376"/>
            <a:ext cx="292608" cy="292608"/>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23376" y="2944368"/>
            <a:ext cx="685800" cy="365760"/>
          </a:xfrm>
          <a:prstGeom prst="rect">
            <a:avLst/>
          </a:prstGeom>
          <a:noFill/>
        </p:spPr>
        <p:txBody>
          <a:bodyPr wrap="square" lIns="0" rIns="0" tIns="0" bIns="0">
            <a:spAutoFit/>
          </a:bodyPr>
          <a:lstStyle/>
          <a:p>
            <a:pPr>
              <a:spcAft>
                <a:spcPts val="500"/>
              </a:spcAft>
              <a:defRPr sz="2300" b="1">
                <a:solidFill>
                  <a:srgbClr val="6945A3"/>
                </a:solidFill>
                <a:latin typeface="Lato"/>
              </a:defRPr>
            </a:pPr>
            <a:r>
              <a:t>4</a:t>
            </a:r>
          </a:p>
        </p:txBody>
      </p:sp>
      <p:sp>
        <p:nvSpPr>
          <p:cNvPr id="22" name="TextBox 21"/>
          <p:cNvSpPr txBox="1"/>
          <p:nvPr/>
        </p:nvSpPr>
        <p:spPr>
          <a:xfrm>
            <a:off x="4023360" y="3730752"/>
            <a:ext cx="1280160" cy="365760"/>
          </a:xfrm>
          <a:prstGeom prst="rect">
            <a:avLst/>
          </a:prstGeom>
          <a:noFill/>
        </p:spPr>
        <p:txBody>
          <a:bodyPr wrap="square" lIns="0" rIns="0" tIns="0" bIns="0">
            <a:spAutoFit/>
          </a:bodyPr>
          <a:lstStyle/>
          <a:p>
            <a:pPr>
              <a:spcAft>
                <a:spcPts val="500"/>
              </a:spcAft>
              <a:defRPr sz="2100" b="1">
                <a:solidFill>
                  <a:srgbClr val="6945A3"/>
                </a:solidFill>
                <a:latin typeface="Lato"/>
              </a:defRPr>
            </a:pPr>
            <a:r>
              <a:t>CRE B</a:t>
            </a:r>
          </a:p>
        </p:txBody>
      </p:sp>
      <p:sp>
        <p:nvSpPr>
          <p:cNvPr id="23" name="Oval 22"/>
          <p:cNvSpPr/>
          <p:nvPr/>
        </p:nvSpPr>
        <p:spPr>
          <a:xfrm>
            <a:off x="5843016" y="3776472"/>
            <a:ext cx="292608" cy="292608"/>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09944" y="3776472"/>
            <a:ext cx="292608" cy="292608"/>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976872" y="3776472"/>
            <a:ext cx="292608" cy="292608"/>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543800" y="3776472"/>
            <a:ext cx="292608" cy="292608"/>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23376" y="3712463"/>
            <a:ext cx="685800" cy="365760"/>
          </a:xfrm>
          <a:prstGeom prst="rect">
            <a:avLst/>
          </a:prstGeom>
          <a:noFill/>
        </p:spPr>
        <p:txBody>
          <a:bodyPr wrap="square" lIns="0" rIns="0" tIns="0" bIns="0">
            <a:spAutoFit/>
          </a:bodyPr>
          <a:lstStyle/>
          <a:p>
            <a:pPr>
              <a:spcAft>
                <a:spcPts val="500"/>
              </a:spcAft>
              <a:defRPr sz="2300" b="1">
                <a:solidFill>
                  <a:srgbClr val="6945A3"/>
                </a:solidFill>
                <a:latin typeface="Lato"/>
              </a:defRPr>
            </a:pPr>
            <a:r>
              <a:t>4</a:t>
            </a:r>
          </a:p>
        </p:txBody>
      </p:sp>
      <p:sp>
        <p:nvSpPr>
          <p:cNvPr id="28" name="TextBox 27"/>
          <p:cNvSpPr txBox="1"/>
          <p:nvPr/>
        </p:nvSpPr>
        <p:spPr>
          <a:xfrm>
            <a:off x="4023360" y="4498848"/>
            <a:ext cx="1280160" cy="365760"/>
          </a:xfrm>
          <a:prstGeom prst="rect">
            <a:avLst/>
          </a:prstGeom>
          <a:noFill/>
        </p:spPr>
        <p:txBody>
          <a:bodyPr wrap="square" lIns="0" rIns="0" tIns="0" bIns="0">
            <a:spAutoFit/>
          </a:bodyPr>
          <a:lstStyle/>
          <a:p>
            <a:pPr>
              <a:spcAft>
                <a:spcPts val="500"/>
              </a:spcAft>
              <a:defRPr sz="2100" b="1">
                <a:solidFill>
                  <a:srgbClr val="B65F20"/>
                </a:solidFill>
                <a:latin typeface="Lato"/>
              </a:defRPr>
            </a:pPr>
            <a:r>
              <a:t>CRE C</a:t>
            </a:r>
          </a:p>
        </p:txBody>
      </p:sp>
      <p:sp>
        <p:nvSpPr>
          <p:cNvPr id="29" name="Oval 28"/>
          <p:cNvSpPr/>
          <p:nvPr/>
        </p:nvSpPr>
        <p:spPr>
          <a:xfrm>
            <a:off x="5843016" y="4544568"/>
            <a:ext cx="292608" cy="292608"/>
          </a:xfrm>
          <a:prstGeom prst="ellipse">
            <a:avLst/>
          </a:prstGeom>
          <a:solidFill>
            <a:srgbClr val="B65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409944" y="4544568"/>
            <a:ext cx="292608" cy="292608"/>
          </a:xfrm>
          <a:prstGeom prst="ellipse">
            <a:avLst/>
          </a:prstGeom>
          <a:solidFill>
            <a:srgbClr val="B65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976872" y="4544568"/>
            <a:ext cx="292608" cy="292608"/>
          </a:xfrm>
          <a:prstGeom prst="ellipse">
            <a:avLst/>
          </a:prstGeom>
          <a:solidFill>
            <a:srgbClr val="B65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723376" y="4480559"/>
            <a:ext cx="685800" cy="365760"/>
          </a:xfrm>
          <a:prstGeom prst="rect">
            <a:avLst/>
          </a:prstGeom>
          <a:noFill/>
        </p:spPr>
        <p:txBody>
          <a:bodyPr wrap="square" lIns="0" rIns="0" tIns="0" bIns="0">
            <a:spAutoFit/>
          </a:bodyPr>
          <a:lstStyle/>
          <a:p>
            <a:pPr>
              <a:spcAft>
                <a:spcPts val="500"/>
              </a:spcAft>
              <a:defRPr sz="2300" b="1">
                <a:solidFill>
                  <a:srgbClr val="B65F20"/>
                </a:solidFill>
                <a:latin typeface="Lato"/>
              </a:defRPr>
            </a:pPr>
            <a:r>
              <a:t>3</a:t>
            </a:r>
          </a:p>
        </p:txBody>
      </p:sp>
      <p:sp>
        <p:nvSpPr>
          <p:cNvPr id="33" name="TextBox 32"/>
          <p:cNvSpPr txBox="1"/>
          <p:nvPr/>
        </p:nvSpPr>
        <p:spPr>
          <a:xfrm>
            <a:off x="4023360" y="5477256"/>
            <a:ext cx="6858000" cy="210312"/>
          </a:xfrm>
          <a:prstGeom prst="rect">
            <a:avLst/>
          </a:prstGeom>
          <a:noFill/>
        </p:spPr>
        <p:txBody>
          <a:bodyPr wrap="square" lIns="0" rIns="0" tIns="0" bIns="0">
            <a:spAutoFit/>
          </a:bodyPr>
          <a:lstStyle/>
          <a:p>
            <a:pPr>
              <a:spcAft>
                <a:spcPts val="500"/>
              </a:spcAft>
              <a:defRPr sz="1000" b="1">
                <a:solidFill>
                  <a:srgbClr val="776B80"/>
                </a:solidFill>
                <a:latin typeface="Lato"/>
              </a:defRPr>
            </a:pPr>
            <a:r>
              <a:t>ILLUSTRATIVE ALLOCATION · NOT COMPANY PERFORMANCE</a:t>
            </a:r>
          </a:p>
        </p:txBody>
      </p:sp>
      <p:cxnSp>
        <p:nvCxnSpPr>
          <p:cNvPr id="34" name="Connector 33"/>
          <p:cNvCxnSpPr/>
          <p:nvPr/>
        </p:nvCxnSpPr>
        <p:spPr>
          <a:xfrm>
            <a:off x="576072" y="5888736"/>
            <a:ext cx="329184" cy="0"/>
          </a:xfrm>
          <a:prstGeom prst="line">
            <a:avLst/>
          </a:prstGeom>
          <a:ln w="38100">
            <a:solidFill>
              <a:srgbClr val="B65F2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60704" y="5724144"/>
            <a:ext cx="10332720" cy="448056"/>
          </a:xfrm>
          <a:prstGeom prst="rect">
            <a:avLst/>
          </a:prstGeom>
          <a:noFill/>
        </p:spPr>
        <p:txBody>
          <a:bodyPr wrap="square" lIns="0" rIns="0" tIns="0" bIns="0">
            <a:spAutoFit/>
          </a:bodyPr>
          <a:lstStyle/>
          <a:p>
            <a:pPr>
              <a:spcAft>
                <a:spcPts val="500"/>
              </a:spcAft>
              <a:defRPr sz="1500" b="1">
                <a:solidFill>
                  <a:srgbClr val="B65F20"/>
                </a:solidFill>
                <a:latin typeface="Lato"/>
              </a:defRPr>
            </a:pPr>
            <a:r>
              <a:t>Use filtered buckets for a scoped demo. Auto assign ignores the active screen filters.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ALLOCATION</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Branch determines sales ownership and visibility</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A responsibility map, not an extra approval chain.</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10 / 30</a:t>
            </a:r>
          </a:p>
        </p:txBody>
      </p:sp>
      <p:sp>
        <p:nvSpPr>
          <p:cNvPr id="8" name="Rounded Rectangle 7"/>
          <p:cNvSpPr/>
          <p:nvPr/>
        </p:nvSpPr>
        <p:spPr>
          <a:xfrm>
            <a:off x="667512" y="2340864"/>
            <a:ext cx="2770632" cy="822960"/>
          </a:xfrm>
          <a:prstGeom prst="roundRect">
            <a:avLst/>
          </a:prstGeom>
          <a:solidFill>
            <a:srgbClr val="FFFFFF"/>
          </a:solidFill>
          <a:ln w="15240">
            <a:solidFill>
              <a:srgbClr val="DD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59" y="2523744"/>
            <a:ext cx="109728" cy="109728"/>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2450592"/>
            <a:ext cx="2267711" cy="301752"/>
          </a:xfrm>
          <a:prstGeom prst="rect">
            <a:avLst/>
          </a:prstGeom>
          <a:noFill/>
        </p:spPr>
        <p:txBody>
          <a:bodyPr wrap="square" lIns="0" rIns="0" tIns="0" bIns="0">
            <a:spAutoFit/>
          </a:bodyPr>
          <a:lstStyle/>
          <a:p>
            <a:pPr>
              <a:spcAft>
                <a:spcPts val="500"/>
              </a:spcAft>
              <a:defRPr sz="1800" b="1">
                <a:solidFill>
                  <a:srgbClr val="6945A3"/>
                </a:solidFill>
                <a:latin typeface="Lato"/>
              </a:defRPr>
            </a:pPr>
            <a:r>
              <a:t>Admin pool</a:t>
            </a:r>
          </a:p>
        </p:txBody>
      </p:sp>
      <p:sp>
        <p:nvSpPr>
          <p:cNvPr id="11" name="TextBox 10"/>
          <p:cNvSpPr txBox="1"/>
          <p:nvPr/>
        </p:nvSpPr>
        <p:spPr>
          <a:xfrm>
            <a:off x="822960" y="2825496"/>
            <a:ext cx="2459736" cy="338328"/>
          </a:xfrm>
          <a:prstGeom prst="rect">
            <a:avLst/>
          </a:prstGeom>
          <a:noFill/>
        </p:spPr>
        <p:txBody>
          <a:bodyPr wrap="square" lIns="0" rIns="0" tIns="0" bIns="0">
            <a:spAutoFit/>
          </a:bodyPr>
          <a:lstStyle/>
          <a:p>
            <a:pPr algn="ctr">
              <a:spcAft>
                <a:spcPts val="500"/>
              </a:spcAft>
              <a:defRPr sz="1400" b="0">
                <a:solidFill>
                  <a:srgbClr val="776B80"/>
                </a:solidFill>
                <a:latin typeface="Lato"/>
              </a:defRPr>
            </a:pPr>
            <a:r>
              <a:t>Allocates CRE</a:t>
            </a:r>
          </a:p>
        </p:txBody>
      </p:sp>
      <p:sp>
        <p:nvSpPr>
          <p:cNvPr id="12" name="Rounded Rectangle 11"/>
          <p:cNvSpPr/>
          <p:nvPr/>
        </p:nvSpPr>
        <p:spPr>
          <a:xfrm>
            <a:off x="3703320" y="2340864"/>
            <a:ext cx="2788920" cy="822960"/>
          </a:xfrm>
          <a:prstGeom prst="roundRect">
            <a:avLst/>
          </a:prstGeom>
          <a:solidFill>
            <a:srgbClr val="FFFFFF"/>
          </a:solidFill>
          <a:ln w="15240">
            <a:solidFill>
              <a:srgbClr val="DD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858768" y="2523744"/>
            <a:ext cx="109728" cy="109728"/>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69080" y="2450592"/>
            <a:ext cx="2286000" cy="301752"/>
          </a:xfrm>
          <a:prstGeom prst="rect">
            <a:avLst/>
          </a:prstGeom>
          <a:noFill/>
        </p:spPr>
        <p:txBody>
          <a:bodyPr wrap="square" lIns="0" rIns="0" tIns="0" bIns="0">
            <a:spAutoFit/>
          </a:bodyPr>
          <a:lstStyle/>
          <a:p>
            <a:pPr>
              <a:spcAft>
                <a:spcPts val="500"/>
              </a:spcAft>
              <a:defRPr sz="1800" b="1">
                <a:solidFill>
                  <a:srgbClr val="6945A3"/>
                </a:solidFill>
                <a:latin typeface="Lato"/>
              </a:defRPr>
            </a:pPr>
            <a:r>
              <a:t>CRE team</a:t>
            </a:r>
          </a:p>
        </p:txBody>
      </p:sp>
      <p:sp>
        <p:nvSpPr>
          <p:cNvPr id="15" name="TextBox 14"/>
          <p:cNvSpPr txBox="1"/>
          <p:nvPr/>
        </p:nvSpPr>
        <p:spPr>
          <a:xfrm>
            <a:off x="3858768" y="2825496"/>
            <a:ext cx="2478024" cy="338328"/>
          </a:xfrm>
          <a:prstGeom prst="rect">
            <a:avLst/>
          </a:prstGeom>
          <a:noFill/>
        </p:spPr>
        <p:txBody>
          <a:bodyPr wrap="square" lIns="0" rIns="0" tIns="0" bIns="0">
            <a:spAutoFit/>
          </a:bodyPr>
          <a:lstStyle/>
          <a:p>
            <a:pPr algn="ctr">
              <a:spcAft>
                <a:spcPts val="500"/>
              </a:spcAft>
              <a:defRPr sz="1400" b="0">
                <a:solidFill>
                  <a:srgbClr val="776B80"/>
                </a:solidFill>
                <a:latin typeface="Lato"/>
              </a:defRPr>
            </a:pPr>
            <a:r>
              <a:t>Qualifies + selects branch</a:t>
            </a:r>
          </a:p>
        </p:txBody>
      </p:sp>
      <p:cxnSp>
        <p:nvCxnSpPr>
          <p:cNvPr id="16" name="Connector 15"/>
          <p:cNvCxnSpPr/>
          <p:nvPr/>
        </p:nvCxnSpPr>
        <p:spPr>
          <a:xfrm>
            <a:off x="3438144" y="2752344"/>
            <a:ext cx="256032"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492240" y="2752344"/>
            <a:ext cx="548640"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040880" y="2752344"/>
            <a:ext cx="0" cy="196596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397496" y="3108960"/>
            <a:ext cx="4069080" cy="822960"/>
          </a:xfrm>
          <a:prstGeom prst="roundRect">
            <a:avLst/>
          </a:prstGeom>
          <a:solidFill>
            <a:srgbClr val="FFFFFF"/>
          </a:solidFill>
          <a:ln w="15240">
            <a:solidFill>
              <a:srgbClr val="DD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552944" y="3291840"/>
            <a:ext cx="109728" cy="109728"/>
          </a:xfrm>
          <a:prstGeom prst="ellipse">
            <a:avLst/>
          </a:prstGeom>
          <a:solidFill>
            <a:srgbClr val="2477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63256" y="3218688"/>
            <a:ext cx="3566160" cy="301752"/>
          </a:xfrm>
          <a:prstGeom prst="rect">
            <a:avLst/>
          </a:prstGeom>
          <a:noFill/>
        </p:spPr>
        <p:txBody>
          <a:bodyPr wrap="square" lIns="0" rIns="0" tIns="0" bIns="0">
            <a:spAutoFit/>
          </a:bodyPr>
          <a:lstStyle/>
          <a:p>
            <a:pPr>
              <a:spcAft>
                <a:spcPts val="500"/>
              </a:spcAft>
              <a:defRPr sz="1800" b="1">
                <a:solidFill>
                  <a:srgbClr val="24776D"/>
                </a:solidFill>
                <a:latin typeface="Lato"/>
              </a:defRPr>
            </a:pPr>
            <a:r>
              <a:t>PS / Branch A</a:t>
            </a:r>
          </a:p>
        </p:txBody>
      </p:sp>
      <p:sp>
        <p:nvSpPr>
          <p:cNvPr id="22" name="TextBox 21"/>
          <p:cNvSpPr txBox="1"/>
          <p:nvPr/>
        </p:nvSpPr>
        <p:spPr>
          <a:xfrm>
            <a:off x="7552944" y="3593591"/>
            <a:ext cx="3758184" cy="338328"/>
          </a:xfrm>
          <a:prstGeom prst="rect">
            <a:avLst/>
          </a:prstGeom>
          <a:noFill/>
        </p:spPr>
        <p:txBody>
          <a:bodyPr wrap="square" lIns="0" rIns="0" tIns="0" bIns="0">
            <a:spAutoFit/>
          </a:bodyPr>
          <a:lstStyle/>
          <a:p>
            <a:pPr algn="ctr">
              <a:spcAft>
                <a:spcPts val="500"/>
              </a:spcAft>
              <a:defRPr sz="1400" b="0">
                <a:solidFill>
                  <a:srgbClr val="776B80"/>
                </a:solidFill>
                <a:latin typeface="Lato"/>
              </a:defRPr>
            </a:pPr>
            <a:r>
              <a:t>PS location matches selected branch</a:t>
            </a:r>
          </a:p>
        </p:txBody>
      </p:sp>
      <p:cxnSp>
        <p:nvCxnSpPr>
          <p:cNvPr id="23" name="Connector 22"/>
          <p:cNvCxnSpPr/>
          <p:nvPr/>
        </p:nvCxnSpPr>
        <p:spPr>
          <a:xfrm>
            <a:off x="7040880" y="3520440"/>
            <a:ext cx="356616" cy="0"/>
          </a:xfrm>
          <a:prstGeom prst="line">
            <a:avLst/>
          </a:prstGeom>
          <a:ln w="25400">
            <a:solidFill>
              <a:srgbClr val="24776D"/>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397496" y="4315968"/>
            <a:ext cx="4069080" cy="822960"/>
          </a:xfrm>
          <a:prstGeom prst="roundRect">
            <a:avLst/>
          </a:prstGeom>
          <a:solidFill>
            <a:srgbClr val="FFFFFF"/>
          </a:solidFill>
          <a:ln w="15240">
            <a:solidFill>
              <a:srgbClr val="DD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52944" y="4498848"/>
            <a:ext cx="109728" cy="109728"/>
          </a:xfrm>
          <a:prstGeom prst="ellipse">
            <a:avLst/>
          </a:prstGeom>
          <a:solidFill>
            <a:srgbClr val="2477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63256" y="4425696"/>
            <a:ext cx="3566160" cy="301752"/>
          </a:xfrm>
          <a:prstGeom prst="rect">
            <a:avLst/>
          </a:prstGeom>
          <a:noFill/>
        </p:spPr>
        <p:txBody>
          <a:bodyPr wrap="square" lIns="0" rIns="0" tIns="0" bIns="0">
            <a:spAutoFit/>
          </a:bodyPr>
          <a:lstStyle/>
          <a:p>
            <a:pPr>
              <a:spcAft>
                <a:spcPts val="500"/>
              </a:spcAft>
              <a:defRPr sz="1800" b="1">
                <a:solidFill>
                  <a:srgbClr val="24776D"/>
                </a:solidFill>
                <a:latin typeface="Lato"/>
              </a:defRPr>
            </a:pPr>
            <a:r>
              <a:t>PS / Branch B</a:t>
            </a:r>
          </a:p>
        </p:txBody>
      </p:sp>
      <p:sp>
        <p:nvSpPr>
          <p:cNvPr id="27" name="TextBox 26"/>
          <p:cNvSpPr txBox="1"/>
          <p:nvPr/>
        </p:nvSpPr>
        <p:spPr>
          <a:xfrm>
            <a:off x="7552944" y="4800600"/>
            <a:ext cx="3758184" cy="338328"/>
          </a:xfrm>
          <a:prstGeom prst="rect">
            <a:avLst/>
          </a:prstGeom>
          <a:noFill/>
        </p:spPr>
        <p:txBody>
          <a:bodyPr wrap="square" lIns="0" rIns="0" tIns="0" bIns="0">
            <a:spAutoFit/>
          </a:bodyPr>
          <a:lstStyle/>
          <a:p>
            <a:pPr algn="ctr">
              <a:spcAft>
                <a:spcPts val="500"/>
              </a:spcAft>
              <a:defRPr sz="1400" b="0">
                <a:solidFill>
                  <a:srgbClr val="776B80"/>
                </a:solidFill>
                <a:latin typeface="Lato"/>
              </a:defRPr>
            </a:pPr>
            <a:r>
              <a:t>PS location matches selected branch</a:t>
            </a:r>
          </a:p>
        </p:txBody>
      </p:sp>
      <p:cxnSp>
        <p:nvCxnSpPr>
          <p:cNvPr id="28" name="Connector 27"/>
          <p:cNvCxnSpPr/>
          <p:nvPr/>
        </p:nvCxnSpPr>
        <p:spPr>
          <a:xfrm>
            <a:off x="7040880" y="4727448"/>
            <a:ext cx="356616" cy="0"/>
          </a:xfrm>
          <a:prstGeom prst="line">
            <a:avLst/>
          </a:prstGeom>
          <a:ln w="25400">
            <a:solidFill>
              <a:srgbClr val="24776D"/>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68096" y="3328416"/>
            <a:ext cx="4956048" cy="356616"/>
          </a:xfrm>
          <a:prstGeom prst="roundRect">
            <a:avLst/>
          </a:prstGeom>
          <a:solidFill>
            <a:srgbClr val="E8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9536" y="3392424"/>
            <a:ext cx="4773168" cy="228600"/>
          </a:xfrm>
          <a:prstGeom prst="rect">
            <a:avLst/>
          </a:prstGeom>
          <a:noFill/>
        </p:spPr>
        <p:txBody>
          <a:bodyPr wrap="square" lIns="0" rIns="0" tIns="0" bIns="0">
            <a:spAutoFit/>
          </a:bodyPr>
          <a:lstStyle/>
          <a:p>
            <a:pPr algn="ctr">
              <a:spcAft>
                <a:spcPts val="500"/>
              </a:spcAft>
              <a:defRPr sz="1300" b="1">
                <a:solidFill>
                  <a:srgbClr val="6945A3"/>
                </a:solidFill>
                <a:latin typeface="Lato"/>
              </a:defRPr>
            </a:pPr>
            <a:r>
              <a:t>SM / BRANCH A · READ-ONLY OVERSIGHT</a:t>
            </a:r>
          </a:p>
        </p:txBody>
      </p:sp>
      <p:cxnSp>
        <p:nvCxnSpPr>
          <p:cNvPr id="31" name="Connector 30"/>
          <p:cNvCxnSpPr/>
          <p:nvPr/>
        </p:nvCxnSpPr>
        <p:spPr>
          <a:xfrm>
            <a:off x="5733288" y="3511296"/>
            <a:ext cx="1014984" cy="0"/>
          </a:xfrm>
          <a:prstGeom prst="line">
            <a:avLst/>
          </a:prstGeom>
          <a:ln w="25400">
            <a:solidFill>
              <a:srgbClr val="776B80"/>
            </a:solidFill>
            <a:prstDash val="dash"/>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68096" y="4535424"/>
            <a:ext cx="4956048" cy="356616"/>
          </a:xfrm>
          <a:prstGeom prst="roundRect">
            <a:avLst/>
          </a:prstGeom>
          <a:solidFill>
            <a:srgbClr val="E8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 y="4599432"/>
            <a:ext cx="4773168" cy="228600"/>
          </a:xfrm>
          <a:prstGeom prst="rect">
            <a:avLst/>
          </a:prstGeom>
          <a:noFill/>
        </p:spPr>
        <p:txBody>
          <a:bodyPr wrap="square" lIns="0" rIns="0" tIns="0" bIns="0">
            <a:spAutoFit/>
          </a:bodyPr>
          <a:lstStyle/>
          <a:p>
            <a:pPr algn="ctr">
              <a:spcAft>
                <a:spcPts val="500"/>
              </a:spcAft>
              <a:defRPr sz="1300" b="1">
                <a:solidFill>
                  <a:srgbClr val="6945A3"/>
                </a:solidFill>
                <a:latin typeface="Lato"/>
              </a:defRPr>
            </a:pPr>
            <a:r>
              <a:t>SM / BRANCH B · READ-ONLY OVERSIGHT</a:t>
            </a:r>
          </a:p>
        </p:txBody>
      </p:sp>
      <p:cxnSp>
        <p:nvCxnSpPr>
          <p:cNvPr id="34" name="Connector 33"/>
          <p:cNvCxnSpPr/>
          <p:nvPr/>
        </p:nvCxnSpPr>
        <p:spPr>
          <a:xfrm>
            <a:off x="5733288" y="4718304"/>
            <a:ext cx="1014984" cy="0"/>
          </a:xfrm>
          <a:prstGeom prst="line">
            <a:avLst/>
          </a:prstGeom>
          <a:ln w="25400">
            <a:solidFill>
              <a:srgbClr val="776B80"/>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76072" y="5888736"/>
            <a:ext cx="329184" cy="0"/>
          </a:xfrm>
          <a:prstGeom prst="line">
            <a:avLst/>
          </a:prstGeom>
          <a:ln w="38100">
            <a:solidFill>
              <a:srgbClr val="6945A3"/>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060704" y="5724144"/>
            <a:ext cx="10332720" cy="448056"/>
          </a:xfrm>
          <a:prstGeom prst="rect">
            <a:avLst/>
          </a:prstGeom>
          <a:noFill/>
        </p:spPr>
        <p:txBody>
          <a:bodyPr wrap="square" lIns="0" rIns="0" tIns="0" bIns="0">
            <a:spAutoFit/>
          </a:bodyPr>
          <a:lstStyle/>
          <a:p>
            <a:pPr>
              <a:spcAft>
                <a:spcPts val="500"/>
              </a:spcAft>
              <a:defRPr sz="1500" b="1">
                <a:solidFill>
                  <a:srgbClr val="6945A3"/>
                </a:solidFill>
                <a:latin typeface="Lato"/>
              </a:defRPr>
            </a:pPr>
            <a:r>
              <a:t>CRE remains attached after handoff. SM sees records matching their configured branch.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CRE WORK</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CRE chooses the next path</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Record what the customer said, then complete the matching fields.</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11 / 30</a:t>
            </a:r>
          </a:p>
        </p:txBody>
      </p:sp>
      <p:sp>
        <p:nvSpPr>
          <p:cNvPr id="8" name="Rounded Rectangle 7"/>
          <p:cNvSpPr/>
          <p:nvPr/>
        </p:nvSpPr>
        <p:spPr>
          <a:xfrm>
            <a:off x="4059936" y="2194560"/>
            <a:ext cx="4041648" cy="822960"/>
          </a:xfrm>
          <a:prstGeom prst="roundRect">
            <a:avLst/>
          </a:prstGeom>
          <a:solidFill>
            <a:srgbClr val="FFFFFF"/>
          </a:solidFill>
          <a:ln w="15240">
            <a:solidFill>
              <a:srgbClr val="DD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215384" y="2377440"/>
            <a:ext cx="109728" cy="109728"/>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25696" y="2304288"/>
            <a:ext cx="3538728" cy="301752"/>
          </a:xfrm>
          <a:prstGeom prst="rect">
            <a:avLst/>
          </a:prstGeom>
          <a:noFill/>
        </p:spPr>
        <p:txBody>
          <a:bodyPr wrap="square" lIns="0" rIns="0" tIns="0" bIns="0">
            <a:spAutoFit/>
          </a:bodyPr>
          <a:lstStyle/>
          <a:p>
            <a:pPr>
              <a:spcAft>
                <a:spcPts val="500"/>
              </a:spcAft>
              <a:defRPr sz="1800" b="1">
                <a:solidFill>
                  <a:srgbClr val="6945A3"/>
                </a:solidFill>
                <a:latin typeface="Lato"/>
              </a:defRPr>
            </a:pPr>
            <a:r>
              <a:t>Customer conversation</a:t>
            </a:r>
          </a:p>
        </p:txBody>
      </p:sp>
      <p:sp>
        <p:nvSpPr>
          <p:cNvPr id="11" name="TextBox 10"/>
          <p:cNvSpPr txBox="1"/>
          <p:nvPr/>
        </p:nvSpPr>
        <p:spPr>
          <a:xfrm>
            <a:off x="4215384" y="2679191"/>
            <a:ext cx="3730752" cy="338328"/>
          </a:xfrm>
          <a:prstGeom prst="rect">
            <a:avLst/>
          </a:prstGeom>
          <a:noFill/>
        </p:spPr>
        <p:txBody>
          <a:bodyPr wrap="square" lIns="0" rIns="0" tIns="0" bIns="0">
            <a:spAutoFit/>
          </a:bodyPr>
          <a:lstStyle/>
          <a:p>
            <a:pPr algn="ctr">
              <a:spcAft>
                <a:spcPts val="500"/>
              </a:spcAft>
              <a:defRPr sz="1400" b="0">
                <a:solidFill>
                  <a:srgbClr val="776B80"/>
                </a:solidFill>
                <a:latin typeface="Lato"/>
              </a:defRPr>
            </a:pPr>
            <a:r>
              <a:t>Review the enquiry and history</a:t>
            </a:r>
          </a:p>
        </p:txBody>
      </p:sp>
      <p:cxnSp>
        <p:nvCxnSpPr>
          <p:cNvPr id="12" name="Connector 11"/>
          <p:cNvCxnSpPr/>
          <p:nvPr/>
        </p:nvCxnSpPr>
        <p:spPr>
          <a:xfrm>
            <a:off x="6089904" y="3017520"/>
            <a:ext cx="0" cy="292608"/>
          </a:xfrm>
          <a:prstGeom prst="line">
            <a:avLst/>
          </a:prstGeom>
          <a:ln w="381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386584" y="3310128"/>
            <a:ext cx="7379208" cy="0"/>
          </a:xfrm>
          <a:prstGeom prst="line">
            <a:avLst/>
          </a:prstGeom>
          <a:ln w="381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340864" y="3310128"/>
            <a:ext cx="0" cy="329184"/>
          </a:xfrm>
          <a:prstGeom prst="line">
            <a:avLst/>
          </a:prstGeom>
          <a:ln w="38100">
            <a:solidFill>
              <a:srgbClr val="24776D"/>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58368" y="3639312"/>
            <a:ext cx="3374136" cy="1746504"/>
          </a:xfrm>
          <a:prstGeom prst="roundRect">
            <a:avLst/>
          </a:prstGeom>
          <a:solidFill>
            <a:srgbClr val="DDE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56792" y="3856024"/>
            <a:ext cx="362102" cy="362102"/>
          </a:xfrm>
          <a:prstGeom prst="ellipse">
            <a:avLst/>
          </a:prstGeom>
          <a:noFill/>
          <a:ln w="15240">
            <a:solidFill>
              <a:srgbClr val="247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926744" y="4032961"/>
            <a:ext cx="78181" cy="78181"/>
          </a:xfrm>
          <a:prstGeom prst="line">
            <a:avLst/>
          </a:prstGeom>
          <a:ln w="25400">
            <a:solidFill>
              <a:srgbClr val="24776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004925" y="3950665"/>
            <a:ext cx="144018" cy="160477"/>
          </a:xfrm>
          <a:prstGeom prst="line">
            <a:avLst/>
          </a:prstGeom>
          <a:ln w="25400">
            <a:solidFill>
              <a:srgbClr val="24776D"/>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399032" y="3886200"/>
            <a:ext cx="2432304" cy="329184"/>
          </a:xfrm>
          <a:prstGeom prst="rect">
            <a:avLst/>
          </a:prstGeom>
          <a:noFill/>
        </p:spPr>
        <p:txBody>
          <a:bodyPr wrap="square" lIns="0" rIns="0" tIns="0" bIns="0">
            <a:spAutoFit/>
          </a:bodyPr>
          <a:lstStyle/>
          <a:p>
            <a:pPr>
              <a:spcAft>
                <a:spcPts val="500"/>
              </a:spcAft>
              <a:defRPr sz="2300" b="1">
                <a:solidFill>
                  <a:srgbClr val="24776D"/>
                </a:solidFill>
                <a:latin typeface="Lato"/>
              </a:defRPr>
            </a:pPr>
            <a:r>
              <a:t>QUALIFIED</a:t>
            </a:r>
          </a:p>
        </p:txBody>
      </p:sp>
      <p:sp>
        <p:nvSpPr>
          <p:cNvPr id="20" name="TextBox 19"/>
          <p:cNvSpPr txBox="1"/>
          <p:nvPr/>
        </p:nvSpPr>
        <p:spPr>
          <a:xfrm>
            <a:off x="859536" y="4581144"/>
            <a:ext cx="2971800" cy="640080"/>
          </a:xfrm>
          <a:prstGeom prst="rect">
            <a:avLst/>
          </a:prstGeom>
          <a:noFill/>
        </p:spPr>
        <p:txBody>
          <a:bodyPr wrap="square" lIns="0" rIns="0" tIns="0" bIns="0">
            <a:spAutoFit/>
          </a:bodyPr>
          <a:lstStyle/>
          <a:p>
            <a:pPr>
              <a:spcAft>
                <a:spcPts val="500"/>
              </a:spcAft>
              <a:defRPr sz="1700" b="0">
                <a:solidFill>
                  <a:srgbClr val="24776D"/>
                </a:solidFill>
                <a:latin typeface="Lato"/>
              </a:defRPr>
            </a:pPr>
            <a:r>
              <a:t>Model · color · plan · finance</a:t>
            </a:r>
          </a:p>
          <a:p>
            <a:pPr>
              <a:spcAft>
                <a:spcPts val="500"/>
              </a:spcAft>
              <a:defRPr sz="1700" b="0">
                <a:solidFill>
                  <a:srgbClr val="24776D"/>
                </a:solidFill>
                <a:latin typeface="Lato"/>
              </a:defRPr>
            </a:pPr>
            <a:r>
              <a:t>Branch · PS/SO · notes</a:t>
            </a:r>
          </a:p>
        </p:txBody>
      </p:sp>
      <p:cxnSp>
        <p:nvCxnSpPr>
          <p:cNvPr id="21" name="Connector 20"/>
          <p:cNvCxnSpPr/>
          <p:nvPr/>
        </p:nvCxnSpPr>
        <p:spPr>
          <a:xfrm>
            <a:off x="6044183" y="3310128"/>
            <a:ext cx="0" cy="329184"/>
          </a:xfrm>
          <a:prstGeom prst="line">
            <a:avLst/>
          </a:prstGeom>
          <a:ln w="38100">
            <a:solidFill>
              <a:srgbClr val="B65F20"/>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361688" y="3639312"/>
            <a:ext cx="3374136" cy="1746504"/>
          </a:xfrm>
          <a:prstGeom prst="roundRect">
            <a:avLst/>
          </a:prstGeom>
          <a:solidFill>
            <a:srgbClr val="F6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560112" y="3856024"/>
            <a:ext cx="362102" cy="362102"/>
          </a:xfrm>
          <a:prstGeom prst="ellipse">
            <a:avLst/>
          </a:prstGeom>
          <a:noFill/>
          <a:ln w="15240">
            <a:solidFill>
              <a:srgbClr val="B65F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4741164" y="3913632"/>
            <a:ext cx="0" cy="123444"/>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741164" y="4037076"/>
            <a:ext cx="106984" cy="61722"/>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102352" y="3886200"/>
            <a:ext cx="2432304" cy="329184"/>
          </a:xfrm>
          <a:prstGeom prst="rect">
            <a:avLst/>
          </a:prstGeom>
          <a:noFill/>
        </p:spPr>
        <p:txBody>
          <a:bodyPr wrap="square" lIns="0" rIns="0" tIns="0" bIns="0">
            <a:spAutoFit/>
          </a:bodyPr>
          <a:lstStyle/>
          <a:p>
            <a:pPr>
              <a:spcAft>
                <a:spcPts val="500"/>
              </a:spcAft>
              <a:defRPr sz="2300" b="1">
                <a:solidFill>
                  <a:srgbClr val="B65F20"/>
                </a:solidFill>
                <a:latin typeface="Lato"/>
              </a:defRPr>
            </a:pPr>
            <a:r>
              <a:t>PENDING</a:t>
            </a:r>
          </a:p>
        </p:txBody>
      </p:sp>
      <p:sp>
        <p:nvSpPr>
          <p:cNvPr id="27" name="TextBox 26"/>
          <p:cNvSpPr txBox="1"/>
          <p:nvPr/>
        </p:nvSpPr>
        <p:spPr>
          <a:xfrm>
            <a:off x="4562855" y="4581144"/>
            <a:ext cx="2971800" cy="640080"/>
          </a:xfrm>
          <a:prstGeom prst="rect">
            <a:avLst/>
          </a:prstGeom>
          <a:noFill/>
        </p:spPr>
        <p:txBody>
          <a:bodyPr wrap="square" lIns="0" rIns="0" tIns="0" bIns="0">
            <a:spAutoFit/>
          </a:bodyPr>
          <a:lstStyle/>
          <a:p>
            <a:pPr>
              <a:spcAft>
                <a:spcPts val="500"/>
              </a:spcAft>
              <a:defRPr sz="1700" b="0">
                <a:solidFill>
                  <a:srgbClr val="B65F20"/>
                </a:solidFill>
                <a:latin typeface="Lato"/>
              </a:defRPr>
            </a:pPr>
            <a:r>
              <a:t>Reason · remarks</a:t>
            </a:r>
          </a:p>
          <a:p>
            <a:pPr>
              <a:spcAft>
                <a:spcPts val="500"/>
              </a:spcAft>
              <a:defRPr sz="1700" b="0">
                <a:solidFill>
                  <a:srgbClr val="B65F20"/>
                </a:solidFill>
                <a:latin typeface="Lato"/>
              </a:defRPr>
            </a:pPr>
            <a:r>
              <a:t>Next follow-up date</a:t>
            </a:r>
          </a:p>
        </p:txBody>
      </p:sp>
      <p:cxnSp>
        <p:nvCxnSpPr>
          <p:cNvPr id="28" name="Connector 27"/>
          <p:cNvCxnSpPr/>
          <p:nvPr/>
        </p:nvCxnSpPr>
        <p:spPr>
          <a:xfrm>
            <a:off x="9747504" y="3310128"/>
            <a:ext cx="0" cy="329184"/>
          </a:xfrm>
          <a:prstGeom prst="line">
            <a:avLst/>
          </a:prstGeom>
          <a:ln w="38100">
            <a:solidFill>
              <a:srgbClr val="AD405D"/>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065008" y="3639312"/>
            <a:ext cx="3374136" cy="1746504"/>
          </a:xfrm>
          <a:prstGeom prst="roundRect">
            <a:avLst/>
          </a:prstGeom>
          <a:solidFill>
            <a:srgbClr val="F4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308695" y="3843680"/>
            <a:ext cx="271576" cy="386791"/>
          </a:xfrm>
          <a:prstGeom prst="roundRect">
            <a:avLst/>
          </a:prstGeom>
          <a:noFill/>
          <a:ln w="15240">
            <a:solidFill>
              <a:srgbClr val="AD40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8366302" y="3950665"/>
            <a:ext cx="160478" cy="0"/>
          </a:xfrm>
          <a:prstGeom prst="line">
            <a:avLst/>
          </a:prstGeom>
          <a:ln w="25400">
            <a:solidFill>
              <a:srgbClr val="AD405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366302" y="4037076"/>
            <a:ext cx="160478" cy="0"/>
          </a:xfrm>
          <a:prstGeom prst="line">
            <a:avLst/>
          </a:prstGeom>
          <a:ln w="25400">
            <a:solidFill>
              <a:srgbClr val="AD405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366302" y="4127601"/>
            <a:ext cx="115215" cy="0"/>
          </a:xfrm>
          <a:prstGeom prst="line">
            <a:avLst/>
          </a:prstGeom>
          <a:ln w="25400">
            <a:solidFill>
              <a:srgbClr val="AD405D"/>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805672" y="3886200"/>
            <a:ext cx="2432304" cy="329184"/>
          </a:xfrm>
          <a:prstGeom prst="rect">
            <a:avLst/>
          </a:prstGeom>
          <a:noFill/>
        </p:spPr>
        <p:txBody>
          <a:bodyPr wrap="square" lIns="0" rIns="0" tIns="0" bIns="0">
            <a:spAutoFit/>
          </a:bodyPr>
          <a:lstStyle/>
          <a:p>
            <a:pPr>
              <a:spcAft>
                <a:spcPts val="500"/>
              </a:spcAft>
              <a:defRPr sz="2300" b="1">
                <a:solidFill>
                  <a:srgbClr val="AD405D"/>
                </a:solidFill>
                <a:latin typeface="Lato"/>
              </a:defRPr>
            </a:pPr>
            <a:r>
              <a:t>LOST</a:t>
            </a:r>
          </a:p>
        </p:txBody>
      </p:sp>
      <p:sp>
        <p:nvSpPr>
          <p:cNvPr id="35" name="TextBox 34"/>
          <p:cNvSpPr txBox="1"/>
          <p:nvPr/>
        </p:nvSpPr>
        <p:spPr>
          <a:xfrm>
            <a:off x="8266176" y="4581144"/>
            <a:ext cx="2971800" cy="640080"/>
          </a:xfrm>
          <a:prstGeom prst="rect">
            <a:avLst/>
          </a:prstGeom>
          <a:noFill/>
        </p:spPr>
        <p:txBody>
          <a:bodyPr wrap="square" lIns="0" rIns="0" tIns="0" bIns="0">
            <a:spAutoFit/>
          </a:bodyPr>
          <a:lstStyle/>
          <a:p>
            <a:pPr>
              <a:spcAft>
                <a:spcPts val="500"/>
              </a:spcAft>
              <a:defRPr sz="1700" b="0">
                <a:solidFill>
                  <a:srgbClr val="AD405D"/>
                </a:solidFill>
                <a:latin typeface="Lato"/>
              </a:defRPr>
            </a:pPr>
            <a:r>
              <a:t>Loss reason · remarks</a:t>
            </a:r>
          </a:p>
          <a:p>
            <a:pPr>
              <a:spcAft>
                <a:spcPts val="500"/>
              </a:spcAft>
              <a:defRPr sz="1700" b="0">
                <a:solidFill>
                  <a:srgbClr val="AD405D"/>
                </a:solidFill>
                <a:latin typeface="Lato"/>
              </a:defRPr>
            </a:pPr>
            <a:r>
              <a:t>Close the enquiry</a:t>
            </a:r>
          </a:p>
        </p:txBody>
      </p:sp>
      <p:cxnSp>
        <p:nvCxnSpPr>
          <p:cNvPr id="36" name="Connector 35"/>
          <p:cNvCxnSpPr/>
          <p:nvPr/>
        </p:nvCxnSpPr>
        <p:spPr>
          <a:xfrm>
            <a:off x="576072" y="5888736"/>
            <a:ext cx="329184" cy="0"/>
          </a:xfrm>
          <a:prstGeom prst="line">
            <a:avLst/>
          </a:prstGeom>
          <a:ln w="38100">
            <a:solidFill>
              <a:srgbClr val="6945A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060704" y="5724144"/>
            <a:ext cx="10332720" cy="448056"/>
          </a:xfrm>
          <a:prstGeom prst="rect">
            <a:avLst/>
          </a:prstGeom>
          <a:noFill/>
        </p:spPr>
        <p:txBody>
          <a:bodyPr wrap="square" lIns="0" rIns="0" tIns="0" bIns="0">
            <a:spAutoFit/>
          </a:bodyPr>
          <a:lstStyle/>
          <a:p>
            <a:pPr>
              <a:spcAft>
                <a:spcPts val="500"/>
              </a:spcAft>
              <a:defRPr sz="1500" b="1">
                <a:solidFill>
                  <a:srgbClr val="6945A3"/>
                </a:solidFill>
                <a:latin typeface="Lato"/>
              </a:defRPr>
            </a:pPr>
            <a:r>
              <a:t>Qualification starts the sales handoff; it does not mean a booking or completed sale.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CRE → PS/SO</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A complete qualification makes the handoff useful</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Choose an active PS/SO from the customer’s preferred branch.</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12 / 30</a:t>
            </a:r>
          </a:p>
        </p:txBody>
      </p:sp>
      <p:sp>
        <p:nvSpPr>
          <p:cNvPr id="8" name="Rounded Rectangle 7"/>
          <p:cNvSpPr/>
          <p:nvPr/>
        </p:nvSpPr>
        <p:spPr>
          <a:xfrm>
            <a:off x="1305488" y="2417947"/>
            <a:ext cx="488838" cy="696224"/>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409181" y="2610520"/>
            <a:ext cx="288859"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409181" y="2766060"/>
            <a:ext cx="288859"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409181" y="2929006"/>
            <a:ext cx="207386"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9224" y="3474720"/>
            <a:ext cx="2020824" cy="576072"/>
          </a:xfrm>
          <a:prstGeom prst="rect">
            <a:avLst/>
          </a:prstGeom>
          <a:noFill/>
        </p:spPr>
        <p:txBody>
          <a:bodyPr wrap="square" lIns="0" rIns="0" tIns="0" bIns="0">
            <a:spAutoFit/>
          </a:bodyPr>
          <a:lstStyle/>
          <a:p>
            <a:pPr algn="ctr">
              <a:spcAft>
                <a:spcPts val="500"/>
              </a:spcAft>
              <a:defRPr sz="1800" b="1">
                <a:solidFill>
                  <a:srgbClr val="6945A3"/>
                </a:solidFill>
                <a:latin typeface="Lato"/>
              </a:defRPr>
            </a:pPr>
            <a:r>
              <a:t>MODEL + COLOR</a:t>
            </a:r>
          </a:p>
        </p:txBody>
      </p:sp>
      <p:sp>
        <p:nvSpPr>
          <p:cNvPr id="13" name="TextBox 12"/>
          <p:cNvSpPr txBox="1"/>
          <p:nvPr/>
        </p:nvSpPr>
        <p:spPr>
          <a:xfrm>
            <a:off x="649224" y="4270248"/>
            <a:ext cx="2020824" cy="658368"/>
          </a:xfrm>
          <a:prstGeom prst="rect">
            <a:avLst/>
          </a:prstGeom>
          <a:noFill/>
        </p:spPr>
        <p:txBody>
          <a:bodyPr wrap="square" lIns="0" rIns="0" tIns="0" bIns="0">
            <a:spAutoFit/>
          </a:bodyPr>
          <a:lstStyle/>
          <a:p>
            <a:pPr algn="ctr">
              <a:spcAft>
                <a:spcPts val="500"/>
              </a:spcAft>
              <a:defRPr sz="1800" b="0">
                <a:solidFill>
                  <a:srgbClr val="776B80"/>
                </a:solidFill>
                <a:latin typeface="Lato"/>
              </a:defRPr>
            </a:pPr>
            <a:r>
              <a:t>What they want</a:t>
            </a:r>
          </a:p>
        </p:txBody>
      </p:sp>
      <p:sp>
        <p:nvSpPr>
          <p:cNvPr id="14" name="Rounded Rectangle 13"/>
          <p:cNvSpPr/>
          <p:nvPr/>
        </p:nvSpPr>
        <p:spPr>
          <a:xfrm>
            <a:off x="3533973" y="2529047"/>
            <a:ext cx="622157" cy="548091"/>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3533973" y="2691993"/>
            <a:ext cx="622157"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696919" y="2425354"/>
            <a:ext cx="0" cy="185166"/>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993184" y="2425354"/>
            <a:ext cx="0" cy="185166"/>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689512" y="2854939"/>
            <a:ext cx="103693" cy="103693"/>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793205" y="2758653"/>
            <a:ext cx="229606" cy="199979"/>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944368" y="3474720"/>
            <a:ext cx="2020824" cy="576072"/>
          </a:xfrm>
          <a:prstGeom prst="rect">
            <a:avLst/>
          </a:prstGeom>
          <a:noFill/>
        </p:spPr>
        <p:txBody>
          <a:bodyPr wrap="square" lIns="0" rIns="0" tIns="0" bIns="0">
            <a:spAutoFit/>
          </a:bodyPr>
          <a:lstStyle/>
          <a:p>
            <a:pPr algn="ctr">
              <a:spcAft>
                <a:spcPts val="500"/>
              </a:spcAft>
              <a:defRPr sz="1800" b="1">
                <a:solidFill>
                  <a:srgbClr val="6945A3"/>
                </a:solidFill>
                <a:latin typeface="Lato"/>
              </a:defRPr>
            </a:pPr>
            <a:r>
              <a:t>BUYING PLAN</a:t>
            </a:r>
          </a:p>
        </p:txBody>
      </p:sp>
      <p:sp>
        <p:nvSpPr>
          <p:cNvPr id="21" name="TextBox 20"/>
          <p:cNvSpPr txBox="1"/>
          <p:nvPr/>
        </p:nvSpPr>
        <p:spPr>
          <a:xfrm>
            <a:off x="2944368" y="4270248"/>
            <a:ext cx="2020824" cy="658368"/>
          </a:xfrm>
          <a:prstGeom prst="rect">
            <a:avLst/>
          </a:prstGeom>
          <a:noFill/>
        </p:spPr>
        <p:txBody>
          <a:bodyPr wrap="square" lIns="0" rIns="0" tIns="0" bIns="0">
            <a:spAutoFit/>
          </a:bodyPr>
          <a:lstStyle/>
          <a:p>
            <a:pPr algn="ctr">
              <a:spcAft>
                <a:spcPts val="500"/>
              </a:spcAft>
              <a:defRPr sz="1800" b="0">
                <a:solidFill>
                  <a:srgbClr val="776B80"/>
                </a:solidFill>
                <a:latin typeface="Lato"/>
              </a:defRPr>
            </a:pPr>
            <a:r>
              <a:t>When they plan to buy</a:t>
            </a:r>
          </a:p>
        </p:txBody>
      </p:sp>
      <p:sp>
        <p:nvSpPr>
          <p:cNvPr id="22" name="Rounded Rectangle 21"/>
          <p:cNvSpPr/>
          <p:nvPr/>
        </p:nvSpPr>
        <p:spPr>
          <a:xfrm>
            <a:off x="5895776" y="2417947"/>
            <a:ext cx="488838" cy="696224"/>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5999469" y="2610520"/>
            <a:ext cx="288859"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999469" y="2766060"/>
            <a:ext cx="288859"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999469" y="2929006"/>
            <a:ext cx="207386"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239512" y="3474720"/>
            <a:ext cx="2020824" cy="576072"/>
          </a:xfrm>
          <a:prstGeom prst="rect">
            <a:avLst/>
          </a:prstGeom>
          <a:noFill/>
        </p:spPr>
        <p:txBody>
          <a:bodyPr wrap="square" lIns="0" rIns="0" tIns="0" bIns="0">
            <a:spAutoFit/>
          </a:bodyPr>
          <a:lstStyle/>
          <a:p>
            <a:pPr algn="ctr">
              <a:spcAft>
                <a:spcPts val="500"/>
              </a:spcAft>
              <a:defRPr sz="1800" b="1">
                <a:solidFill>
                  <a:srgbClr val="6945A3"/>
                </a:solidFill>
                <a:latin typeface="Lato"/>
              </a:defRPr>
            </a:pPr>
            <a:r>
              <a:t>FINANCE</a:t>
            </a:r>
          </a:p>
        </p:txBody>
      </p:sp>
      <p:sp>
        <p:nvSpPr>
          <p:cNvPr id="27" name="TextBox 26"/>
          <p:cNvSpPr txBox="1"/>
          <p:nvPr/>
        </p:nvSpPr>
        <p:spPr>
          <a:xfrm>
            <a:off x="5239512" y="4270248"/>
            <a:ext cx="2020824" cy="658368"/>
          </a:xfrm>
          <a:prstGeom prst="rect">
            <a:avLst/>
          </a:prstGeom>
          <a:noFill/>
        </p:spPr>
        <p:txBody>
          <a:bodyPr wrap="square" lIns="0" rIns="0" tIns="0" bIns="0">
            <a:spAutoFit/>
          </a:bodyPr>
          <a:lstStyle/>
          <a:p>
            <a:pPr algn="ctr">
              <a:spcAft>
                <a:spcPts val="500"/>
              </a:spcAft>
              <a:defRPr sz="1800" b="0">
                <a:solidFill>
                  <a:srgbClr val="776B80"/>
                </a:solidFill>
                <a:latin typeface="Lato"/>
              </a:defRPr>
            </a:pPr>
            <a:r>
              <a:t>How they plan to pay</a:t>
            </a:r>
          </a:p>
        </p:txBody>
      </p:sp>
      <p:sp>
        <p:nvSpPr>
          <p:cNvPr id="28" name="Rounded Rectangle 27"/>
          <p:cNvSpPr/>
          <p:nvPr/>
        </p:nvSpPr>
        <p:spPr>
          <a:xfrm>
            <a:off x="8331647" y="2417947"/>
            <a:ext cx="207385" cy="185166"/>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079821" y="2906786"/>
            <a:ext cx="207385" cy="185166"/>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583472" y="2906786"/>
            <a:ext cx="207385" cy="185166"/>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8435339" y="2603113"/>
            <a:ext cx="0" cy="148133"/>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183514" y="2751246"/>
            <a:ext cx="503651"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183514" y="2751246"/>
            <a:ext cx="0" cy="15554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687165" y="2751246"/>
            <a:ext cx="0" cy="15554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534655" y="3474720"/>
            <a:ext cx="2020824" cy="576072"/>
          </a:xfrm>
          <a:prstGeom prst="rect">
            <a:avLst/>
          </a:prstGeom>
          <a:noFill/>
        </p:spPr>
        <p:txBody>
          <a:bodyPr wrap="square" lIns="0" rIns="0" tIns="0" bIns="0">
            <a:spAutoFit/>
          </a:bodyPr>
          <a:lstStyle/>
          <a:p>
            <a:pPr algn="ctr">
              <a:spcAft>
                <a:spcPts val="500"/>
              </a:spcAft>
              <a:defRPr sz="1800" b="1">
                <a:solidFill>
                  <a:srgbClr val="6945A3"/>
                </a:solidFill>
                <a:latin typeface="Lato"/>
              </a:defRPr>
            </a:pPr>
            <a:r>
              <a:t>BRANCH + PS/SO</a:t>
            </a:r>
          </a:p>
        </p:txBody>
      </p:sp>
      <p:sp>
        <p:nvSpPr>
          <p:cNvPr id="36" name="TextBox 35"/>
          <p:cNvSpPr txBox="1"/>
          <p:nvPr/>
        </p:nvSpPr>
        <p:spPr>
          <a:xfrm>
            <a:off x="7534655" y="4270248"/>
            <a:ext cx="2020824" cy="658368"/>
          </a:xfrm>
          <a:prstGeom prst="rect">
            <a:avLst/>
          </a:prstGeom>
          <a:noFill/>
        </p:spPr>
        <p:txBody>
          <a:bodyPr wrap="square" lIns="0" rIns="0" tIns="0" bIns="0">
            <a:spAutoFit/>
          </a:bodyPr>
          <a:lstStyle/>
          <a:p>
            <a:pPr algn="ctr">
              <a:spcAft>
                <a:spcPts val="500"/>
              </a:spcAft>
              <a:defRPr sz="1800" b="0">
                <a:solidFill>
                  <a:srgbClr val="776B80"/>
                </a:solidFill>
                <a:latin typeface="Lato"/>
              </a:defRPr>
            </a:pPr>
            <a:r>
              <a:t>Who acts next</a:t>
            </a:r>
          </a:p>
        </p:txBody>
      </p:sp>
      <p:sp>
        <p:nvSpPr>
          <p:cNvPr id="37" name="Rounded Rectangle 36"/>
          <p:cNvSpPr/>
          <p:nvPr/>
        </p:nvSpPr>
        <p:spPr>
          <a:xfrm>
            <a:off x="10411998" y="2543860"/>
            <a:ext cx="636971" cy="466618"/>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10826770" y="2543860"/>
            <a:ext cx="0" cy="466619"/>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508284" y="2684586"/>
            <a:ext cx="207386"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508284" y="2840126"/>
            <a:ext cx="207386"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829800" y="3474720"/>
            <a:ext cx="2020824" cy="576072"/>
          </a:xfrm>
          <a:prstGeom prst="rect">
            <a:avLst/>
          </a:prstGeom>
          <a:noFill/>
        </p:spPr>
        <p:txBody>
          <a:bodyPr wrap="square" lIns="0" rIns="0" tIns="0" bIns="0">
            <a:spAutoFit/>
          </a:bodyPr>
          <a:lstStyle/>
          <a:p>
            <a:pPr algn="ctr">
              <a:spcAft>
                <a:spcPts val="500"/>
              </a:spcAft>
              <a:defRPr sz="1800" b="1">
                <a:solidFill>
                  <a:srgbClr val="6945A3"/>
                </a:solidFill>
                <a:latin typeface="Lato"/>
              </a:defRPr>
            </a:pPr>
            <a:r>
              <a:t>REMARKS</a:t>
            </a:r>
          </a:p>
        </p:txBody>
      </p:sp>
      <p:sp>
        <p:nvSpPr>
          <p:cNvPr id="42" name="TextBox 41"/>
          <p:cNvSpPr txBox="1"/>
          <p:nvPr/>
        </p:nvSpPr>
        <p:spPr>
          <a:xfrm>
            <a:off x="9829800" y="4270248"/>
            <a:ext cx="2020824" cy="658368"/>
          </a:xfrm>
          <a:prstGeom prst="rect">
            <a:avLst/>
          </a:prstGeom>
          <a:noFill/>
        </p:spPr>
        <p:txBody>
          <a:bodyPr wrap="square" lIns="0" rIns="0" tIns="0" bIns="0">
            <a:spAutoFit/>
          </a:bodyPr>
          <a:lstStyle/>
          <a:p>
            <a:pPr algn="ctr">
              <a:spcAft>
                <a:spcPts val="500"/>
              </a:spcAft>
              <a:defRPr sz="1800" b="0">
                <a:solidFill>
                  <a:srgbClr val="776B80"/>
                </a:solidFill>
                <a:latin typeface="Lato"/>
              </a:defRPr>
            </a:pPr>
            <a:r>
              <a:t>What PS should discuss</a:t>
            </a:r>
          </a:p>
        </p:txBody>
      </p:sp>
      <p:sp>
        <p:nvSpPr>
          <p:cNvPr id="43" name="Rounded Rectangle 42"/>
          <p:cNvSpPr/>
          <p:nvPr/>
        </p:nvSpPr>
        <p:spPr>
          <a:xfrm>
            <a:off x="2715768" y="5212080"/>
            <a:ext cx="6766560" cy="393192"/>
          </a:xfrm>
          <a:prstGeom prst="roundRect">
            <a:avLst/>
          </a:prstGeom>
          <a:solidFill>
            <a:srgbClr val="DDE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816352" y="5285232"/>
            <a:ext cx="6565392" cy="228600"/>
          </a:xfrm>
          <a:prstGeom prst="rect">
            <a:avLst/>
          </a:prstGeom>
          <a:noFill/>
        </p:spPr>
        <p:txBody>
          <a:bodyPr wrap="square" lIns="0" rIns="0" tIns="0" bIns="0">
            <a:spAutoFit/>
          </a:bodyPr>
          <a:lstStyle/>
          <a:p>
            <a:pPr algn="ctr">
              <a:spcAft>
                <a:spcPts val="500"/>
              </a:spcAft>
              <a:defRPr sz="1300" b="1">
                <a:solidFill>
                  <a:srgbClr val="24776D"/>
                </a:solidFill>
                <a:latin typeface="Lato"/>
              </a:defRPr>
            </a:pPr>
            <a:r>
              <a:t>SAVE QUALIFIED → SAME LEAD, CRE CONTEXT, NAMED PS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PS/SO WORK</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PS/SO records the sales conversation</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Choose Connected / Not Connected, then an outcome and remarks.</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13 / 30</a:t>
            </a:r>
          </a:p>
        </p:txBody>
      </p:sp>
      <p:graphicFrame>
        <p:nvGraphicFramePr>
          <p:cNvPr id="8" name="Table 7"/>
          <p:cNvGraphicFramePr>
            <a:graphicFrameLocks noGrp="1"/>
          </p:cNvGraphicFramePr>
          <p:nvPr/>
        </p:nvGraphicFramePr>
        <p:xfrm>
          <a:off x="548640" y="2258568"/>
          <a:ext cx="11082528" cy="3264408"/>
        </p:xfrm>
        <a:graphic>
          <a:graphicData uri="http://schemas.openxmlformats.org/drawingml/2006/table">
            <a:tbl>
              <a:tblPr firstRow="1" bandRow="1">
                <a:tableStyleId>{5C22544A-7EE6-4342-B048-85BDC9FD1C3A}</a:tableStyleId>
              </a:tblPr>
              <a:tblGrid>
                <a:gridCol w="2852928"/>
                <a:gridCol w="4709160"/>
                <a:gridCol w="3520440"/>
              </a:tblGrid>
              <a:tr h="544068">
                <a:tc>
                  <a:txBody>
                    <a:bodyPr/>
                    <a:lstStyle/>
                    <a:p>
                      <a:pPr>
                        <a:defRPr sz="1600" b="1">
                          <a:solidFill>
                            <a:srgbClr val="FFFFFF"/>
                          </a:solidFill>
                          <a:latin typeface="Lato"/>
                        </a:defRPr>
                      </a:pPr>
                      <a:r>
                        <a:t>Customer situation</a:t>
                      </a:r>
                    </a:p>
                  </a:txBody>
                  <a:tcPr anchor="ctr" marL="128016" marR="91440" marT="50292" marB="41148">
                    <a:solidFill>
                      <a:srgbClr val="2D1B38"/>
                    </a:solidFill>
                  </a:tcPr>
                </a:tc>
                <a:tc>
                  <a:txBody>
                    <a:bodyPr/>
                    <a:lstStyle/>
                    <a:p>
                      <a:pPr>
                        <a:defRPr sz="1600" b="1">
                          <a:solidFill>
                            <a:srgbClr val="FFFFFF"/>
                          </a:solidFill>
                          <a:latin typeface="Lato"/>
                        </a:defRPr>
                      </a:pPr>
                      <a:r>
                        <a:t>PS outcome examples</a:t>
                      </a:r>
                    </a:p>
                  </a:txBody>
                  <a:tcPr anchor="ctr" marL="128016" marR="91440" marT="50292" marB="41148">
                    <a:solidFill>
                      <a:srgbClr val="2D1B38"/>
                    </a:solidFill>
                  </a:tcPr>
                </a:tc>
                <a:tc>
                  <a:txBody>
                    <a:bodyPr/>
                    <a:lstStyle/>
                    <a:p>
                      <a:pPr>
                        <a:defRPr sz="1600" b="1">
                          <a:solidFill>
                            <a:srgbClr val="FFFFFF"/>
                          </a:solidFill>
                          <a:latin typeface="Lato"/>
                        </a:defRPr>
                      </a:pPr>
                      <a:r>
                        <a:t>Next state</a:t>
                      </a:r>
                    </a:p>
                  </a:txBody>
                  <a:tcPr anchor="ctr" marL="128016" marR="91440" marT="50292" marB="41148">
                    <a:solidFill>
                      <a:srgbClr val="2D1B38"/>
                    </a:solidFill>
                  </a:tcPr>
                </a:tc>
              </a:tr>
              <a:tr h="544068">
                <a:tc>
                  <a:txBody>
                    <a:bodyPr/>
                    <a:lstStyle/>
                    <a:p>
                      <a:pPr>
                        <a:defRPr sz="1600" b="1">
                          <a:solidFill>
                            <a:srgbClr val="2D1B38"/>
                          </a:solidFill>
                          <a:latin typeface="Lato"/>
                        </a:defRPr>
                      </a:pPr>
                      <a:r>
                        <a:t>Needs more work</a:t>
                      </a:r>
                    </a:p>
                  </a:txBody>
                  <a:tcPr anchor="ctr" marL="128016" marR="91440" marT="50292" marB="41148">
                    <a:solidFill>
                      <a:srgbClr val="FFFFFF"/>
                    </a:solidFill>
                  </a:tcPr>
                </a:tc>
                <a:tc>
                  <a:txBody>
                    <a:bodyPr/>
                    <a:lstStyle/>
                    <a:p>
                      <a:pPr>
                        <a:defRPr sz="1600" b="0">
                          <a:solidFill>
                            <a:srgbClr val="2D1B38"/>
                          </a:solidFill>
                          <a:latin typeface="Lato"/>
                        </a:defRPr>
                      </a:pPr>
                      <a:r>
                        <a:t>Test drive · showroom visit · need time</a:t>
                      </a:r>
                    </a:p>
                  </a:txBody>
                  <a:tcPr anchor="ctr" marL="128016" marR="91440" marT="50292" marB="41148">
                    <a:solidFill>
                      <a:srgbClr val="FFFFFF"/>
                    </a:solidFill>
                  </a:tcPr>
                </a:tc>
                <a:tc>
                  <a:txBody>
                    <a:bodyPr/>
                    <a:lstStyle/>
                    <a:p>
                      <a:pPr>
                        <a:defRPr sz="1600" b="0">
                          <a:solidFill>
                            <a:srgbClr val="2D1B38"/>
                          </a:solidFill>
                          <a:latin typeface="Lato"/>
                        </a:defRPr>
                      </a:pPr>
                      <a:r>
                        <a:t>Pending + follow-up</a:t>
                      </a:r>
                    </a:p>
                  </a:txBody>
                  <a:tcPr anchor="ctr" marL="128016" marR="91440" marT="50292" marB="41148">
                    <a:solidFill>
                      <a:srgbClr val="FFFFFF"/>
                    </a:solidFill>
                  </a:tcPr>
                </a:tc>
              </a:tr>
              <a:tr h="544068">
                <a:tc>
                  <a:txBody>
                    <a:bodyPr/>
                    <a:lstStyle/>
                    <a:p>
                      <a:pPr>
                        <a:defRPr sz="1600" b="1">
                          <a:solidFill>
                            <a:srgbClr val="2D1B38"/>
                          </a:solidFill>
                          <a:latin typeface="Lato"/>
                        </a:defRPr>
                      </a:pPr>
                      <a:r>
                        <a:t>Asks for another call</a:t>
                      </a:r>
                    </a:p>
                  </a:txBody>
                  <a:tcPr anchor="ctr" marL="128016" marR="91440" marT="50292" marB="41148">
                    <a:solidFill>
                      <a:srgbClr val="E8DDF4"/>
                    </a:solidFill>
                  </a:tcPr>
                </a:tc>
                <a:tc>
                  <a:txBody>
                    <a:bodyPr/>
                    <a:lstStyle/>
                    <a:p>
                      <a:pPr>
                        <a:defRPr sz="1600" b="0">
                          <a:solidFill>
                            <a:srgbClr val="2D1B38"/>
                          </a:solidFill>
                          <a:latin typeface="Lato"/>
                        </a:defRPr>
                      </a:pPr>
                      <a:r>
                        <a:t>Call Me Back</a:t>
                      </a:r>
                    </a:p>
                  </a:txBody>
                  <a:tcPr anchor="ctr" marL="128016" marR="91440" marT="50292" marB="41148">
                    <a:solidFill>
                      <a:srgbClr val="E8DDF4"/>
                    </a:solidFill>
                  </a:tcPr>
                </a:tc>
                <a:tc>
                  <a:txBody>
                    <a:bodyPr/>
                    <a:lstStyle/>
                    <a:p>
                      <a:pPr>
                        <a:defRPr sz="1600" b="0">
                          <a:solidFill>
                            <a:srgbClr val="2D1B38"/>
                          </a:solidFill>
                          <a:latin typeface="Lato"/>
                        </a:defRPr>
                      </a:pPr>
                      <a:r>
                        <a:t>Callback + follow-up</a:t>
                      </a:r>
                    </a:p>
                  </a:txBody>
                  <a:tcPr anchor="ctr" marL="128016" marR="91440" marT="50292" marB="41148">
                    <a:solidFill>
                      <a:srgbClr val="E8DDF4"/>
                    </a:solidFill>
                  </a:tcPr>
                </a:tc>
              </a:tr>
              <a:tr h="544068">
                <a:tc>
                  <a:txBody>
                    <a:bodyPr/>
                    <a:lstStyle/>
                    <a:p>
                      <a:pPr>
                        <a:defRPr sz="1600" b="1">
                          <a:solidFill>
                            <a:srgbClr val="2D1B38"/>
                          </a:solidFill>
                          <a:latin typeface="Lato"/>
                        </a:defRPr>
                      </a:pPr>
                      <a:r>
                        <a:t>Does not answer</a:t>
                      </a:r>
                    </a:p>
                  </a:txBody>
                  <a:tcPr anchor="ctr" marL="128016" marR="91440" marT="50292" marB="41148">
                    <a:solidFill>
                      <a:srgbClr val="FFFFFF"/>
                    </a:solidFill>
                  </a:tcPr>
                </a:tc>
                <a:tc>
                  <a:txBody>
                    <a:bodyPr/>
                    <a:lstStyle/>
                    <a:p>
                      <a:pPr>
                        <a:defRPr sz="1600" b="0">
                          <a:solidFill>
                            <a:srgbClr val="2D1B38"/>
                          </a:solidFill>
                          <a:latin typeface="Lato"/>
                        </a:defRPr>
                      </a:pPr>
                      <a:r>
                        <a:t>RNR · Switch Off · Line Busy</a:t>
                      </a:r>
                    </a:p>
                  </a:txBody>
                  <a:tcPr anchor="ctr" marL="128016" marR="91440" marT="50292" marB="41148">
                    <a:solidFill>
                      <a:srgbClr val="FFFFFF"/>
                    </a:solidFill>
                  </a:tcPr>
                </a:tc>
                <a:tc>
                  <a:txBody>
                    <a:bodyPr/>
                    <a:lstStyle/>
                    <a:p>
                      <a:pPr>
                        <a:defRPr sz="1600" b="0">
                          <a:solidFill>
                            <a:srgbClr val="2D1B38"/>
                          </a:solidFill>
                          <a:latin typeface="Lato"/>
                        </a:defRPr>
                      </a:pPr>
                      <a:r>
                        <a:t>Retry / follow-up</a:t>
                      </a:r>
                    </a:p>
                  </a:txBody>
                  <a:tcPr anchor="ctr" marL="128016" marR="91440" marT="50292" marB="41148">
                    <a:solidFill>
                      <a:srgbClr val="FFFFFF"/>
                    </a:solidFill>
                  </a:tcPr>
                </a:tc>
              </a:tr>
              <a:tr h="544068">
                <a:tc>
                  <a:txBody>
                    <a:bodyPr/>
                    <a:lstStyle/>
                    <a:p>
                      <a:pPr>
                        <a:defRPr sz="1600" b="1">
                          <a:solidFill>
                            <a:srgbClr val="2D1B38"/>
                          </a:solidFill>
                          <a:latin typeface="Lato"/>
                        </a:defRPr>
                      </a:pPr>
                      <a:r>
                        <a:t>Has booked / purchased</a:t>
                      </a:r>
                    </a:p>
                  </a:txBody>
                  <a:tcPr anchor="ctr" marL="128016" marR="91440" marT="50292" marB="41148">
                    <a:solidFill>
                      <a:srgbClr val="E8DDF4"/>
                    </a:solidFill>
                  </a:tcPr>
                </a:tc>
                <a:tc>
                  <a:txBody>
                    <a:bodyPr/>
                    <a:lstStyle/>
                    <a:p>
                      <a:pPr>
                        <a:defRPr sz="1600" b="0">
                          <a:solidFill>
                            <a:srgbClr val="2D1B38"/>
                          </a:solidFill>
                          <a:latin typeface="Lato"/>
                        </a:defRPr>
                      </a:pPr>
                      <a:r>
                        <a:t>Booking Done / Retail Done</a:t>
                      </a:r>
                    </a:p>
                  </a:txBody>
                  <a:tcPr anchor="ctr" marL="128016" marR="91440" marT="50292" marB="41148">
                    <a:solidFill>
                      <a:srgbClr val="E8DDF4"/>
                    </a:solidFill>
                  </a:tcPr>
                </a:tc>
                <a:tc>
                  <a:txBody>
                    <a:bodyPr/>
                    <a:lstStyle/>
                    <a:p>
                      <a:pPr>
                        <a:defRPr sz="1600" b="0">
                          <a:solidFill>
                            <a:srgbClr val="2D1B38"/>
                          </a:solidFill>
                          <a:latin typeface="Lato"/>
                        </a:defRPr>
                      </a:pPr>
                      <a:r>
                        <a:t>Booked / Retailed</a:t>
                      </a:r>
                    </a:p>
                  </a:txBody>
                  <a:tcPr anchor="ctr" marL="128016" marR="91440" marT="50292" marB="41148">
                    <a:solidFill>
                      <a:srgbClr val="E8DDF4"/>
                    </a:solidFill>
                  </a:tcPr>
                </a:tc>
              </a:tr>
              <a:tr h="544068">
                <a:tc>
                  <a:txBody>
                    <a:bodyPr/>
                    <a:lstStyle/>
                    <a:p>
                      <a:pPr>
                        <a:defRPr sz="1600" b="1">
                          <a:solidFill>
                            <a:srgbClr val="2D1B38"/>
                          </a:solidFill>
                          <a:latin typeface="Lato"/>
                        </a:defRPr>
                      </a:pPr>
                      <a:r>
                        <a:t>Will not proceed</a:t>
                      </a:r>
                    </a:p>
                  </a:txBody>
                  <a:tcPr anchor="ctr" marL="128016" marR="91440" marT="50292" marB="41148">
                    <a:solidFill>
                      <a:srgbClr val="FFFFFF"/>
                    </a:solidFill>
                  </a:tcPr>
                </a:tc>
                <a:tc>
                  <a:txBody>
                    <a:bodyPr/>
                    <a:lstStyle/>
                    <a:p>
                      <a:pPr>
                        <a:defRPr sz="1600" b="0">
                          <a:solidFill>
                            <a:srgbClr val="2D1B38"/>
                          </a:solidFill>
                          <a:latin typeface="Lato"/>
                        </a:defRPr>
                      </a:pPr>
                      <a:r>
                        <a:t>Finance Rejected · Lost to Competition</a:t>
                      </a:r>
                    </a:p>
                  </a:txBody>
                  <a:tcPr anchor="ctr" marL="128016" marR="91440" marT="50292" marB="41148">
                    <a:solidFill>
                      <a:srgbClr val="FFFFFF"/>
                    </a:solidFill>
                  </a:tcPr>
                </a:tc>
                <a:tc>
                  <a:txBody>
                    <a:bodyPr/>
                    <a:lstStyle/>
                    <a:p>
                      <a:pPr>
                        <a:defRPr sz="1600" b="0">
                          <a:solidFill>
                            <a:srgbClr val="2D1B38"/>
                          </a:solidFill>
                          <a:latin typeface="Lato"/>
                        </a:defRPr>
                      </a:pPr>
                      <a:r>
                        <a:t>Lost</a:t>
                      </a:r>
                    </a:p>
                  </a:txBody>
                  <a:tcPr anchor="ctr" marL="128016" marR="91440" marT="50292" marB="41148">
                    <a:solidFill>
                      <a:srgbClr val="FFFFFF"/>
                    </a:solidFill>
                  </a:tcPr>
                </a:tc>
              </a:tr>
            </a:tbl>
          </a:graphicData>
        </a:graphic>
      </p:graphicFrame>
      <p:cxnSp>
        <p:nvCxnSpPr>
          <p:cNvPr id="9" name="Connector 8"/>
          <p:cNvCxnSpPr/>
          <p:nvPr/>
        </p:nvCxnSpPr>
        <p:spPr>
          <a:xfrm>
            <a:off x="576072" y="5888736"/>
            <a:ext cx="329184" cy="0"/>
          </a:xfrm>
          <a:prstGeom prst="line">
            <a:avLst/>
          </a:prstGeom>
          <a:ln w="38100">
            <a:solidFill>
              <a:srgbClr val="B65F2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60704" y="5724144"/>
            <a:ext cx="10332720" cy="448056"/>
          </a:xfrm>
          <a:prstGeom prst="rect">
            <a:avLst/>
          </a:prstGeom>
          <a:noFill/>
        </p:spPr>
        <p:txBody>
          <a:bodyPr wrap="square" lIns="0" rIns="0" tIns="0" bIns="0">
            <a:spAutoFit/>
          </a:bodyPr>
          <a:lstStyle/>
          <a:p>
            <a:pPr>
              <a:spcAft>
                <a:spcPts val="500"/>
              </a:spcAft>
              <a:defRPr sz="1500" b="1">
                <a:solidFill>
                  <a:srgbClr val="B65F20"/>
                </a:solidFill>
                <a:latin typeface="Lato"/>
              </a:defRPr>
            </a:pPr>
            <a:r>
              <a:t>No Response loss is a manual choice. F1–F5 does not automatically close a lead.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PS/SO &amp; CRE WORK</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Follow-up is a repeating work cycle</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A new outcome resolves the previous open follow-up and records the next plan.</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14 / 30</a:t>
            </a:r>
          </a:p>
        </p:txBody>
      </p:sp>
      <p:sp>
        <p:nvSpPr>
          <p:cNvPr id="8" name="Rounded Rectangle 7"/>
          <p:cNvSpPr/>
          <p:nvPr/>
        </p:nvSpPr>
        <p:spPr>
          <a:xfrm>
            <a:off x="658368" y="2368296"/>
            <a:ext cx="2880360" cy="2962656"/>
          </a:xfrm>
          <a:prstGeom prst="roundRect">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2715768"/>
            <a:ext cx="2148840" cy="850392"/>
          </a:xfrm>
          <a:prstGeom prst="rect">
            <a:avLst/>
          </a:prstGeom>
          <a:noFill/>
        </p:spPr>
        <p:txBody>
          <a:bodyPr wrap="square" lIns="0" rIns="0" tIns="0" bIns="0">
            <a:spAutoFit/>
          </a:bodyPr>
          <a:lstStyle/>
          <a:p>
            <a:pPr algn="ctr">
              <a:spcAft>
                <a:spcPts val="500"/>
              </a:spcAft>
              <a:defRPr sz="4200" b="1">
                <a:solidFill>
                  <a:srgbClr val="FFFFFF"/>
                </a:solidFill>
                <a:latin typeface="Lato"/>
              </a:defRPr>
            </a:pPr>
            <a:r>
              <a:t>3 days</a:t>
            </a:r>
          </a:p>
        </p:txBody>
      </p:sp>
      <p:sp>
        <p:nvSpPr>
          <p:cNvPr id="10" name="Rounded Rectangle 9"/>
          <p:cNvSpPr/>
          <p:nvPr/>
        </p:nvSpPr>
        <p:spPr>
          <a:xfrm>
            <a:off x="1815998" y="3836822"/>
            <a:ext cx="537667" cy="473659"/>
          </a:xfrm>
          <a:prstGeom prst="roundRect">
            <a:avLst/>
          </a:prstGeom>
          <a:no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815998" y="3977640"/>
            <a:ext cx="537667"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956816" y="3747211"/>
            <a:ext cx="0" cy="16002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212848" y="3747211"/>
            <a:ext cx="0" cy="16002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950415" y="4118457"/>
            <a:ext cx="89611" cy="89611"/>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040026" y="4035247"/>
            <a:ext cx="198425" cy="172821"/>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41832" y="4672584"/>
            <a:ext cx="2313432" cy="411480"/>
          </a:xfrm>
          <a:prstGeom prst="rect">
            <a:avLst/>
          </a:prstGeom>
          <a:noFill/>
        </p:spPr>
        <p:txBody>
          <a:bodyPr wrap="square" lIns="0" rIns="0" tIns="0" bIns="0">
            <a:spAutoFit/>
          </a:bodyPr>
          <a:lstStyle/>
          <a:p>
            <a:pPr algn="ctr">
              <a:spcAft>
                <a:spcPts val="500"/>
              </a:spcAft>
              <a:defRPr sz="1600" b="0">
                <a:solidFill>
                  <a:srgbClr val="FFFFFF"/>
                </a:solidFill>
                <a:latin typeface="Lato"/>
              </a:defRPr>
            </a:pPr>
            <a:r>
              <a:t>Current scheduling limit</a:t>
            </a:r>
          </a:p>
        </p:txBody>
      </p:sp>
      <p:sp>
        <p:nvSpPr>
          <p:cNvPr id="17" name="Rounded Rectangle 16"/>
          <p:cNvSpPr/>
          <p:nvPr/>
        </p:nvSpPr>
        <p:spPr>
          <a:xfrm>
            <a:off x="4407408" y="2423160"/>
            <a:ext cx="2843784" cy="758952"/>
          </a:xfrm>
          <a:prstGeom prst="roundRect">
            <a:avLst/>
          </a:prstGeom>
          <a:solidFill>
            <a:srgbClr val="FFFFFF"/>
          </a:solidFill>
          <a:ln w="15240">
            <a:solidFill>
              <a:srgbClr val="DD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562856" y="2606040"/>
            <a:ext cx="109728" cy="109728"/>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73168" y="2532888"/>
            <a:ext cx="2340863" cy="301752"/>
          </a:xfrm>
          <a:prstGeom prst="rect">
            <a:avLst/>
          </a:prstGeom>
          <a:noFill/>
        </p:spPr>
        <p:txBody>
          <a:bodyPr wrap="square" lIns="0" rIns="0" tIns="0" bIns="0">
            <a:spAutoFit/>
          </a:bodyPr>
          <a:lstStyle/>
          <a:p>
            <a:pPr>
              <a:spcAft>
                <a:spcPts val="500"/>
              </a:spcAft>
              <a:defRPr sz="1800" b="1">
                <a:solidFill>
                  <a:srgbClr val="6945A3"/>
                </a:solidFill>
                <a:latin typeface="Lato"/>
              </a:defRPr>
            </a:pPr>
            <a:r>
              <a:t>SCHEDULE</a:t>
            </a:r>
          </a:p>
        </p:txBody>
      </p:sp>
      <p:sp>
        <p:nvSpPr>
          <p:cNvPr id="20" name="Rounded Rectangle 19"/>
          <p:cNvSpPr/>
          <p:nvPr/>
        </p:nvSpPr>
        <p:spPr>
          <a:xfrm>
            <a:off x="8439912" y="2423160"/>
            <a:ext cx="2843784" cy="758952"/>
          </a:xfrm>
          <a:prstGeom prst="roundRect">
            <a:avLst/>
          </a:prstGeom>
          <a:solidFill>
            <a:srgbClr val="FFFFFF"/>
          </a:solidFill>
          <a:ln w="15240">
            <a:solidFill>
              <a:srgbClr val="DD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595360" y="2606040"/>
            <a:ext cx="109728" cy="109728"/>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05672" y="2532888"/>
            <a:ext cx="2340863" cy="301752"/>
          </a:xfrm>
          <a:prstGeom prst="rect">
            <a:avLst/>
          </a:prstGeom>
          <a:noFill/>
        </p:spPr>
        <p:txBody>
          <a:bodyPr wrap="square" lIns="0" rIns="0" tIns="0" bIns="0">
            <a:spAutoFit/>
          </a:bodyPr>
          <a:lstStyle/>
          <a:p>
            <a:pPr>
              <a:spcAft>
                <a:spcPts val="500"/>
              </a:spcAft>
              <a:defRPr sz="1800" b="1">
                <a:solidFill>
                  <a:srgbClr val="6945A3"/>
                </a:solidFill>
                <a:latin typeface="Lato"/>
              </a:defRPr>
            </a:pPr>
            <a:r>
              <a:t>DUE QUEUE</a:t>
            </a:r>
          </a:p>
        </p:txBody>
      </p:sp>
      <p:sp>
        <p:nvSpPr>
          <p:cNvPr id="23" name="Rounded Rectangle 22"/>
          <p:cNvSpPr/>
          <p:nvPr/>
        </p:nvSpPr>
        <p:spPr>
          <a:xfrm>
            <a:off x="8439912" y="4361688"/>
            <a:ext cx="2843784" cy="758952"/>
          </a:xfrm>
          <a:prstGeom prst="roundRect">
            <a:avLst/>
          </a:prstGeom>
          <a:solidFill>
            <a:srgbClr val="FFFFFF"/>
          </a:solidFill>
          <a:ln w="15240">
            <a:solidFill>
              <a:srgbClr val="DD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595360" y="4544568"/>
            <a:ext cx="109728" cy="109728"/>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05672" y="4471416"/>
            <a:ext cx="2340863" cy="301752"/>
          </a:xfrm>
          <a:prstGeom prst="rect">
            <a:avLst/>
          </a:prstGeom>
          <a:noFill/>
        </p:spPr>
        <p:txBody>
          <a:bodyPr wrap="square" lIns="0" rIns="0" tIns="0" bIns="0">
            <a:spAutoFit/>
          </a:bodyPr>
          <a:lstStyle/>
          <a:p>
            <a:pPr>
              <a:spcAft>
                <a:spcPts val="500"/>
              </a:spcAft>
              <a:defRPr sz="1800" b="1">
                <a:solidFill>
                  <a:srgbClr val="6945A3"/>
                </a:solidFill>
                <a:latin typeface="Lato"/>
              </a:defRPr>
            </a:pPr>
            <a:r>
              <a:t>CONTACT</a:t>
            </a:r>
          </a:p>
        </p:txBody>
      </p:sp>
      <p:sp>
        <p:nvSpPr>
          <p:cNvPr id="26" name="Rounded Rectangle 25"/>
          <p:cNvSpPr/>
          <p:nvPr/>
        </p:nvSpPr>
        <p:spPr>
          <a:xfrm>
            <a:off x="4407408" y="4361688"/>
            <a:ext cx="2843784" cy="758952"/>
          </a:xfrm>
          <a:prstGeom prst="roundRect">
            <a:avLst/>
          </a:prstGeom>
          <a:solidFill>
            <a:srgbClr val="FFFFFF"/>
          </a:solidFill>
          <a:ln w="15240">
            <a:solidFill>
              <a:srgbClr val="DD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562856" y="4544568"/>
            <a:ext cx="109728" cy="109728"/>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73168" y="4471416"/>
            <a:ext cx="2340863" cy="301752"/>
          </a:xfrm>
          <a:prstGeom prst="rect">
            <a:avLst/>
          </a:prstGeom>
          <a:noFill/>
        </p:spPr>
        <p:txBody>
          <a:bodyPr wrap="square" lIns="0" rIns="0" tIns="0" bIns="0">
            <a:spAutoFit/>
          </a:bodyPr>
          <a:lstStyle/>
          <a:p>
            <a:pPr>
              <a:spcAft>
                <a:spcPts val="500"/>
              </a:spcAft>
              <a:defRPr sz="1800" b="1">
                <a:solidFill>
                  <a:srgbClr val="6945A3"/>
                </a:solidFill>
                <a:latin typeface="Lato"/>
              </a:defRPr>
            </a:pPr>
            <a:r>
              <a:t>RECORD OUTCOME</a:t>
            </a:r>
          </a:p>
        </p:txBody>
      </p:sp>
      <p:cxnSp>
        <p:nvCxnSpPr>
          <p:cNvPr id="29" name="Connector 28"/>
          <p:cNvCxnSpPr/>
          <p:nvPr/>
        </p:nvCxnSpPr>
        <p:spPr>
          <a:xfrm>
            <a:off x="7278624" y="2788920"/>
            <a:ext cx="978407" cy="0"/>
          </a:xfrm>
          <a:prstGeom prst="line">
            <a:avLst/>
          </a:prstGeom>
          <a:ln w="38100">
            <a:solidFill>
              <a:srgbClr val="6945A3"/>
            </a:solidFill>
          </a:ln>
        </p:spPr>
        <p:style>
          <a:lnRef idx="2">
            <a:schemeClr val="accent1"/>
          </a:lnRef>
          <a:fillRef idx="0">
            <a:schemeClr val="accent1"/>
          </a:fillRef>
          <a:effectRef idx="1">
            <a:schemeClr val="accent1"/>
          </a:effectRef>
          <a:fontRef idx="minor">
            <a:schemeClr val="tx1"/>
          </a:fontRef>
        </p:style>
      </p:cxnSp>
      <p:sp>
        <p:nvSpPr>
          <p:cNvPr id="30" name="Chevron 29"/>
          <p:cNvSpPr/>
          <p:nvPr/>
        </p:nvSpPr>
        <p:spPr>
          <a:xfrm>
            <a:off x="8028431" y="2688336"/>
            <a:ext cx="274320" cy="201168"/>
          </a:xfrm>
          <a:prstGeom prst="chevron">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9838944" y="3209544"/>
            <a:ext cx="0" cy="1051560"/>
          </a:xfrm>
          <a:prstGeom prst="line">
            <a:avLst/>
          </a:prstGeom>
          <a:ln w="38100">
            <a:solidFill>
              <a:srgbClr val="6945A3"/>
            </a:solidFill>
          </a:ln>
        </p:spPr>
        <p:style>
          <a:lnRef idx="2">
            <a:schemeClr val="accent1"/>
          </a:lnRef>
          <a:fillRef idx="0">
            <a:schemeClr val="accent1"/>
          </a:fillRef>
          <a:effectRef idx="1">
            <a:schemeClr val="accent1"/>
          </a:effectRef>
          <a:fontRef idx="minor">
            <a:schemeClr val="tx1"/>
          </a:fontRef>
        </p:style>
      </p:cxnSp>
      <p:sp>
        <p:nvSpPr>
          <p:cNvPr id="32" name="Down Arrow 31"/>
          <p:cNvSpPr/>
          <p:nvPr/>
        </p:nvSpPr>
        <p:spPr>
          <a:xfrm>
            <a:off x="9738360" y="3986784"/>
            <a:ext cx="201168" cy="274320"/>
          </a:xfrm>
          <a:prstGeom prst="downArrow">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flipH="1">
            <a:off x="7278624" y="4736592"/>
            <a:ext cx="1115568" cy="0"/>
          </a:xfrm>
          <a:prstGeom prst="line">
            <a:avLst/>
          </a:prstGeom>
          <a:ln w="38100">
            <a:solidFill>
              <a:srgbClr val="6945A3"/>
            </a:solidFill>
          </a:ln>
        </p:spPr>
        <p:style>
          <a:lnRef idx="2">
            <a:schemeClr val="accent1"/>
          </a:lnRef>
          <a:fillRef idx="0">
            <a:schemeClr val="accent1"/>
          </a:fillRef>
          <a:effectRef idx="1">
            <a:schemeClr val="accent1"/>
          </a:effectRef>
          <a:fontRef idx="minor">
            <a:schemeClr val="tx1"/>
          </a:fontRef>
        </p:style>
      </p:cxnSp>
      <p:sp>
        <p:nvSpPr>
          <p:cNvPr id="34" name="Chevron 33"/>
          <p:cNvSpPr/>
          <p:nvPr/>
        </p:nvSpPr>
        <p:spPr>
          <a:xfrm rot="10800000">
            <a:off x="7360920" y="4636008"/>
            <a:ext cx="274320" cy="201168"/>
          </a:xfrm>
          <a:prstGeom prst="chevron">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flipV="1">
            <a:off x="5797296" y="3282696"/>
            <a:ext cx="0" cy="1005840"/>
          </a:xfrm>
          <a:prstGeom prst="line">
            <a:avLst/>
          </a:prstGeom>
          <a:ln w="38100">
            <a:solidFill>
              <a:srgbClr val="6945A3"/>
            </a:solidFill>
          </a:ln>
        </p:spPr>
        <p:style>
          <a:lnRef idx="2">
            <a:schemeClr val="accent1"/>
          </a:lnRef>
          <a:fillRef idx="0">
            <a:schemeClr val="accent1"/>
          </a:fillRef>
          <a:effectRef idx="1">
            <a:schemeClr val="accent1"/>
          </a:effectRef>
          <a:fontRef idx="minor">
            <a:schemeClr val="tx1"/>
          </a:fontRef>
        </p:style>
      </p:cxnSp>
      <p:sp>
        <p:nvSpPr>
          <p:cNvPr id="36" name="Down Arrow 35"/>
          <p:cNvSpPr/>
          <p:nvPr/>
        </p:nvSpPr>
        <p:spPr>
          <a:xfrm rot="10800000">
            <a:off x="5696712" y="3383280"/>
            <a:ext cx="201168" cy="274320"/>
          </a:xfrm>
          <a:prstGeom prst="downArrow">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84264" y="3639312"/>
            <a:ext cx="1920240" cy="356616"/>
          </a:xfrm>
          <a:prstGeom prst="rect">
            <a:avLst/>
          </a:prstGeom>
          <a:noFill/>
        </p:spPr>
        <p:txBody>
          <a:bodyPr wrap="square" lIns="0" rIns="0" tIns="0" bIns="0">
            <a:spAutoFit/>
          </a:bodyPr>
          <a:lstStyle/>
          <a:p>
            <a:pPr algn="ctr">
              <a:spcAft>
                <a:spcPts val="500"/>
              </a:spcAft>
              <a:defRPr sz="1500" b="1">
                <a:solidFill>
                  <a:srgbClr val="6945A3"/>
                </a:solidFill>
                <a:latin typeface="Lato"/>
              </a:defRPr>
            </a:pPr>
            <a:r>
              <a:t>REPEAT</a:t>
            </a:r>
          </a:p>
        </p:txBody>
      </p:sp>
      <p:cxnSp>
        <p:nvCxnSpPr>
          <p:cNvPr id="38" name="Connector 37"/>
          <p:cNvCxnSpPr/>
          <p:nvPr/>
        </p:nvCxnSpPr>
        <p:spPr>
          <a:xfrm>
            <a:off x="576072" y="5888736"/>
            <a:ext cx="329184" cy="0"/>
          </a:xfrm>
          <a:prstGeom prst="line">
            <a:avLst/>
          </a:prstGeom>
          <a:ln w="38100">
            <a:solidFill>
              <a:srgbClr val="B65F2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60704" y="5724144"/>
            <a:ext cx="10332720" cy="448056"/>
          </a:xfrm>
          <a:prstGeom prst="rect">
            <a:avLst/>
          </a:prstGeom>
          <a:noFill/>
        </p:spPr>
        <p:txBody>
          <a:bodyPr wrap="square" lIns="0" rIns="0" tIns="0" bIns="0">
            <a:spAutoFit/>
          </a:bodyPr>
          <a:lstStyle/>
          <a:p>
            <a:pPr>
              <a:spcAft>
                <a:spcPts val="500"/>
              </a:spcAft>
              <a:defRPr sz="1500" b="1">
                <a:solidFill>
                  <a:srgbClr val="B65F20"/>
                </a:solidFill>
                <a:latin typeface="Lato"/>
              </a:defRPr>
            </a:pPr>
            <a:r>
              <a:t>CRE / PS selects a day; the current screen saves it at 23:59 IST. Coordinate the next caller.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PS/SO WORK</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Translate screen labels into sales events</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Lead status and sales outcome are separate fields.</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15 / 30</a:t>
            </a:r>
          </a:p>
        </p:txBody>
      </p:sp>
      <p:graphicFrame>
        <p:nvGraphicFramePr>
          <p:cNvPr id="8" name="Table 7"/>
          <p:cNvGraphicFramePr>
            <a:graphicFrameLocks noGrp="1"/>
          </p:cNvGraphicFramePr>
          <p:nvPr/>
        </p:nvGraphicFramePr>
        <p:xfrm>
          <a:off x="548640" y="2258568"/>
          <a:ext cx="11082528" cy="3264408"/>
        </p:xfrm>
        <a:graphic>
          <a:graphicData uri="http://schemas.openxmlformats.org/drawingml/2006/table">
            <a:tbl>
              <a:tblPr firstRow="1" bandRow="1">
                <a:tableStyleId>{5C22544A-7EE6-4342-B048-85BDC9FD1C3A}</a:tableStyleId>
              </a:tblPr>
              <a:tblGrid>
                <a:gridCol w="2743200"/>
                <a:gridCol w="2889504"/>
                <a:gridCol w="2862072"/>
                <a:gridCol w="2587752"/>
              </a:tblGrid>
              <a:tr h="544068">
                <a:tc>
                  <a:txBody>
                    <a:bodyPr/>
                    <a:lstStyle/>
                    <a:p>
                      <a:pPr>
                        <a:defRPr sz="1600" b="1">
                          <a:solidFill>
                            <a:srgbClr val="FFFFFF"/>
                          </a:solidFill>
                          <a:latin typeface="Lato"/>
                        </a:defRPr>
                      </a:pPr>
                      <a:r>
                        <a:t>Business event</a:t>
                      </a:r>
                    </a:p>
                  </a:txBody>
                  <a:tcPr anchor="ctr" marL="128016" marR="91440" marT="50292" marB="41148">
                    <a:solidFill>
                      <a:srgbClr val="2D1B38"/>
                    </a:solidFill>
                  </a:tcPr>
                </a:tc>
                <a:tc>
                  <a:txBody>
                    <a:bodyPr/>
                    <a:lstStyle/>
                    <a:p>
                      <a:pPr>
                        <a:defRPr sz="1600" b="1">
                          <a:solidFill>
                            <a:srgbClr val="FFFFFF"/>
                          </a:solidFill>
                          <a:latin typeface="Lato"/>
                        </a:defRPr>
                      </a:pPr>
                      <a:r>
                        <a:t>Screen choice</a:t>
                      </a:r>
                    </a:p>
                  </a:txBody>
                  <a:tcPr anchor="ctr" marL="128016" marR="91440" marT="50292" marB="41148">
                    <a:solidFill>
                      <a:srgbClr val="2D1B38"/>
                    </a:solidFill>
                  </a:tcPr>
                </a:tc>
                <a:tc>
                  <a:txBody>
                    <a:bodyPr/>
                    <a:lstStyle/>
                    <a:p>
                      <a:pPr>
                        <a:defRPr sz="1600" b="1">
                          <a:solidFill>
                            <a:srgbClr val="FFFFFF"/>
                          </a:solidFill>
                          <a:latin typeface="Lato"/>
                        </a:defRPr>
                      </a:pPr>
                      <a:r>
                        <a:t>Lead status</a:t>
                      </a:r>
                    </a:p>
                  </a:txBody>
                  <a:tcPr anchor="ctr" marL="128016" marR="91440" marT="50292" marB="41148">
                    <a:solidFill>
                      <a:srgbClr val="2D1B38"/>
                    </a:solidFill>
                  </a:tcPr>
                </a:tc>
                <a:tc>
                  <a:txBody>
                    <a:bodyPr/>
                    <a:lstStyle/>
                    <a:p>
                      <a:pPr>
                        <a:defRPr sz="1600" b="1">
                          <a:solidFill>
                            <a:srgbClr val="FFFFFF"/>
                          </a:solidFill>
                          <a:latin typeface="Lato"/>
                        </a:defRPr>
                      </a:pPr>
                      <a:r>
                        <a:t>Sales outcome</a:t>
                      </a:r>
                    </a:p>
                  </a:txBody>
                  <a:tcPr anchor="ctr" marL="128016" marR="91440" marT="50292" marB="41148">
                    <a:solidFill>
                      <a:srgbClr val="2D1B38"/>
                    </a:solidFill>
                  </a:tcPr>
                </a:tc>
              </a:tr>
              <a:tr h="544068">
                <a:tc>
                  <a:txBody>
                    <a:bodyPr/>
                    <a:lstStyle/>
                    <a:p>
                      <a:pPr>
                        <a:defRPr sz="1600" b="1">
                          <a:solidFill>
                            <a:srgbClr val="2D1B38"/>
                          </a:solidFill>
                          <a:latin typeface="Lato"/>
                        </a:defRPr>
                      </a:pPr>
                      <a:r>
                        <a:t>Ready for PS</a:t>
                      </a:r>
                    </a:p>
                  </a:txBody>
                  <a:tcPr anchor="ctr" marL="128016" marR="91440" marT="50292" marB="41148">
                    <a:solidFill>
                      <a:srgbClr val="FFFFFF"/>
                    </a:solidFill>
                  </a:tcPr>
                </a:tc>
                <a:tc>
                  <a:txBody>
                    <a:bodyPr/>
                    <a:lstStyle/>
                    <a:p>
                      <a:pPr>
                        <a:defRPr sz="1600" b="0">
                          <a:solidFill>
                            <a:srgbClr val="2D1B38"/>
                          </a:solidFill>
                          <a:latin typeface="Lato"/>
                        </a:defRPr>
                      </a:pPr>
                      <a:r>
                        <a:t>CRE: Qualified</a:t>
                      </a:r>
                    </a:p>
                  </a:txBody>
                  <a:tcPr anchor="ctr" marL="128016" marR="91440" marT="50292" marB="41148">
                    <a:solidFill>
                      <a:srgbClr val="FFFFFF"/>
                    </a:solidFill>
                  </a:tcPr>
                </a:tc>
                <a:tc>
                  <a:txBody>
                    <a:bodyPr/>
                    <a:lstStyle/>
                    <a:p>
                      <a:pPr>
                        <a:defRPr sz="1600" b="0">
                          <a:solidFill>
                            <a:srgbClr val="2D1B38"/>
                          </a:solidFill>
                          <a:latin typeface="Lato"/>
                        </a:defRPr>
                      </a:pPr>
                      <a:r>
                        <a:t>Qualified</a:t>
                      </a:r>
                    </a:p>
                  </a:txBody>
                  <a:tcPr anchor="ctr" marL="128016" marR="91440" marT="50292" marB="41148">
                    <a:solidFill>
                      <a:srgbClr val="FFFFFF"/>
                    </a:solidFill>
                  </a:tcPr>
                </a:tc>
                <a:tc>
                  <a:txBody>
                    <a:bodyPr/>
                    <a:lstStyle/>
                    <a:p>
                      <a:pPr>
                        <a:defRPr sz="1600" b="0">
                          <a:solidFill>
                            <a:srgbClr val="2D1B38"/>
                          </a:solidFill>
                          <a:latin typeface="Lato"/>
                        </a:defRPr>
                      </a:pPr>
                      <a:r>
                        <a:t>Pending</a:t>
                      </a:r>
                    </a:p>
                  </a:txBody>
                  <a:tcPr anchor="ctr" marL="128016" marR="91440" marT="50292" marB="41148">
                    <a:solidFill>
                      <a:srgbClr val="FFFFFF"/>
                    </a:solidFill>
                  </a:tcPr>
                </a:tc>
              </a:tr>
              <a:tr h="544068">
                <a:tc>
                  <a:txBody>
                    <a:bodyPr/>
                    <a:lstStyle/>
                    <a:p>
                      <a:pPr>
                        <a:defRPr sz="1600" b="1">
                          <a:solidFill>
                            <a:srgbClr val="2D1B38"/>
                          </a:solidFill>
                          <a:latin typeface="Lato"/>
                        </a:defRPr>
                      </a:pPr>
                      <a:r>
                        <a:t>Needs more contact</a:t>
                      </a:r>
                    </a:p>
                  </a:txBody>
                  <a:tcPr anchor="ctr" marL="128016" marR="91440" marT="50292" marB="41148">
                    <a:solidFill>
                      <a:srgbClr val="E8DDF4"/>
                    </a:solidFill>
                  </a:tcPr>
                </a:tc>
                <a:tc>
                  <a:txBody>
                    <a:bodyPr/>
                    <a:lstStyle/>
                    <a:p>
                      <a:pPr>
                        <a:defRPr sz="1600" b="0">
                          <a:solidFill>
                            <a:srgbClr val="2D1B38"/>
                          </a:solidFill>
                          <a:latin typeface="Lato"/>
                        </a:defRPr>
                      </a:pPr>
                      <a:r>
                        <a:t>Need time / Visit</a:t>
                      </a:r>
                    </a:p>
                  </a:txBody>
                  <a:tcPr anchor="ctr" marL="128016" marR="91440" marT="50292" marB="41148">
                    <a:solidFill>
                      <a:srgbClr val="E8DDF4"/>
                    </a:solidFill>
                  </a:tcPr>
                </a:tc>
                <a:tc>
                  <a:txBody>
                    <a:bodyPr/>
                    <a:lstStyle/>
                    <a:p>
                      <a:pPr>
                        <a:defRPr sz="1600" b="0">
                          <a:solidFill>
                            <a:srgbClr val="2D1B38"/>
                          </a:solidFill>
                          <a:latin typeface="Lato"/>
                        </a:defRPr>
                      </a:pPr>
                      <a:r>
                        <a:t>Pending</a:t>
                      </a:r>
                    </a:p>
                  </a:txBody>
                  <a:tcPr anchor="ctr" marL="128016" marR="91440" marT="50292" marB="41148">
                    <a:solidFill>
                      <a:srgbClr val="E8DDF4"/>
                    </a:solidFill>
                  </a:tcPr>
                </a:tc>
                <a:tc>
                  <a:txBody>
                    <a:bodyPr/>
                    <a:lstStyle/>
                    <a:p>
                      <a:pPr>
                        <a:defRPr sz="1600" b="0">
                          <a:solidFill>
                            <a:srgbClr val="2D1B38"/>
                          </a:solidFill>
                          <a:latin typeface="Lato"/>
                        </a:defRPr>
                      </a:pPr>
                      <a:r>
                        <a:t>Pending</a:t>
                      </a:r>
                    </a:p>
                  </a:txBody>
                  <a:tcPr anchor="ctr" marL="128016" marR="91440" marT="50292" marB="41148">
                    <a:solidFill>
                      <a:srgbClr val="E8DDF4"/>
                    </a:solidFill>
                  </a:tcPr>
                </a:tc>
              </a:tr>
              <a:tr h="544068">
                <a:tc>
                  <a:txBody>
                    <a:bodyPr/>
                    <a:lstStyle/>
                    <a:p>
                      <a:pPr>
                        <a:defRPr sz="1600" b="1">
                          <a:solidFill>
                            <a:srgbClr val="2D1B38"/>
                          </a:solidFill>
                          <a:latin typeface="Lato"/>
                        </a:defRPr>
                      </a:pPr>
                      <a:r>
                        <a:t>Booking confirmed</a:t>
                      </a:r>
                    </a:p>
                  </a:txBody>
                  <a:tcPr anchor="ctr" marL="128016" marR="91440" marT="50292" marB="41148">
                    <a:solidFill>
                      <a:srgbClr val="FFFFFF"/>
                    </a:solidFill>
                  </a:tcPr>
                </a:tc>
                <a:tc>
                  <a:txBody>
                    <a:bodyPr/>
                    <a:lstStyle/>
                    <a:p>
                      <a:pPr>
                        <a:defRPr sz="1600" b="0">
                          <a:solidFill>
                            <a:srgbClr val="2D1B38"/>
                          </a:solidFill>
                          <a:latin typeface="Lato"/>
                        </a:defRPr>
                      </a:pPr>
                      <a:r>
                        <a:t>Booking Done</a:t>
                      </a:r>
                    </a:p>
                  </a:txBody>
                  <a:tcPr anchor="ctr" marL="128016" marR="91440" marT="50292" marB="41148">
                    <a:solidFill>
                      <a:srgbClr val="FFFFFF"/>
                    </a:solidFill>
                  </a:tcPr>
                </a:tc>
                <a:tc>
                  <a:txBody>
                    <a:bodyPr/>
                    <a:lstStyle/>
                    <a:p>
                      <a:pPr>
                        <a:defRPr sz="1600" b="0">
                          <a:solidFill>
                            <a:srgbClr val="2D1B38"/>
                          </a:solidFill>
                          <a:latin typeface="Lato"/>
                        </a:defRPr>
                      </a:pPr>
                      <a:r>
                        <a:t>Walk-in / Booked</a:t>
                      </a:r>
                    </a:p>
                  </a:txBody>
                  <a:tcPr anchor="ctr" marL="128016" marR="91440" marT="50292" marB="41148">
                    <a:solidFill>
                      <a:srgbClr val="FFFFFF"/>
                    </a:solidFill>
                  </a:tcPr>
                </a:tc>
                <a:tc>
                  <a:txBody>
                    <a:bodyPr/>
                    <a:lstStyle/>
                    <a:p>
                      <a:pPr>
                        <a:defRPr sz="1600" b="0">
                          <a:solidFill>
                            <a:srgbClr val="2D1B38"/>
                          </a:solidFill>
                          <a:latin typeface="Lato"/>
                        </a:defRPr>
                      </a:pPr>
                      <a:r>
                        <a:t>Booked</a:t>
                      </a:r>
                    </a:p>
                  </a:txBody>
                  <a:tcPr anchor="ctr" marL="128016" marR="91440" marT="50292" marB="41148">
                    <a:solidFill>
                      <a:srgbClr val="FFFFFF"/>
                    </a:solidFill>
                  </a:tcPr>
                </a:tc>
              </a:tr>
              <a:tr h="544068">
                <a:tc>
                  <a:txBody>
                    <a:bodyPr/>
                    <a:lstStyle/>
                    <a:p>
                      <a:pPr>
                        <a:defRPr sz="1600" b="1">
                          <a:solidFill>
                            <a:srgbClr val="2D1B38"/>
                          </a:solidFill>
                          <a:latin typeface="Lato"/>
                        </a:defRPr>
                      </a:pPr>
                      <a:r>
                        <a:t>Sale completed</a:t>
                      </a:r>
                    </a:p>
                  </a:txBody>
                  <a:tcPr anchor="ctr" marL="128016" marR="91440" marT="50292" marB="41148">
                    <a:solidFill>
                      <a:srgbClr val="E8DDF4"/>
                    </a:solidFill>
                  </a:tcPr>
                </a:tc>
                <a:tc>
                  <a:txBody>
                    <a:bodyPr/>
                    <a:lstStyle/>
                    <a:p>
                      <a:pPr>
                        <a:defRPr sz="1600" b="0">
                          <a:solidFill>
                            <a:srgbClr val="2D1B38"/>
                          </a:solidFill>
                          <a:latin typeface="Lato"/>
                        </a:defRPr>
                      </a:pPr>
                      <a:r>
                        <a:t>Retail Done</a:t>
                      </a:r>
                    </a:p>
                  </a:txBody>
                  <a:tcPr anchor="ctr" marL="128016" marR="91440" marT="50292" marB="41148">
                    <a:solidFill>
                      <a:srgbClr val="E8DDF4"/>
                    </a:solidFill>
                  </a:tcPr>
                </a:tc>
                <a:tc>
                  <a:txBody>
                    <a:bodyPr/>
                    <a:lstStyle/>
                    <a:p>
                      <a:pPr>
                        <a:defRPr sz="1600" b="0">
                          <a:solidFill>
                            <a:srgbClr val="2D1B38"/>
                          </a:solidFill>
                          <a:latin typeface="Lato"/>
                        </a:defRPr>
                      </a:pPr>
                      <a:r>
                        <a:t>Won / Retailed</a:t>
                      </a:r>
                    </a:p>
                  </a:txBody>
                  <a:tcPr anchor="ctr" marL="128016" marR="91440" marT="50292" marB="41148">
                    <a:solidFill>
                      <a:srgbClr val="E8DDF4"/>
                    </a:solidFill>
                  </a:tcPr>
                </a:tc>
                <a:tc>
                  <a:txBody>
                    <a:bodyPr/>
                    <a:lstStyle/>
                    <a:p>
                      <a:pPr>
                        <a:defRPr sz="1600" b="0">
                          <a:solidFill>
                            <a:srgbClr val="2D1B38"/>
                          </a:solidFill>
                          <a:latin typeface="Lato"/>
                        </a:defRPr>
                      </a:pPr>
                      <a:r>
                        <a:t>Retailed</a:t>
                      </a:r>
                    </a:p>
                  </a:txBody>
                  <a:tcPr anchor="ctr" marL="128016" marR="91440" marT="50292" marB="41148">
                    <a:solidFill>
                      <a:srgbClr val="E8DDF4"/>
                    </a:solidFill>
                  </a:tcPr>
                </a:tc>
              </a:tr>
              <a:tr h="544068">
                <a:tc>
                  <a:txBody>
                    <a:bodyPr/>
                    <a:lstStyle/>
                    <a:p>
                      <a:pPr>
                        <a:defRPr sz="1600" b="1">
                          <a:solidFill>
                            <a:srgbClr val="2D1B38"/>
                          </a:solidFill>
                          <a:latin typeface="Lato"/>
                        </a:defRPr>
                      </a:pPr>
                      <a:r>
                        <a:t>Customer lost</a:t>
                      </a:r>
                    </a:p>
                  </a:txBody>
                  <a:tcPr anchor="ctr" marL="128016" marR="91440" marT="50292" marB="41148">
                    <a:solidFill>
                      <a:srgbClr val="FFFFFF"/>
                    </a:solidFill>
                  </a:tcPr>
                </a:tc>
                <a:tc>
                  <a:txBody>
                    <a:bodyPr/>
                    <a:lstStyle/>
                    <a:p>
                      <a:pPr>
                        <a:defRPr sz="1600" b="0">
                          <a:solidFill>
                            <a:srgbClr val="2D1B38"/>
                          </a:solidFill>
                          <a:latin typeface="Lato"/>
                        </a:defRPr>
                      </a:pPr>
                      <a:r>
                        <a:t>Loss outcome</a:t>
                      </a:r>
                    </a:p>
                  </a:txBody>
                  <a:tcPr anchor="ctr" marL="128016" marR="91440" marT="50292" marB="41148">
                    <a:solidFill>
                      <a:srgbClr val="FFFFFF"/>
                    </a:solidFill>
                  </a:tcPr>
                </a:tc>
                <a:tc>
                  <a:txBody>
                    <a:bodyPr/>
                    <a:lstStyle/>
                    <a:p>
                      <a:pPr>
                        <a:defRPr sz="1600" b="0">
                          <a:solidFill>
                            <a:srgbClr val="2D1B38"/>
                          </a:solidFill>
                          <a:latin typeface="Lato"/>
                        </a:defRPr>
                      </a:pPr>
                      <a:r>
                        <a:t>Lost</a:t>
                      </a:r>
                    </a:p>
                  </a:txBody>
                  <a:tcPr anchor="ctr" marL="128016" marR="91440" marT="50292" marB="41148">
                    <a:solidFill>
                      <a:srgbClr val="FFFFFF"/>
                    </a:solidFill>
                  </a:tcPr>
                </a:tc>
                <a:tc>
                  <a:txBody>
                    <a:bodyPr/>
                    <a:lstStyle/>
                    <a:p>
                      <a:pPr>
                        <a:defRPr sz="1600" b="0">
                          <a:solidFill>
                            <a:srgbClr val="2D1B38"/>
                          </a:solidFill>
                          <a:latin typeface="Lato"/>
                        </a:defRPr>
                      </a:pPr>
                      <a:r>
                        <a:t>Lost</a:t>
                      </a:r>
                    </a:p>
                  </a:txBody>
                  <a:tcPr anchor="ctr" marL="128016" marR="91440" marT="50292" marB="41148">
                    <a:solidFill>
                      <a:srgbClr val="FFFFFF"/>
                    </a:solidFill>
                  </a:tcPr>
                </a:tc>
              </a:tr>
            </a:tbl>
          </a:graphicData>
        </a:graphic>
      </p:graphicFrame>
      <p:cxnSp>
        <p:nvCxnSpPr>
          <p:cNvPr id="9" name="Connector 8"/>
          <p:cNvCxnSpPr/>
          <p:nvPr/>
        </p:nvCxnSpPr>
        <p:spPr>
          <a:xfrm>
            <a:off x="576072" y="5888736"/>
            <a:ext cx="329184" cy="0"/>
          </a:xfrm>
          <a:prstGeom prst="line">
            <a:avLst/>
          </a:prstGeom>
          <a:ln w="38100">
            <a:solidFill>
              <a:srgbClr val="6945A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60704" y="5724144"/>
            <a:ext cx="10332720" cy="448056"/>
          </a:xfrm>
          <a:prstGeom prst="rect">
            <a:avLst/>
          </a:prstGeom>
          <a:noFill/>
        </p:spPr>
        <p:txBody>
          <a:bodyPr wrap="square" lIns="0" rIns="0" tIns="0" bIns="0">
            <a:spAutoFit/>
          </a:bodyPr>
          <a:lstStyle/>
          <a:p>
            <a:pPr>
              <a:spcAft>
                <a:spcPts val="500"/>
              </a:spcAft>
              <a:defRPr sz="1500" b="1">
                <a:solidFill>
                  <a:srgbClr val="6945A3"/>
                </a:solidFill>
                <a:latin typeface="Lato"/>
              </a:defRPr>
            </a:pPr>
            <a:r>
              <a:t>A Walk-in source is different from the Walk-in / Booked status.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LIVE DEMO</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Five scenarios to demonstrate</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For each: starting record → staff action → saved result.</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16 / 30</a:t>
            </a:r>
          </a:p>
        </p:txBody>
      </p:sp>
      <p:sp>
        <p:nvSpPr>
          <p:cNvPr id="8" name="Oval 7"/>
          <p:cNvSpPr/>
          <p:nvPr/>
        </p:nvSpPr>
        <p:spPr>
          <a:xfrm>
            <a:off x="731520" y="2240280"/>
            <a:ext cx="329184" cy="329184"/>
          </a:xfrm>
          <a:prstGeom prst="ellipse">
            <a:avLst/>
          </a:prstGeom>
          <a:solidFill>
            <a:srgbClr val="2477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86000"/>
            <a:ext cx="237744" cy="228600"/>
          </a:xfrm>
          <a:prstGeom prst="rect">
            <a:avLst/>
          </a:prstGeom>
          <a:noFill/>
        </p:spPr>
        <p:txBody>
          <a:bodyPr wrap="square" lIns="0" rIns="0" tIns="0" bIns="0">
            <a:spAutoFit/>
          </a:bodyPr>
          <a:lstStyle/>
          <a:p>
            <a:pPr algn="ctr">
              <a:spcAft>
                <a:spcPts val="500"/>
              </a:spcAft>
              <a:defRPr sz="1200" b="1">
                <a:solidFill>
                  <a:srgbClr val="FFFFFF"/>
                </a:solidFill>
                <a:latin typeface="Lato"/>
              </a:defRPr>
            </a:pPr>
            <a:r>
              <a:t>1</a:t>
            </a:r>
          </a:p>
        </p:txBody>
      </p:sp>
      <p:sp>
        <p:nvSpPr>
          <p:cNvPr id="10" name="TextBox 9"/>
          <p:cNvSpPr txBox="1"/>
          <p:nvPr/>
        </p:nvSpPr>
        <p:spPr>
          <a:xfrm>
            <a:off x="1316736" y="2258568"/>
            <a:ext cx="4389120" cy="356616"/>
          </a:xfrm>
          <a:prstGeom prst="rect">
            <a:avLst/>
          </a:prstGeom>
          <a:noFill/>
        </p:spPr>
        <p:txBody>
          <a:bodyPr wrap="square" lIns="0" rIns="0" tIns="0" bIns="0">
            <a:spAutoFit/>
          </a:bodyPr>
          <a:lstStyle/>
          <a:p>
            <a:pPr>
              <a:spcAft>
                <a:spcPts val="500"/>
              </a:spcAft>
              <a:defRPr sz="2100" b="1">
                <a:solidFill>
                  <a:srgbClr val="24776D"/>
                </a:solidFill>
                <a:latin typeface="Lato"/>
              </a:defRPr>
            </a:pPr>
            <a:r>
              <a:t>CRE → Qualified</a:t>
            </a:r>
          </a:p>
        </p:txBody>
      </p:sp>
      <p:sp>
        <p:nvSpPr>
          <p:cNvPr id="11" name="TextBox 10"/>
          <p:cNvSpPr txBox="1"/>
          <p:nvPr/>
        </p:nvSpPr>
        <p:spPr>
          <a:xfrm>
            <a:off x="5998464" y="2313432"/>
            <a:ext cx="5257800" cy="320040"/>
          </a:xfrm>
          <a:prstGeom prst="rect">
            <a:avLst/>
          </a:prstGeom>
          <a:noFill/>
        </p:spPr>
        <p:txBody>
          <a:bodyPr wrap="square" lIns="0" rIns="0" tIns="0" bIns="0">
            <a:spAutoFit/>
          </a:bodyPr>
          <a:lstStyle/>
          <a:p>
            <a:pPr>
              <a:spcAft>
                <a:spcPts val="500"/>
              </a:spcAft>
              <a:defRPr sz="1800" b="0">
                <a:solidFill>
                  <a:srgbClr val="776B80"/>
                </a:solidFill>
                <a:latin typeface="Lato"/>
              </a:defRPr>
            </a:pPr>
            <a:r>
              <a:t>Qualification + branch + named PS</a:t>
            </a:r>
          </a:p>
        </p:txBody>
      </p:sp>
      <p:sp>
        <p:nvSpPr>
          <p:cNvPr id="12" name="Oval 11"/>
          <p:cNvSpPr/>
          <p:nvPr/>
        </p:nvSpPr>
        <p:spPr>
          <a:xfrm>
            <a:off x="731520" y="2862072"/>
            <a:ext cx="329184" cy="329184"/>
          </a:xfrm>
          <a:prstGeom prst="ellipse">
            <a:avLst/>
          </a:prstGeom>
          <a:solidFill>
            <a:srgbClr val="AD40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907792"/>
            <a:ext cx="237744" cy="228600"/>
          </a:xfrm>
          <a:prstGeom prst="rect">
            <a:avLst/>
          </a:prstGeom>
          <a:noFill/>
        </p:spPr>
        <p:txBody>
          <a:bodyPr wrap="square" lIns="0" rIns="0" tIns="0" bIns="0">
            <a:spAutoFit/>
          </a:bodyPr>
          <a:lstStyle/>
          <a:p>
            <a:pPr algn="ctr">
              <a:spcAft>
                <a:spcPts val="500"/>
              </a:spcAft>
              <a:defRPr sz="1200" b="1">
                <a:solidFill>
                  <a:srgbClr val="FFFFFF"/>
                </a:solidFill>
                <a:latin typeface="Lato"/>
              </a:defRPr>
            </a:pPr>
            <a:r>
              <a:t>2</a:t>
            </a:r>
          </a:p>
        </p:txBody>
      </p:sp>
      <p:sp>
        <p:nvSpPr>
          <p:cNvPr id="14" name="TextBox 13"/>
          <p:cNvSpPr txBox="1"/>
          <p:nvPr/>
        </p:nvSpPr>
        <p:spPr>
          <a:xfrm>
            <a:off x="1316736" y="2880360"/>
            <a:ext cx="4389120" cy="356616"/>
          </a:xfrm>
          <a:prstGeom prst="rect">
            <a:avLst/>
          </a:prstGeom>
          <a:noFill/>
        </p:spPr>
        <p:txBody>
          <a:bodyPr wrap="square" lIns="0" rIns="0" tIns="0" bIns="0">
            <a:spAutoFit/>
          </a:bodyPr>
          <a:lstStyle/>
          <a:p>
            <a:pPr>
              <a:spcAft>
                <a:spcPts val="500"/>
              </a:spcAft>
              <a:defRPr sz="2100" b="1">
                <a:solidFill>
                  <a:srgbClr val="AD405D"/>
                </a:solidFill>
                <a:latin typeface="Lato"/>
              </a:defRPr>
            </a:pPr>
            <a:r>
              <a:t>CRE → Lost</a:t>
            </a:r>
          </a:p>
        </p:txBody>
      </p:sp>
      <p:sp>
        <p:nvSpPr>
          <p:cNvPr id="15" name="TextBox 14"/>
          <p:cNvSpPr txBox="1"/>
          <p:nvPr/>
        </p:nvSpPr>
        <p:spPr>
          <a:xfrm>
            <a:off x="5998464" y="2935224"/>
            <a:ext cx="5257800" cy="320040"/>
          </a:xfrm>
          <a:prstGeom prst="rect">
            <a:avLst/>
          </a:prstGeom>
          <a:noFill/>
        </p:spPr>
        <p:txBody>
          <a:bodyPr wrap="square" lIns="0" rIns="0" tIns="0" bIns="0">
            <a:spAutoFit/>
          </a:bodyPr>
          <a:lstStyle/>
          <a:p>
            <a:pPr>
              <a:spcAft>
                <a:spcPts val="500"/>
              </a:spcAft>
              <a:defRPr sz="1800" b="0">
                <a:solidFill>
                  <a:srgbClr val="776B80"/>
                </a:solidFill>
                <a:latin typeface="Lato"/>
              </a:defRPr>
            </a:pPr>
            <a:r>
              <a:t>Loss reason + customer remarks</a:t>
            </a:r>
          </a:p>
        </p:txBody>
      </p:sp>
      <p:sp>
        <p:nvSpPr>
          <p:cNvPr id="16" name="Oval 15"/>
          <p:cNvSpPr/>
          <p:nvPr/>
        </p:nvSpPr>
        <p:spPr>
          <a:xfrm>
            <a:off x="731520" y="3483864"/>
            <a:ext cx="329184" cy="329184"/>
          </a:xfrm>
          <a:prstGeom prst="ellipse">
            <a:avLst/>
          </a:prstGeom>
          <a:solidFill>
            <a:srgbClr val="B65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529584"/>
            <a:ext cx="237744" cy="228600"/>
          </a:xfrm>
          <a:prstGeom prst="rect">
            <a:avLst/>
          </a:prstGeom>
          <a:noFill/>
        </p:spPr>
        <p:txBody>
          <a:bodyPr wrap="square" lIns="0" rIns="0" tIns="0" bIns="0">
            <a:spAutoFit/>
          </a:bodyPr>
          <a:lstStyle/>
          <a:p>
            <a:pPr algn="ctr">
              <a:spcAft>
                <a:spcPts val="500"/>
              </a:spcAft>
              <a:defRPr sz="1200" b="1">
                <a:solidFill>
                  <a:srgbClr val="FFFFFF"/>
                </a:solidFill>
                <a:latin typeface="Lato"/>
              </a:defRPr>
            </a:pPr>
            <a:r>
              <a:t>3</a:t>
            </a:r>
          </a:p>
        </p:txBody>
      </p:sp>
      <p:sp>
        <p:nvSpPr>
          <p:cNvPr id="18" name="TextBox 17"/>
          <p:cNvSpPr txBox="1"/>
          <p:nvPr/>
        </p:nvSpPr>
        <p:spPr>
          <a:xfrm>
            <a:off x="1316736" y="3502152"/>
            <a:ext cx="4389120" cy="356616"/>
          </a:xfrm>
          <a:prstGeom prst="rect">
            <a:avLst/>
          </a:prstGeom>
          <a:noFill/>
        </p:spPr>
        <p:txBody>
          <a:bodyPr wrap="square" lIns="0" rIns="0" tIns="0" bIns="0">
            <a:spAutoFit/>
          </a:bodyPr>
          <a:lstStyle/>
          <a:p>
            <a:pPr>
              <a:spcAft>
                <a:spcPts val="500"/>
              </a:spcAft>
              <a:defRPr sz="2100" b="1">
                <a:solidFill>
                  <a:srgbClr val="B65F20"/>
                </a:solidFill>
                <a:latin typeface="Lato"/>
              </a:defRPr>
            </a:pPr>
            <a:r>
              <a:t>Qualified → PS follow-up</a:t>
            </a:r>
          </a:p>
        </p:txBody>
      </p:sp>
      <p:sp>
        <p:nvSpPr>
          <p:cNvPr id="19" name="TextBox 18"/>
          <p:cNvSpPr txBox="1"/>
          <p:nvPr/>
        </p:nvSpPr>
        <p:spPr>
          <a:xfrm>
            <a:off x="5998464" y="3557016"/>
            <a:ext cx="5257800" cy="320040"/>
          </a:xfrm>
          <a:prstGeom prst="rect">
            <a:avLst/>
          </a:prstGeom>
          <a:noFill/>
        </p:spPr>
        <p:txBody>
          <a:bodyPr wrap="square" lIns="0" rIns="0" tIns="0" bIns="0">
            <a:spAutoFit/>
          </a:bodyPr>
          <a:lstStyle/>
          <a:p>
            <a:pPr>
              <a:spcAft>
                <a:spcPts val="500"/>
              </a:spcAft>
              <a:defRPr sz="1800" b="0">
                <a:solidFill>
                  <a:srgbClr val="776B80"/>
                </a:solidFill>
                <a:latin typeface="Lato"/>
              </a:defRPr>
            </a:pPr>
            <a:r>
              <a:t>Next action + scheduled date</a:t>
            </a:r>
          </a:p>
        </p:txBody>
      </p:sp>
      <p:sp>
        <p:nvSpPr>
          <p:cNvPr id="20" name="Oval 19"/>
          <p:cNvSpPr/>
          <p:nvPr/>
        </p:nvSpPr>
        <p:spPr>
          <a:xfrm>
            <a:off x="731520" y="4105656"/>
            <a:ext cx="329184" cy="329184"/>
          </a:xfrm>
          <a:prstGeom prst="ellipse">
            <a:avLst/>
          </a:prstGeom>
          <a:solidFill>
            <a:srgbClr val="AD40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151376"/>
            <a:ext cx="237744" cy="228600"/>
          </a:xfrm>
          <a:prstGeom prst="rect">
            <a:avLst/>
          </a:prstGeom>
          <a:noFill/>
        </p:spPr>
        <p:txBody>
          <a:bodyPr wrap="square" lIns="0" rIns="0" tIns="0" bIns="0">
            <a:spAutoFit/>
          </a:bodyPr>
          <a:lstStyle/>
          <a:p>
            <a:pPr algn="ctr">
              <a:spcAft>
                <a:spcPts val="500"/>
              </a:spcAft>
              <a:defRPr sz="1200" b="1">
                <a:solidFill>
                  <a:srgbClr val="FFFFFF"/>
                </a:solidFill>
                <a:latin typeface="Lato"/>
              </a:defRPr>
            </a:pPr>
            <a:r>
              <a:t>4</a:t>
            </a:r>
          </a:p>
        </p:txBody>
      </p:sp>
      <p:sp>
        <p:nvSpPr>
          <p:cNvPr id="22" name="TextBox 21"/>
          <p:cNvSpPr txBox="1"/>
          <p:nvPr/>
        </p:nvSpPr>
        <p:spPr>
          <a:xfrm>
            <a:off x="1316736" y="4123944"/>
            <a:ext cx="4389120" cy="356616"/>
          </a:xfrm>
          <a:prstGeom prst="rect">
            <a:avLst/>
          </a:prstGeom>
          <a:noFill/>
        </p:spPr>
        <p:txBody>
          <a:bodyPr wrap="square" lIns="0" rIns="0" tIns="0" bIns="0">
            <a:spAutoFit/>
          </a:bodyPr>
          <a:lstStyle/>
          <a:p>
            <a:pPr>
              <a:spcAft>
                <a:spcPts val="500"/>
              </a:spcAft>
              <a:defRPr sz="2100" b="1">
                <a:solidFill>
                  <a:srgbClr val="AD405D"/>
                </a:solidFill>
                <a:latin typeface="Lato"/>
              </a:defRPr>
            </a:pPr>
            <a:r>
              <a:t>Qualified → PS Lost</a:t>
            </a:r>
          </a:p>
        </p:txBody>
      </p:sp>
      <p:sp>
        <p:nvSpPr>
          <p:cNvPr id="23" name="TextBox 22"/>
          <p:cNvSpPr txBox="1"/>
          <p:nvPr/>
        </p:nvSpPr>
        <p:spPr>
          <a:xfrm>
            <a:off x="5998464" y="4178808"/>
            <a:ext cx="5257800" cy="320040"/>
          </a:xfrm>
          <a:prstGeom prst="rect">
            <a:avLst/>
          </a:prstGeom>
          <a:noFill/>
        </p:spPr>
        <p:txBody>
          <a:bodyPr wrap="square" lIns="0" rIns="0" tIns="0" bIns="0">
            <a:spAutoFit/>
          </a:bodyPr>
          <a:lstStyle/>
          <a:p>
            <a:pPr>
              <a:spcAft>
                <a:spcPts val="500"/>
              </a:spcAft>
              <a:defRPr sz="1800" b="0">
                <a:solidFill>
                  <a:srgbClr val="776B80"/>
                </a:solidFill>
                <a:latin typeface="Lato"/>
              </a:defRPr>
            </a:pPr>
            <a:r>
              <a:t>Sales loss + retained CRE history</a:t>
            </a:r>
          </a:p>
        </p:txBody>
      </p:sp>
      <p:sp>
        <p:nvSpPr>
          <p:cNvPr id="24" name="Oval 23"/>
          <p:cNvSpPr/>
          <p:nvPr/>
        </p:nvSpPr>
        <p:spPr>
          <a:xfrm>
            <a:off x="731520" y="4727448"/>
            <a:ext cx="329184" cy="329184"/>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773168"/>
            <a:ext cx="237744" cy="228600"/>
          </a:xfrm>
          <a:prstGeom prst="rect">
            <a:avLst/>
          </a:prstGeom>
          <a:noFill/>
        </p:spPr>
        <p:txBody>
          <a:bodyPr wrap="square" lIns="0" rIns="0" tIns="0" bIns="0">
            <a:spAutoFit/>
          </a:bodyPr>
          <a:lstStyle/>
          <a:p>
            <a:pPr algn="ctr">
              <a:spcAft>
                <a:spcPts val="500"/>
              </a:spcAft>
              <a:defRPr sz="1200" b="1">
                <a:solidFill>
                  <a:srgbClr val="FFFFFF"/>
                </a:solidFill>
                <a:latin typeface="Lato"/>
              </a:defRPr>
            </a:pPr>
            <a:r>
              <a:t>5</a:t>
            </a:r>
          </a:p>
        </p:txBody>
      </p:sp>
      <p:sp>
        <p:nvSpPr>
          <p:cNvPr id="26" name="TextBox 25"/>
          <p:cNvSpPr txBox="1"/>
          <p:nvPr/>
        </p:nvSpPr>
        <p:spPr>
          <a:xfrm>
            <a:off x="1316736" y="4745736"/>
            <a:ext cx="4389120" cy="356616"/>
          </a:xfrm>
          <a:prstGeom prst="rect">
            <a:avLst/>
          </a:prstGeom>
          <a:noFill/>
        </p:spPr>
        <p:txBody>
          <a:bodyPr wrap="square" lIns="0" rIns="0" tIns="0" bIns="0">
            <a:spAutoFit/>
          </a:bodyPr>
          <a:lstStyle/>
          <a:p>
            <a:pPr>
              <a:spcAft>
                <a:spcPts val="500"/>
              </a:spcAft>
              <a:defRPr sz="2100" b="1">
                <a:solidFill>
                  <a:srgbClr val="6945A3"/>
                </a:solidFill>
                <a:latin typeface="Lato"/>
              </a:defRPr>
            </a:pPr>
            <a:r>
              <a:t>CRE → Complaint</a:t>
            </a:r>
          </a:p>
        </p:txBody>
      </p:sp>
      <p:sp>
        <p:nvSpPr>
          <p:cNvPr id="27" name="TextBox 26"/>
          <p:cNvSpPr txBox="1"/>
          <p:nvPr/>
        </p:nvSpPr>
        <p:spPr>
          <a:xfrm>
            <a:off x="5998464" y="4800600"/>
            <a:ext cx="5257800" cy="320040"/>
          </a:xfrm>
          <a:prstGeom prst="rect">
            <a:avLst/>
          </a:prstGeom>
          <a:noFill/>
        </p:spPr>
        <p:txBody>
          <a:bodyPr wrap="square" lIns="0" rIns="0" tIns="0" bIns="0">
            <a:spAutoFit/>
          </a:bodyPr>
          <a:lstStyle/>
          <a:p>
            <a:pPr>
              <a:spcAft>
                <a:spcPts val="500"/>
              </a:spcAft>
              <a:defRPr sz="1800" b="0">
                <a:solidFill>
                  <a:srgbClr val="776B80"/>
                </a:solidFill>
                <a:latin typeface="Lato"/>
              </a:defRPr>
            </a:pPr>
            <a:r>
              <a:t>Ticket + complaints-team resolution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LIVE SCENARIO</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01 / CRE qualifies the enquiry</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DEMO ASHA: “I have decided on a model and want to discuss buying.”</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17 / 30</a:t>
            </a:r>
          </a:p>
        </p:txBody>
      </p:sp>
      <p:sp>
        <p:nvSpPr>
          <p:cNvPr id="8" name="Rounded Rectangle 7"/>
          <p:cNvSpPr/>
          <p:nvPr/>
        </p:nvSpPr>
        <p:spPr>
          <a:xfrm>
            <a:off x="566928" y="2240280"/>
            <a:ext cx="7635240" cy="326440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097280" y="2971800"/>
            <a:ext cx="5486400" cy="0"/>
          </a:xfrm>
          <a:prstGeom prst="line">
            <a:avLst/>
          </a:prstGeom>
          <a:ln w="63500">
            <a:solidFill>
              <a:srgbClr val="DDD4E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04671" y="2679192"/>
            <a:ext cx="585216" cy="585216"/>
          </a:xfrm>
          <a:prstGeom prst="ellipse">
            <a:avLst/>
          </a:prstGeom>
          <a:solidFill>
            <a:srgbClr val="E8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8882" y="2785628"/>
            <a:ext cx="136794" cy="136794"/>
          </a:xfrm>
          <a:prstGeom prst="ellipse">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flipV="1">
            <a:off x="964509" y="3027029"/>
            <a:ext cx="0" cy="96561"/>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964509" y="2970702"/>
            <a:ext cx="72420" cy="56327"/>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36929" y="2970702"/>
            <a:ext cx="120701"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57630" y="2970702"/>
            <a:ext cx="72420" cy="56327"/>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30050" y="3027029"/>
            <a:ext cx="0" cy="96561"/>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04671" y="3557016"/>
            <a:ext cx="1655064" cy="566928"/>
          </a:xfrm>
          <a:prstGeom prst="rect">
            <a:avLst/>
          </a:prstGeom>
          <a:noFill/>
        </p:spPr>
        <p:txBody>
          <a:bodyPr wrap="square" lIns="0" rIns="0" tIns="0" bIns="0">
            <a:spAutoFit/>
          </a:bodyPr>
          <a:lstStyle/>
          <a:p>
            <a:pPr>
              <a:spcAft>
                <a:spcPts val="500"/>
              </a:spcAft>
              <a:defRPr sz="2000" b="1">
                <a:solidFill>
                  <a:srgbClr val="2D1B38"/>
                </a:solidFill>
                <a:latin typeface="Lato"/>
              </a:defRPr>
            </a:pPr>
            <a:r>
              <a:t>Open lead</a:t>
            </a:r>
          </a:p>
        </p:txBody>
      </p:sp>
      <p:sp>
        <p:nvSpPr>
          <p:cNvPr id="18" name="TextBox 17"/>
          <p:cNvSpPr txBox="1"/>
          <p:nvPr/>
        </p:nvSpPr>
        <p:spPr>
          <a:xfrm>
            <a:off x="804671" y="4251960"/>
            <a:ext cx="1655064" cy="804672"/>
          </a:xfrm>
          <a:prstGeom prst="rect">
            <a:avLst/>
          </a:prstGeom>
          <a:noFill/>
        </p:spPr>
        <p:txBody>
          <a:bodyPr wrap="square" lIns="0" rIns="0" tIns="0" bIns="0">
            <a:spAutoFit/>
          </a:bodyPr>
          <a:lstStyle/>
          <a:p>
            <a:pPr>
              <a:spcAft>
                <a:spcPts val="500"/>
              </a:spcAft>
              <a:defRPr sz="1700" b="0">
                <a:solidFill>
                  <a:srgbClr val="776B80"/>
                </a:solidFill>
                <a:latin typeface="Lato"/>
              </a:defRPr>
            </a:pPr>
            <a:r>
              <a:t>Assigned CRE</a:t>
            </a:r>
          </a:p>
          <a:p>
            <a:pPr>
              <a:spcAft>
                <a:spcPts val="500"/>
              </a:spcAft>
              <a:defRPr sz="1700" b="0">
                <a:solidFill>
                  <a:srgbClr val="776B80"/>
                </a:solidFill>
                <a:latin typeface="Lato"/>
              </a:defRPr>
            </a:pPr>
            <a:r>
              <a:t>Fresh enquiry</a:t>
            </a:r>
          </a:p>
        </p:txBody>
      </p:sp>
      <p:sp>
        <p:nvSpPr>
          <p:cNvPr id="19" name="Oval 18"/>
          <p:cNvSpPr/>
          <p:nvPr/>
        </p:nvSpPr>
        <p:spPr>
          <a:xfrm>
            <a:off x="2633472" y="2679192"/>
            <a:ext cx="585216" cy="585216"/>
          </a:xfrm>
          <a:prstGeom prst="ellipse">
            <a:avLst/>
          </a:prstGeom>
          <a:solidFill>
            <a:srgbClr val="E8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793309" y="2773558"/>
            <a:ext cx="265541" cy="378195"/>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2849636" y="2878165"/>
            <a:ext cx="156911"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849636" y="2962656"/>
            <a:ext cx="156911"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849636" y="3051169"/>
            <a:ext cx="112654"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633472" y="3557016"/>
            <a:ext cx="1655064" cy="566928"/>
          </a:xfrm>
          <a:prstGeom prst="rect">
            <a:avLst/>
          </a:prstGeom>
          <a:noFill/>
        </p:spPr>
        <p:txBody>
          <a:bodyPr wrap="square" lIns="0" rIns="0" tIns="0" bIns="0">
            <a:spAutoFit/>
          </a:bodyPr>
          <a:lstStyle/>
          <a:p>
            <a:pPr>
              <a:spcAft>
                <a:spcPts val="500"/>
              </a:spcAft>
              <a:defRPr sz="2000" b="1">
                <a:solidFill>
                  <a:srgbClr val="2D1B38"/>
                </a:solidFill>
                <a:latin typeface="Lato"/>
              </a:defRPr>
            </a:pPr>
            <a:r>
              <a:t>Qualify</a:t>
            </a:r>
          </a:p>
        </p:txBody>
      </p:sp>
      <p:sp>
        <p:nvSpPr>
          <p:cNvPr id="25" name="TextBox 24"/>
          <p:cNvSpPr txBox="1"/>
          <p:nvPr/>
        </p:nvSpPr>
        <p:spPr>
          <a:xfrm>
            <a:off x="2633472" y="4251960"/>
            <a:ext cx="1655064" cy="804672"/>
          </a:xfrm>
          <a:prstGeom prst="rect">
            <a:avLst/>
          </a:prstGeom>
          <a:noFill/>
        </p:spPr>
        <p:txBody>
          <a:bodyPr wrap="square" lIns="0" rIns="0" tIns="0" bIns="0">
            <a:spAutoFit/>
          </a:bodyPr>
          <a:lstStyle/>
          <a:p>
            <a:pPr>
              <a:spcAft>
                <a:spcPts val="500"/>
              </a:spcAft>
              <a:defRPr sz="1700" b="0">
                <a:solidFill>
                  <a:srgbClr val="776B80"/>
                </a:solidFill>
                <a:latin typeface="Lato"/>
              </a:defRPr>
            </a:pPr>
            <a:r>
              <a:t>Model · plan</a:t>
            </a:r>
          </a:p>
          <a:p>
            <a:pPr>
              <a:spcAft>
                <a:spcPts val="500"/>
              </a:spcAft>
              <a:defRPr sz="1700" b="0">
                <a:solidFill>
                  <a:srgbClr val="776B80"/>
                </a:solidFill>
                <a:latin typeface="Lato"/>
              </a:defRPr>
            </a:pPr>
            <a:r>
              <a:t>Finance · notes</a:t>
            </a:r>
          </a:p>
        </p:txBody>
      </p:sp>
      <p:sp>
        <p:nvSpPr>
          <p:cNvPr id="26" name="Oval 25"/>
          <p:cNvSpPr/>
          <p:nvPr/>
        </p:nvSpPr>
        <p:spPr>
          <a:xfrm>
            <a:off x="4462272" y="2679192"/>
            <a:ext cx="585216" cy="585216"/>
          </a:xfrm>
          <a:prstGeom prst="ellipse">
            <a:avLst/>
          </a:prstGeom>
          <a:solidFill>
            <a:srgbClr val="E8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698552" y="2773558"/>
            <a:ext cx="112654" cy="100584"/>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561758" y="3039099"/>
            <a:ext cx="112654" cy="100584"/>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835347" y="3039099"/>
            <a:ext cx="112654" cy="100584"/>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4754880" y="2874142"/>
            <a:ext cx="0" cy="80467"/>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618085" y="2954609"/>
            <a:ext cx="273589"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618085" y="2954609"/>
            <a:ext cx="0" cy="8449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91674" y="2954609"/>
            <a:ext cx="0" cy="8449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462272" y="3557016"/>
            <a:ext cx="1655064" cy="566928"/>
          </a:xfrm>
          <a:prstGeom prst="rect">
            <a:avLst/>
          </a:prstGeom>
          <a:noFill/>
        </p:spPr>
        <p:txBody>
          <a:bodyPr wrap="square" lIns="0" rIns="0" tIns="0" bIns="0">
            <a:spAutoFit/>
          </a:bodyPr>
          <a:lstStyle/>
          <a:p>
            <a:pPr>
              <a:spcAft>
                <a:spcPts val="500"/>
              </a:spcAft>
              <a:defRPr sz="2000" b="1">
                <a:solidFill>
                  <a:srgbClr val="2D1B38"/>
                </a:solidFill>
                <a:latin typeface="Lato"/>
              </a:defRPr>
            </a:pPr>
            <a:r>
              <a:t>Select PS</a:t>
            </a:r>
          </a:p>
        </p:txBody>
      </p:sp>
      <p:sp>
        <p:nvSpPr>
          <p:cNvPr id="35" name="TextBox 34"/>
          <p:cNvSpPr txBox="1"/>
          <p:nvPr/>
        </p:nvSpPr>
        <p:spPr>
          <a:xfrm>
            <a:off x="4462272" y="4251960"/>
            <a:ext cx="1655064" cy="804672"/>
          </a:xfrm>
          <a:prstGeom prst="rect">
            <a:avLst/>
          </a:prstGeom>
          <a:noFill/>
        </p:spPr>
        <p:txBody>
          <a:bodyPr wrap="square" lIns="0" rIns="0" tIns="0" bIns="0">
            <a:spAutoFit/>
          </a:bodyPr>
          <a:lstStyle/>
          <a:p>
            <a:pPr>
              <a:spcAft>
                <a:spcPts val="500"/>
              </a:spcAft>
              <a:defRPr sz="1700" b="0">
                <a:solidFill>
                  <a:srgbClr val="776B80"/>
                </a:solidFill>
                <a:latin typeface="Lato"/>
              </a:defRPr>
            </a:pPr>
            <a:r>
              <a:t>Preferred branch</a:t>
            </a:r>
          </a:p>
          <a:p>
            <a:pPr>
              <a:spcAft>
                <a:spcPts val="500"/>
              </a:spcAft>
              <a:defRPr sz="1700" b="0">
                <a:solidFill>
                  <a:srgbClr val="776B80"/>
                </a:solidFill>
                <a:latin typeface="Lato"/>
              </a:defRPr>
            </a:pPr>
            <a:r>
              <a:t>Matching PS/SO</a:t>
            </a:r>
          </a:p>
        </p:txBody>
      </p:sp>
      <p:sp>
        <p:nvSpPr>
          <p:cNvPr id="36" name="Oval 35"/>
          <p:cNvSpPr/>
          <p:nvPr/>
        </p:nvSpPr>
        <p:spPr>
          <a:xfrm>
            <a:off x="6291072" y="2679192"/>
            <a:ext cx="585216" cy="585216"/>
          </a:xfrm>
          <a:prstGeom prst="ellipse">
            <a:avLst/>
          </a:prstGeom>
          <a:solidFill>
            <a:srgbClr val="E8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06652" y="2785628"/>
            <a:ext cx="354055" cy="354055"/>
          </a:xfrm>
          <a:prstGeom prst="ellipse">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6475049" y="2958632"/>
            <a:ext cx="76444" cy="76444"/>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6551493" y="2878165"/>
            <a:ext cx="140817" cy="156911"/>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291072" y="3557016"/>
            <a:ext cx="1655064" cy="566928"/>
          </a:xfrm>
          <a:prstGeom prst="rect">
            <a:avLst/>
          </a:prstGeom>
          <a:noFill/>
        </p:spPr>
        <p:txBody>
          <a:bodyPr wrap="square" lIns="0" rIns="0" tIns="0" bIns="0">
            <a:spAutoFit/>
          </a:bodyPr>
          <a:lstStyle/>
          <a:p>
            <a:pPr>
              <a:spcAft>
                <a:spcPts val="500"/>
              </a:spcAft>
              <a:defRPr sz="2000" b="1">
                <a:solidFill>
                  <a:srgbClr val="2D1B38"/>
                </a:solidFill>
                <a:latin typeface="Lato"/>
              </a:defRPr>
            </a:pPr>
            <a:r>
              <a:t>Save</a:t>
            </a:r>
          </a:p>
        </p:txBody>
      </p:sp>
      <p:sp>
        <p:nvSpPr>
          <p:cNvPr id="41" name="TextBox 40"/>
          <p:cNvSpPr txBox="1"/>
          <p:nvPr/>
        </p:nvSpPr>
        <p:spPr>
          <a:xfrm>
            <a:off x="6291072" y="4251960"/>
            <a:ext cx="1655064" cy="804672"/>
          </a:xfrm>
          <a:prstGeom prst="rect">
            <a:avLst/>
          </a:prstGeom>
          <a:noFill/>
        </p:spPr>
        <p:txBody>
          <a:bodyPr wrap="square" lIns="0" rIns="0" tIns="0" bIns="0">
            <a:spAutoFit/>
          </a:bodyPr>
          <a:lstStyle/>
          <a:p>
            <a:pPr>
              <a:spcAft>
                <a:spcPts val="500"/>
              </a:spcAft>
              <a:defRPr sz="1700" b="0">
                <a:solidFill>
                  <a:srgbClr val="776B80"/>
                </a:solidFill>
                <a:latin typeface="Lato"/>
              </a:defRPr>
            </a:pPr>
            <a:r>
              <a:t>Qualify Lead</a:t>
            </a:r>
          </a:p>
          <a:p>
            <a:pPr>
              <a:spcAft>
                <a:spcPts val="500"/>
              </a:spcAft>
              <a:defRPr sz="1700" b="0">
                <a:solidFill>
                  <a:srgbClr val="776B80"/>
                </a:solidFill>
                <a:latin typeface="Lato"/>
              </a:defRPr>
            </a:pPr>
            <a:r>
              <a:t>Refresh PS queue</a:t>
            </a:r>
          </a:p>
        </p:txBody>
      </p:sp>
      <p:sp>
        <p:nvSpPr>
          <p:cNvPr id="42" name="Rounded Rectangle 41"/>
          <p:cNvSpPr/>
          <p:nvPr/>
        </p:nvSpPr>
        <p:spPr>
          <a:xfrm>
            <a:off x="8449056" y="2240280"/>
            <a:ext cx="3172968" cy="3264408"/>
          </a:xfrm>
          <a:prstGeom prst="roundRect">
            <a:avLst/>
          </a:prstGeom>
          <a:solidFill>
            <a:srgbClr val="DDE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728301" y="2614269"/>
            <a:ext cx="523036" cy="523036"/>
          </a:xfrm>
          <a:prstGeom prst="ellipse">
            <a:avLst/>
          </a:prstGeom>
          <a:noFill/>
          <a:ln w="15240">
            <a:solidFill>
              <a:srgbClr val="247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9829342" y="2869844"/>
            <a:ext cx="112929" cy="112928"/>
          </a:xfrm>
          <a:prstGeom prst="line">
            <a:avLst/>
          </a:prstGeom>
          <a:ln w="25400">
            <a:solidFill>
              <a:srgbClr val="24776D"/>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9942271" y="2750972"/>
            <a:ext cx="208026" cy="231800"/>
          </a:xfrm>
          <a:prstGeom prst="line">
            <a:avLst/>
          </a:prstGeom>
          <a:ln w="25400">
            <a:solidFill>
              <a:srgbClr val="24776D"/>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8668512" y="3383280"/>
            <a:ext cx="2743200" cy="612648"/>
          </a:xfrm>
          <a:prstGeom prst="rect">
            <a:avLst/>
          </a:prstGeom>
          <a:noFill/>
        </p:spPr>
        <p:txBody>
          <a:bodyPr wrap="square" lIns="0" rIns="0" tIns="0" bIns="0">
            <a:spAutoFit/>
          </a:bodyPr>
          <a:lstStyle/>
          <a:p>
            <a:pPr algn="ctr">
              <a:spcAft>
                <a:spcPts val="500"/>
              </a:spcAft>
              <a:defRPr sz="2700" b="1">
                <a:solidFill>
                  <a:srgbClr val="24776D"/>
                </a:solidFill>
                <a:latin typeface="Lato"/>
              </a:defRPr>
            </a:pPr>
            <a:r>
              <a:t>QUALIFIED</a:t>
            </a:r>
          </a:p>
        </p:txBody>
      </p:sp>
      <p:sp>
        <p:nvSpPr>
          <p:cNvPr id="47" name="TextBox 46"/>
          <p:cNvSpPr txBox="1"/>
          <p:nvPr/>
        </p:nvSpPr>
        <p:spPr>
          <a:xfrm>
            <a:off x="8769096" y="4197096"/>
            <a:ext cx="2523744" cy="923544"/>
          </a:xfrm>
          <a:prstGeom prst="rect">
            <a:avLst/>
          </a:prstGeom>
          <a:noFill/>
        </p:spPr>
        <p:txBody>
          <a:bodyPr wrap="square" lIns="0" rIns="0" tIns="0" bIns="0">
            <a:spAutoFit/>
          </a:bodyPr>
          <a:lstStyle/>
          <a:p>
            <a:pPr algn="ctr">
              <a:spcAft>
                <a:spcPts val="500"/>
              </a:spcAft>
              <a:defRPr sz="1800" b="0">
                <a:solidFill>
                  <a:srgbClr val="24776D"/>
                </a:solidFill>
                <a:latin typeface="Lato"/>
              </a:defRPr>
            </a:pPr>
            <a:r>
              <a:t>CRE context retained</a:t>
            </a:r>
          </a:p>
          <a:p>
            <a:pPr algn="ctr">
              <a:spcAft>
                <a:spcPts val="500"/>
              </a:spcAft>
              <a:defRPr sz="1800" b="0">
                <a:solidFill>
                  <a:srgbClr val="24776D"/>
                </a:solidFill>
                <a:latin typeface="Lato"/>
              </a:defRPr>
            </a:pPr>
            <a:r>
              <a:t>PS receives the lead</a:t>
            </a:r>
          </a:p>
        </p:txBody>
      </p:sp>
      <p:cxnSp>
        <p:nvCxnSpPr>
          <p:cNvPr id="48" name="Connector 47"/>
          <p:cNvCxnSpPr/>
          <p:nvPr/>
        </p:nvCxnSpPr>
        <p:spPr>
          <a:xfrm>
            <a:off x="576072" y="5888736"/>
            <a:ext cx="329184" cy="0"/>
          </a:xfrm>
          <a:prstGeom prst="line">
            <a:avLst/>
          </a:prstGeom>
          <a:ln w="38100">
            <a:solidFill>
              <a:srgbClr val="24776D"/>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1060704" y="5724144"/>
            <a:ext cx="10332720" cy="448056"/>
          </a:xfrm>
          <a:prstGeom prst="rect">
            <a:avLst/>
          </a:prstGeom>
          <a:noFill/>
        </p:spPr>
        <p:txBody>
          <a:bodyPr wrap="square" lIns="0" rIns="0" tIns="0" bIns="0">
            <a:spAutoFit/>
          </a:bodyPr>
          <a:lstStyle/>
          <a:p>
            <a:pPr>
              <a:spcAft>
                <a:spcPts val="500"/>
              </a:spcAft>
              <a:defRPr sz="1500" b="1">
                <a:solidFill>
                  <a:srgbClr val="24776D"/>
                </a:solidFill>
                <a:latin typeface="Lato"/>
              </a:defRPr>
            </a:pPr>
            <a:r>
              <a:t>Open the same record after saving: verify status, owner and history.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LIVE SCENARIO</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02 / CRE closes a lost enquiry</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DEMO BINU: “We have dropped our purchase plan.”</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18 / 30</a:t>
            </a:r>
          </a:p>
        </p:txBody>
      </p:sp>
      <p:sp>
        <p:nvSpPr>
          <p:cNvPr id="8" name="Rounded Rectangle 7"/>
          <p:cNvSpPr/>
          <p:nvPr/>
        </p:nvSpPr>
        <p:spPr>
          <a:xfrm>
            <a:off x="566928" y="2240280"/>
            <a:ext cx="7635240" cy="326440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097280" y="2971800"/>
            <a:ext cx="5486400" cy="0"/>
          </a:xfrm>
          <a:prstGeom prst="line">
            <a:avLst/>
          </a:prstGeom>
          <a:ln w="63500">
            <a:solidFill>
              <a:srgbClr val="DDD4E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04671" y="2679192"/>
            <a:ext cx="585216" cy="585216"/>
          </a:xfrm>
          <a:prstGeom prst="ellipse">
            <a:avLst/>
          </a:prstGeom>
          <a:solidFill>
            <a:srgbClr val="E8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8882" y="2785628"/>
            <a:ext cx="136794" cy="136794"/>
          </a:xfrm>
          <a:prstGeom prst="ellipse">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flipV="1">
            <a:off x="964509" y="3027029"/>
            <a:ext cx="0" cy="96561"/>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964509" y="2970702"/>
            <a:ext cx="72420" cy="56327"/>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36929" y="2970702"/>
            <a:ext cx="120701"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57630" y="2970702"/>
            <a:ext cx="72420" cy="56327"/>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30050" y="3027029"/>
            <a:ext cx="0" cy="96561"/>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04671" y="3557016"/>
            <a:ext cx="1655064" cy="566928"/>
          </a:xfrm>
          <a:prstGeom prst="rect">
            <a:avLst/>
          </a:prstGeom>
          <a:noFill/>
        </p:spPr>
        <p:txBody>
          <a:bodyPr wrap="square" lIns="0" rIns="0" tIns="0" bIns="0">
            <a:spAutoFit/>
          </a:bodyPr>
          <a:lstStyle/>
          <a:p>
            <a:pPr>
              <a:spcAft>
                <a:spcPts val="500"/>
              </a:spcAft>
              <a:defRPr sz="2000" b="1">
                <a:solidFill>
                  <a:srgbClr val="2D1B38"/>
                </a:solidFill>
                <a:latin typeface="Lato"/>
              </a:defRPr>
            </a:pPr>
            <a:r>
              <a:t>Open lead</a:t>
            </a:r>
          </a:p>
        </p:txBody>
      </p:sp>
      <p:sp>
        <p:nvSpPr>
          <p:cNvPr id="18" name="TextBox 17"/>
          <p:cNvSpPr txBox="1"/>
          <p:nvPr/>
        </p:nvSpPr>
        <p:spPr>
          <a:xfrm>
            <a:off x="804671" y="4251960"/>
            <a:ext cx="1655064" cy="804672"/>
          </a:xfrm>
          <a:prstGeom prst="rect">
            <a:avLst/>
          </a:prstGeom>
          <a:noFill/>
        </p:spPr>
        <p:txBody>
          <a:bodyPr wrap="square" lIns="0" rIns="0" tIns="0" bIns="0">
            <a:spAutoFit/>
          </a:bodyPr>
          <a:lstStyle/>
          <a:p>
            <a:pPr>
              <a:spcAft>
                <a:spcPts val="500"/>
              </a:spcAft>
              <a:defRPr sz="1700" b="0">
                <a:solidFill>
                  <a:srgbClr val="776B80"/>
                </a:solidFill>
                <a:latin typeface="Lato"/>
              </a:defRPr>
            </a:pPr>
            <a:r>
              <a:t>CRE queue</a:t>
            </a:r>
          </a:p>
          <a:p>
            <a:pPr>
              <a:spcAft>
                <a:spcPts val="500"/>
              </a:spcAft>
              <a:defRPr sz="1700" b="0">
                <a:solidFill>
                  <a:srgbClr val="776B80"/>
                </a:solidFill>
                <a:latin typeface="Lato"/>
              </a:defRPr>
            </a:pPr>
            <a:r>
              <a:t>Customer contacted</a:t>
            </a:r>
          </a:p>
        </p:txBody>
      </p:sp>
      <p:sp>
        <p:nvSpPr>
          <p:cNvPr id="19" name="Oval 18"/>
          <p:cNvSpPr/>
          <p:nvPr/>
        </p:nvSpPr>
        <p:spPr>
          <a:xfrm>
            <a:off x="2633472" y="2679192"/>
            <a:ext cx="585216" cy="585216"/>
          </a:xfrm>
          <a:prstGeom prst="ellipse">
            <a:avLst/>
          </a:prstGeom>
          <a:solidFill>
            <a:srgbClr val="E8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793309" y="2773558"/>
            <a:ext cx="265541" cy="378195"/>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2849636" y="2878165"/>
            <a:ext cx="156911"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849636" y="2962656"/>
            <a:ext cx="156911"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849636" y="3051169"/>
            <a:ext cx="112654"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633472" y="3557016"/>
            <a:ext cx="1655064" cy="566928"/>
          </a:xfrm>
          <a:prstGeom prst="rect">
            <a:avLst/>
          </a:prstGeom>
          <a:noFill/>
        </p:spPr>
        <p:txBody>
          <a:bodyPr wrap="square" lIns="0" rIns="0" tIns="0" bIns="0">
            <a:spAutoFit/>
          </a:bodyPr>
          <a:lstStyle/>
          <a:p>
            <a:pPr>
              <a:spcAft>
                <a:spcPts val="500"/>
              </a:spcAft>
              <a:defRPr sz="2000" b="1">
                <a:solidFill>
                  <a:srgbClr val="2D1B38"/>
                </a:solidFill>
                <a:latin typeface="Lato"/>
              </a:defRPr>
            </a:pPr>
            <a:r>
              <a:t>Choose Lost</a:t>
            </a:r>
          </a:p>
        </p:txBody>
      </p:sp>
      <p:sp>
        <p:nvSpPr>
          <p:cNvPr id="25" name="TextBox 24"/>
          <p:cNvSpPr txBox="1"/>
          <p:nvPr/>
        </p:nvSpPr>
        <p:spPr>
          <a:xfrm>
            <a:off x="2633472" y="4251960"/>
            <a:ext cx="1655064" cy="804672"/>
          </a:xfrm>
          <a:prstGeom prst="rect">
            <a:avLst/>
          </a:prstGeom>
          <a:noFill/>
        </p:spPr>
        <p:txBody>
          <a:bodyPr wrap="square" lIns="0" rIns="0" tIns="0" bIns="0">
            <a:spAutoFit/>
          </a:bodyPr>
          <a:lstStyle/>
          <a:p>
            <a:pPr>
              <a:spcAft>
                <a:spcPts val="500"/>
              </a:spcAft>
              <a:defRPr sz="1700" b="0">
                <a:solidFill>
                  <a:srgbClr val="776B80"/>
                </a:solidFill>
                <a:latin typeface="Lato"/>
              </a:defRPr>
            </a:pPr>
            <a:r>
              <a:t>Plan Dropped</a:t>
            </a:r>
          </a:p>
          <a:p>
            <a:pPr>
              <a:spcAft>
                <a:spcPts val="500"/>
              </a:spcAft>
              <a:defRPr sz="1700" b="0">
                <a:solidFill>
                  <a:srgbClr val="776B80"/>
                </a:solidFill>
                <a:latin typeface="Lato"/>
              </a:defRPr>
            </a:pPr>
            <a:r>
              <a:t>Selected reason</a:t>
            </a:r>
          </a:p>
        </p:txBody>
      </p:sp>
      <p:sp>
        <p:nvSpPr>
          <p:cNvPr id="26" name="Oval 25"/>
          <p:cNvSpPr/>
          <p:nvPr/>
        </p:nvSpPr>
        <p:spPr>
          <a:xfrm>
            <a:off x="4462272" y="2679192"/>
            <a:ext cx="585216" cy="585216"/>
          </a:xfrm>
          <a:prstGeom prst="ellipse">
            <a:avLst/>
          </a:prstGeom>
          <a:solidFill>
            <a:srgbClr val="E8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581875" y="2841955"/>
            <a:ext cx="346008" cy="253471"/>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4807183" y="2841955"/>
            <a:ext cx="0" cy="253471"/>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634179" y="2918399"/>
            <a:ext cx="112654"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634179" y="3002889"/>
            <a:ext cx="112654"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462272" y="3557016"/>
            <a:ext cx="1655064" cy="566928"/>
          </a:xfrm>
          <a:prstGeom prst="rect">
            <a:avLst/>
          </a:prstGeom>
          <a:noFill/>
        </p:spPr>
        <p:txBody>
          <a:bodyPr wrap="square" lIns="0" rIns="0" tIns="0" bIns="0">
            <a:spAutoFit/>
          </a:bodyPr>
          <a:lstStyle/>
          <a:p>
            <a:pPr>
              <a:spcAft>
                <a:spcPts val="500"/>
              </a:spcAft>
              <a:defRPr sz="2000" b="1">
                <a:solidFill>
                  <a:srgbClr val="2D1B38"/>
                </a:solidFill>
                <a:latin typeface="Lato"/>
              </a:defRPr>
            </a:pPr>
            <a:r>
              <a:t>Explain</a:t>
            </a:r>
          </a:p>
        </p:txBody>
      </p:sp>
      <p:sp>
        <p:nvSpPr>
          <p:cNvPr id="32" name="TextBox 31"/>
          <p:cNvSpPr txBox="1"/>
          <p:nvPr/>
        </p:nvSpPr>
        <p:spPr>
          <a:xfrm>
            <a:off x="4462272" y="4251960"/>
            <a:ext cx="1655064" cy="804672"/>
          </a:xfrm>
          <a:prstGeom prst="rect">
            <a:avLst/>
          </a:prstGeom>
          <a:noFill/>
        </p:spPr>
        <p:txBody>
          <a:bodyPr wrap="square" lIns="0" rIns="0" tIns="0" bIns="0">
            <a:spAutoFit/>
          </a:bodyPr>
          <a:lstStyle/>
          <a:p>
            <a:pPr>
              <a:spcAft>
                <a:spcPts val="500"/>
              </a:spcAft>
              <a:defRPr sz="1700" b="0">
                <a:solidFill>
                  <a:srgbClr val="776B80"/>
                </a:solidFill>
                <a:latin typeface="Lato"/>
              </a:defRPr>
            </a:pPr>
            <a:r>
              <a:t>Customer-specific</a:t>
            </a:r>
          </a:p>
          <a:p>
            <a:pPr>
              <a:spcAft>
                <a:spcPts val="500"/>
              </a:spcAft>
              <a:defRPr sz="1700" b="0">
                <a:solidFill>
                  <a:srgbClr val="776B80"/>
                </a:solidFill>
                <a:latin typeface="Lato"/>
              </a:defRPr>
            </a:pPr>
            <a:r>
              <a:t>remarks</a:t>
            </a:r>
          </a:p>
        </p:txBody>
      </p:sp>
      <p:sp>
        <p:nvSpPr>
          <p:cNvPr id="33" name="Oval 32"/>
          <p:cNvSpPr/>
          <p:nvPr/>
        </p:nvSpPr>
        <p:spPr>
          <a:xfrm>
            <a:off x="6291072" y="2679192"/>
            <a:ext cx="585216" cy="585216"/>
          </a:xfrm>
          <a:prstGeom prst="ellipse">
            <a:avLst/>
          </a:prstGeom>
          <a:solidFill>
            <a:srgbClr val="E8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06652" y="2785628"/>
            <a:ext cx="354055" cy="354055"/>
          </a:xfrm>
          <a:prstGeom prst="ellipse">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6475049" y="2958632"/>
            <a:ext cx="76444" cy="76444"/>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6551493" y="2878165"/>
            <a:ext cx="140817" cy="156911"/>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291072" y="3557016"/>
            <a:ext cx="1655064" cy="566928"/>
          </a:xfrm>
          <a:prstGeom prst="rect">
            <a:avLst/>
          </a:prstGeom>
          <a:noFill/>
        </p:spPr>
        <p:txBody>
          <a:bodyPr wrap="square" lIns="0" rIns="0" tIns="0" bIns="0">
            <a:spAutoFit/>
          </a:bodyPr>
          <a:lstStyle/>
          <a:p>
            <a:pPr>
              <a:spcAft>
                <a:spcPts val="500"/>
              </a:spcAft>
              <a:defRPr sz="2000" b="1">
                <a:solidFill>
                  <a:srgbClr val="2D1B38"/>
                </a:solidFill>
                <a:latin typeface="Lato"/>
              </a:defRPr>
            </a:pPr>
            <a:r>
              <a:t>Save</a:t>
            </a:r>
          </a:p>
        </p:txBody>
      </p:sp>
      <p:sp>
        <p:nvSpPr>
          <p:cNvPr id="38" name="TextBox 37"/>
          <p:cNvSpPr txBox="1"/>
          <p:nvPr/>
        </p:nvSpPr>
        <p:spPr>
          <a:xfrm>
            <a:off x="6291072" y="4251960"/>
            <a:ext cx="1655064" cy="804672"/>
          </a:xfrm>
          <a:prstGeom prst="rect">
            <a:avLst/>
          </a:prstGeom>
          <a:noFill/>
        </p:spPr>
        <p:txBody>
          <a:bodyPr wrap="square" lIns="0" rIns="0" tIns="0" bIns="0">
            <a:spAutoFit/>
          </a:bodyPr>
          <a:lstStyle/>
          <a:p>
            <a:pPr>
              <a:spcAft>
                <a:spcPts val="500"/>
              </a:spcAft>
              <a:defRPr sz="1700" b="0">
                <a:solidFill>
                  <a:srgbClr val="776B80"/>
                </a:solidFill>
                <a:latin typeface="Lato"/>
              </a:defRPr>
            </a:pPr>
            <a:r>
              <a:t>Mark as Lost</a:t>
            </a:r>
          </a:p>
          <a:p>
            <a:pPr>
              <a:spcAft>
                <a:spcPts val="500"/>
              </a:spcAft>
              <a:defRPr sz="1700" b="0">
                <a:solidFill>
                  <a:srgbClr val="776B80"/>
                </a:solidFill>
                <a:latin typeface="Lato"/>
              </a:defRPr>
            </a:pPr>
            <a:r>
              <a:t>Check history</a:t>
            </a:r>
          </a:p>
        </p:txBody>
      </p:sp>
      <p:sp>
        <p:nvSpPr>
          <p:cNvPr id="39" name="Rounded Rectangle 38"/>
          <p:cNvSpPr/>
          <p:nvPr/>
        </p:nvSpPr>
        <p:spPr>
          <a:xfrm>
            <a:off x="8449056" y="2240280"/>
            <a:ext cx="3172968" cy="3264408"/>
          </a:xfrm>
          <a:prstGeom prst="roundRect">
            <a:avLst/>
          </a:prstGeom>
          <a:solidFill>
            <a:srgbClr val="F4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728301" y="2614269"/>
            <a:ext cx="523036" cy="523036"/>
          </a:xfrm>
          <a:prstGeom prst="ellipse">
            <a:avLst/>
          </a:prstGeom>
          <a:noFill/>
          <a:ln w="15240">
            <a:solidFill>
              <a:srgbClr val="AD40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9829342" y="2869844"/>
            <a:ext cx="112929" cy="112928"/>
          </a:xfrm>
          <a:prstGeom prst="line">
            <a:avLst/>
          </a:prstGeom>
          <a:ln w="25400">
            <a:solidFill>
              <a:srgbClr val="AD405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9942271" y="2750972"/>
            <a:ext cx="208026" cy="231800"/>
          </a:xfrm>
          <a:prstGeom prst="line">
            <a:avLst/>
          </a:prstGeom>
          <a:ln w="25400">
            <a:solidFill>
              <a:srgbClr val="AD405D"/>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8668512" y="3383280"/>
            <a:ext cx="2743200" cy="612648"/>
          </a:xfrm>
          <a:prstGeom prst="rect">
            <a:avLst/>
          </a:prstGeom>
          <a:noFill/>
        </p:spPr>
        <p:txBody>
          <a:bodyPr wrap="square" lIns="0" rIns="0" tIns="0" bIns="0">
            <a:spAutoFit/>
          </a:bodyPr>
          <a:lstStyle/>
          <a:p>
            <a:pPr algn="ctr">
              <a:spcAft>
                <a:spcPts val="500"/>
              </a:spcAft>
              <a:defRPr sz="2700" b="1">
                <a:solidFill>
                  <a:srgbClr val="AD405D"/>
                </a:solidFill>
                <a:latin typeface="Lato"/>
              </a:defRPr>
            </a:pPr>
            <a:r>
              <a:t>LOST</a:t>
            </a:r>
          </a:p>
        </p:txBody>
      </p:sp>
      <p:sp>
        <p:nvSpPr>
          <p:cNvPr id="44" name="TextBox 43"/>
          <p:cNvSpPr txBox="1"/>
          <p:nvPr/>
        </p:nvSpPr>
        <p:spPr>
          <a:xfrm>
            <a:off x="8769096" y="4197096"/>
            <a:ext cx="2523744" cy="923544"/>
          </a:xfrm>
          <a:prstGeom prst="rect">
            <a:avLst/>
          </a:prstGeom>
          <a:noFill/>
        </p:spPr>
        <p:txBody>
          <a:bodyPr wrap="square" lIns="0" rIns="0" tIns="0" bIns="0">
            <a:spAutoFit/>
          </a:bodyPr>
          <a:lstStyle/>
          <a:p>
            <a:pPr algn="ctr">
              <a:spcAft>
                <a:spcPts val="500"/>
              </a:spcAft>
              <a:defRPr sz="1800" b="0">
                <a:solidFill>
                  <a:srgbClr val="AD405D"/>
                </a:solidFill>
                <a:latin typeface="Lato"/>
              </a:defRPr>
            </a:pPr>
            <a:r>
              <a:t>Reason retained</a:t>
            </a:r>
          </a:p>
          <a:p>
            <a:pPr algn="ctr">
              <a:spcAft>
                <a:spcPts val="500"/>
              </a:spcAft>
              <a:defRPr sz="1800" b="0">
                <a:solidFill>
                  <a:srgbClr val="AD405D"/>
                </a:solidFill>
                <a:latin typeface="Lato"/>
              </a:defRPr>
            </a:pPr>
            <a:r>
              <a:t>No new follow-up</a:t>
            </a:r>
          </a:p>
        </p:txBody>
      </p:sp>
      <p:cxnSp>
        <p:nvCxnSpPr>
          <p:cNvPr id="45" name="Connector 44"/>
          <p:cNvCxnSpPr/>
          <p:nvPr/>
        </p:nvCxnSpPr>
        <p:spPr>
          <a:xfrm>
            <a:off x="576072" y="5888736"/>
            <a:ext cx="329184" cy="0"/>
          </a:xfrm>
          <a:prstGeom prst="line">
            <a:avLst/>
          </a:prstGeom>
          <a:ln w="38100">
            <a:solidFill>
              <a:srgbClr val="AD405D"/>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060704" y="5724144"/>
            <a:ext cx="10332720" cy="448056"/>
          </a:xfrm>
          <a:prstGeom prst="rect">
            <a:avLst/>
          </a:prstGeom>
          <a:noFill/>
        </p:spPr>
        <p:txBody>
          <a:bodyPr wrap="square" lIns="0" rIns="0" tIns="0" bIns="0">
            <a:spAutoFit/>
          </a:bodyPr>
          <a:lstStyle/>
          <a:p>
            <a:pPr>
              <a:spcAft>
                <a:spcPts val="500"/>
              </a:spcAft>
              <a:defRPr sz="1500" b="1">
                <a:solidFill>
                  <a:srgbClr val="AD405D"/>
                </a:solidFill>
                <a:latin typeface="Lato"/>
              </a:defRPr>
            </a:pPr>
            <a:r>
              <a:t>Open the same record after saving: verify status, owner and history.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LIVE SCENARIO</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03 / PS continues the follow-up</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DEMO CHARU: “I need a test drive before deciding.”</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19 / 30</a:t>
            </a:r>
          </a:p>
        </p:txBody>
      </p:sp>
      <p:sp>
        <p:nvSpPr>
          <p:cNvPr id="8" name="Rounded Rectangle 7"/>
          <p:cNvSpPr/>
          <p:nvPr/>
        </p:nvSpPr>
        <p:spPr>
          <a:xfrm>
            <a:off x="566928" y="2240280"/>
            <a:ext cx="7635240" cy="326440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097280" y="2971800"/>
            <a:ext cx="5486400" cy="0"/>
          </a:xfrm>
          <a:prstGeom prst="line">
            <a:avLst/>
          </a:prstGeom>
          <a:ln w="63500">
            <a:solidFill>
              <a:srgbClr val="DDD4E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04671" y="2679192"/>
            <a:ext cx="585216" cy="585216"/>
          </a:xfrm>
          <a:prstGeom prst="ellipse">
            <a:avLst/>
          </a:prstGeom>
          <a:solidFill>
            <a:srgbClr val="E8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64509" y="2773558"/>
            <a:ext cx="265541" cy="378195"/>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1020836" y="2878165"/>
            <a:ext cx="156911"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20836" y="2962656"/>
            <a:ext cx="156911"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20836" y="3051169"/>
            <a:ext cx="112654"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04671" y="3557016"/>
            <a:ext cx="1655064" cy="566928"/>
          </a:xfrm>
          <a:prstGeom prst="rect">
            <a:avLst/>
          </a:prstGeom>
          <a:noFill/>
        </p:spPr>
        <p:txBody>
          <a:bodyPr wrap="square" lIns="0" rIns="0" tIns="0" bIns="0">
            <a:spAutoFit/>
          </a:bodyPr>
          <a:lstStyle/>
          <a:p>
            <a:pPr>
              <a:spcAft>
                <a:spcPts val="500"/>
              </a:spcAft>
              <a:defRPr sz="2000" b="1">
                <a:solidFill>
                  <a:srgbClr val="2D1B38"/>
                </a:solidFill>
                <a:latin typeface="Lato"/>
              </a:defRPr>
            </a:pPr>
            <a:r>
              <a:t>Read context</a:t>
            </a:r>
          </a:p>
        </p:txBody>
      </p:sp>
      <p:sp>
        <p:nvSpPr>
          <p:cNvPr id="16" name="TextBox 15"/>
          <p:cNvSpPr txBox="1"/>
          <p:nvPr/>
        </p:nvSpPr>
        <p:spPr>
          <a:xfrm>
            <a:off x="804671" y="4251960"/>
            <a:ext cx="1655064" cy="804672"/>
          </a:xfrm>
          <a:prstGeom prst="rect">
            <a:avLst/>
          </a:prstGeom>
          <a:noFill/>
        </p:spPr>
        <p:txBody>
          <a:bodyPr wrap="square" lIns="0" rIns="0" tIns="0" bIns="0">
            <a:spAutoFit/>
          </a:bodyPr>
          <a:lstStyle/>
          <a:p>
            <a:pPr>
              <a:spcAft>
                <a:spcPts val="500"/>
              </a:spcAft>
              <a:defRPr sz="1700" b="0">
                <a:solidFill>
                  <a:srgbClr val="776B80"/>
                </a:solidFill>
                <a:latin typeface="Lato"/>
              </a:defRPr>
            </a:pPr>
            <a:r>
              <a:t>Qualified lead</a:t>
            </a:r>
          </a:p>
          <a:p>
            <a:pPr>
              <a:spcAft>
                <a:spcPts val="500"/>
              </a:spcAft>
              <a:defRPr sz="1700" b="0">
                <a:solidFill>
                  <a:srgbClr val="776B80"/>
                </a:solidFill>
                <a:latin typeface="Lato"/>
              </a:defRPr>
            </a:pPr>
            <a:r>
              <a:t>CRE notes</a:t>
            </a:r>
          </a:p>
        </p:txBody>
      </p:sp>
      <p:sp>
        <p:nvSpPr>
          <p:cNvPr id="17" name="Oval 16"/>
          <p:cNvSpPr/>
          <p:nvPr/>
        </p:nvSpPr>
        <p:spPr>
          <a:xfrm>
            <a:off x="2633472" y="2679192"/>
            <a:ext cx="585216" cy="585216"/>
          </a:xfrm>
          <a:prstGeom prst="ellipse">
            <a:avLst/>
          </a:prstGeom>
          <a:solidFill>
            <a:srgbClr val="E8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H="1">
            <a:off x="2761122" y="2813791"/>
            <a:ext cx="36210" cy="84491"/>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761122" y="2898282"/>
            <a:ext cx="76444" cy="124724"/>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837566" y="3023006"/>
            <a:ext cx="148864" cy="108631"/>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986430" y="3087380"/>
            <a:ext cx="92537" cy="44257"/>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797332" y="2813791"/>
            <a:ext cx="84491" cy="80467"/>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2837566" y="2894258"/>
            <a:ext cx="44257" cy="52304"/>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946196" y="3006912"/>
            <a:ext cx="56327" cy="48281"/>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002523" y="3006912"/>
            <a:ext cx="76444" cy="80468"/>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633472" y="3557016"/>
            <a:ext cx="1655064" cy="566928"/>
          </a:xfrm>
          <a:prstGeom prst="rect">
            <a:avLst/>
          </a:prstGeom>
          <a:noFill/>
        </p:spPr>
        <p:txBody>
          <a:bodyPr wrap="square" lIns="0" rIns="0" tIns="0" bIns="0">
            <a:spAutoFit/>
          </a:bodyPr>
          <a:lstStyle/>
          <a:p>
            <a:pPr>
              <a:spcAft>
                <a:spcPts val="500"/>
              </a:spcAft>
              <a:defRPr sz="2000" b="1">
                <a:solidFill>
                  <a:srgbClr val="2D1B38"/>
                </a:solidFill>
                <a:latin typeface="Lato"/>
              </a:defRPr>
            </a:pPr>
            <a:r>
              <a:t>Choose outcome</a:t>
            </a:r>
          </a:p>
        </p:txBody>
      </p:sp>
      <p:sp>
        <p:nvSpPr>
          <p:cNvPr id="27" name="TextBox 26"/>
          <p:cNvSpPr txBox="1"/>
          <p:nvPr/>
        </p:nvSpPr>
        <p:spPr>
          <a:xfrm>
            <a:off x="2633472" y="4251960"/>
            <a:ext cx="1655064" cy="804672"/>
          </a:xfrm>
          <a:prstGeom prst="rect">
            <a:avLst/>
          </a:prstGeom>
          <a:noFill/>
        </p:spPr>
        <p:txBody>
          <a:bodyPr wrap="square" lIns="0" rIns="0" tIns="0" bIns="0">
            <a:spAutoFit/>
          </a:bodyPr>
          <a:lstStyle/>
          <a:p>
            <a:pPr>
              <a:spcAft>
                <a:spcPts val="500"/>
              </a:spcAft>
              <a:defRPr sz="1700" b="0">
                <a:solidFill>
                  <a:srgbClr val="776B80"/>
                </a:solidFill>
                <a:latin typeface="Lato"/>
              </a:defRPr>
            </a:pPr>
            <a:r>
              <a:t>Connected</a:t>
            </a:r>
          </a:p>
          <a:p>
            <a:pPr>
              <a:spcAft>
                <a:spcPts val="500"/>
              </a:spcAft>
              <a:defRPr sz="1700" b="0">
                <a:solidFill>
                  <a:srgbClr val="776B80"/>
                </a:solidFill>
                <a:latin typeface="Lato"/>
              </a:defRPr>
            </a:pPr>
            <a:r>
              <a:t>Need Test Drive</a:t>
            </a:r>
          </a:p>
        </p:txBody>
      </p:sp>
      <p:sp>
        <p:nvSpPr>
          <p:cNvPr id="28" name="Oval 27"/>
          <p:cNvSpPr/>
          <p:nvPr/>
        </p:nvSpPr>
        <p:spPr>
          <a:xfrm>
            <a:off x="4462272" y="2679192"/>
            <a:ext cx="585216" cy="585216"/>
          </a:xfrm>
          <a:prstGeom prst="ellipse">
            <a:avLst/>
          </a:prstGeom>
          <a:solidFill>
            <a:srgbClr val="E8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585898" y="2833908"/>
            <a:ext cx="337962" cy="297728"/>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4585898" y="2922422"/>
            <a:ext cx="337963"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674412" y="2777581"/>
            <a:ext cx="0" cy="100584"/>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835347" y="2777581"/>
            <a:ext cx="0" cy="100584"/>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670389" y="3010936"/>
            <a:ext cx="56327" cy="56327"/>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4726716" y="2958632"/>
            <a:ext cx="124724" cy="108631"/>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462272" y="3557016"/>
            <a:ext cx="1655064" cy="566928"/>
          </a:xfrm>
          <a:prstGeom prst="rect">
            <a:avLst/>
          </a:prstGeom>
          <a:noFill/>
        </p:spPr>
        <p:txBody>
          <a:bodyPr wrap="square" lIns="0" rIns="0" tIns="0" bIns="0">
            <a:spAutoFit/>
          </a:bodyPr>
          <a:lstStyle/>
          <a:p>
            <a:pPr>
              <a:spcAft>
                <a:spcPts val="500"/>
              </a:spcAft>
              <a:defRPr sz="2000" b="1">
                <a:solidFill>
                  <a:srgbClr val="2D1B38"/>
                </a:solidFill>
                <a:latin typeface="Lato"/>
              </a:defRPr>
            </a:pPr>
            <a:r>
              <a:t>Set next date</a:t>
            </a:r>
          </a:p>
        </p:txBody>
      </p:sp>
      <p:sp>
        <p:nvSpPr>
          <p:cNvPr id="36" name="TextBox 35"/>
          <p:cNvSpPr txBox="1"/>
          <p:nvPr/>
        </p:nvSpPr>
        <p:spPr>
          <a:xfrm>
            <a:off x="4462272" y="4251960"/>
            <a:ext cx="1655064" cy="804672"/>
          </a:xfrm>
          <a:prstGeom prst="rect">
            <a:avLst/>
          </a:prstGeom>
          <a:noFill/>
        </p:spPr>
        <p:txBody>
          <a:bodyPr wrap="square" lIns="0" rIns="0" tIns="0" bIns="0">
            <a:spAutoFit/>
          </a:bodyPr>
          <a:lstStyle/>
          <a:p>
            <a:pPr>
              <a:spcAft>
                <a:spcPts val="500"/>
              </a:spcAft>
              <a:defRPr sz="1700" b="0">
                <a:solidFill>
                  <a:srgbClr val="776B80"/>
                </a:solidFill>
                <a:latin typeface="Lato"/>
              </a:defRPr>
            </a:pPr>
            <a:r>
              <a:t>Today / tomorrow</a:t>
            </a:r>
          </a:p>
          <a:p>
            <a:pPr>
              <a:spcAft>
                <a:spcPts val="500"/>
              </a:spcAft>
              <a:defRPr sz="1700" b="0">
                <a:solidFill>
                  <a:srgbClr val="776B80"/>
                </a:solidFill>
                <a:latin typeface="Lato"/>
              </a:defRPr>
            </a:pPr>
            <a:r>
              <a:t>Add remarks</a:t>
            </a:r>
          </a:p>
        </p:txBody>
      </p:sp>
      <p:sp>
        <p:nvSpPr>
          <p:cNvPr id="37" name="Oval 36"/>
          <p:cNvSpPr/>
          <p:nvPr/>
        </p:nvSpPr>
        <p:spPr>
          <a:xfrm>
            <a:off x="6291072" y="2679192"/>
            <a:ext cx="585216" cy="585216"/>
          </a:xfrm>
          <a:prstGeom prst="ellipse">
            <a:avLst/>
          </a:prstGeom>
          <a:solidFill>
            <a:srgbClr val="E8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406652" y="2785628"/>
            <a:ext cx="354055" cy="354055"/>
          </a:xfrm>
          <a:prstGeom prst="ellipse">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6475049" y="2958632"/>
            <a:ext cx="76444" cy="76444"/>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6551493" y="2878165"/>
            <a:ext cx="140817" cy="156911"/>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291072" y="3557016"/>
            <a:ext cx="1655064" cy="566928"/>
          </a:xfrm>
          <a:prstGeom prst="rect">
            <a:avLst/>
          </a:prstGeom>
          <a:noFill/>
        </p:spPr>
        <p:txBody>
          <a:bodyPr wrap="square" lIns="0" rIns="0" tIns="0" bIns="0">
            <a:spAutoFit/>
          </a:bodyPr>
          <a:lstStyle/>
          <a:p>
            <a:pPr>
              <a:spcAft>
                <a:spcPts val="500"/>
              </a:spcAft>
              <a:defRPr sz="2000" b="1">
                <a:solidFill>
                  <a:srgbClr val="2D1B38"/>
                </a:solidFill>
                <a:latin typeface="Lato"/>
              </a:defRPr>
            </a:pPr>
            <a:r>
              <a:t>Save</a:t>
            </a:r>
          </a:p>
        </p:txBody>
      </p:sp>
      <p:sp>
        <p:nvSpPr>
          <p:cNvPr id="42" name="TextBox 41"/>
          <p:cNvSpPr txBox="1"/>
          <p:nvPr/>
        </p:nvSpPr>
        <p:spPr>
          <a:xfrm>
            <a:off x="6291072" y="4251960"/>
            <a:ext cx="1655064" cy="804672"/>
          </a:xfrm>
          <a:prstGeom prst="rect">
            <a:avLst/>
          </a:prstGeom>
          <a:noFill/>
        </p:spPr>
        <p:txBody>
          <a:bodyPr wrap="square" lIns="0" rIns="0" tIns="0" bIns="0">
            <a:spAutoFit/>
          </a:bodyPr>
          <a:lstStyle/>
          <a:p>
            <a:pPr>
              <a:spcAft>
                <a:spcPts val="500"/>
              </a:spcAft>
              <a:defRPr sz="1700" b="0">
                <a:solidFill>
                  <a:srgbClr val="776B80"/>
                </a:solidFill>
                <a:latin typeface="Lato"/>
              </a:defRPr>
            </a:pPr>
            <a:r>
              <a:t>Open history</a:t>
            </a:r>
          </a:p>
          <a:p>
            <a:pPr>
              <a:spcAft>
                <a:spcPts val="500"/>
              </a:spcAft>
              <a:defRPr sz="1700" b="0">
                <a:solidFill>
                  <a:srgbClr val="776B80"/>
                </a:solidFill>
                <a:latin typeface="Lato"/>
              </a:defRPr>
            </a:pPr>
            <a:r>
              <a:t>Check next action</a:t>
            </a:r>
          </a:p>
        </p:txBody>
      </p:sp>
      <p:sp>
        <p:nvSpPr>
          <p:cNvPr id="43" name="Rounded Rectangle 42"/>
          <p:cNvSpPr/>
          <p:nvPr/>
        </p:nvSpPr>
        <p:spPr>
          <a:xfrm>
            <a:off x="8449056" y="2240280"/>
            <a:ext cx="3172968" cy="3264408"/>
          </a:xfrm>
          <a:prstGeom prst="roundRect">
            <a:avLst/>
          </a:prstGeom>
          <a:solidFill>
            <a:srgbClr val="DDE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728301" y="2614269"/>
            <a:ext cx="523036" cy="523036"/>
          </a:xfrm>
          <a:prstGeom prst="ellipse">
            <a:avLst/>
          </a:prstGeom>
          <a:noFill/>
          <a:ln w="15240">
            <a:solidFill>
              <a:srgbClr val="B65F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9829342" y="2869844"/>
            <a:ext cx="112929" cy="112928"/>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9942271" y="2750972"/>
            <a:ext cx="208026" cy="231800"/>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8668512" y="3383280"/>
            <a:ext cx="2743200" cy="612648"/>
          </a:xfrm>
          <a:prstGeom prst="rect">
            <a:avLst/>
          </a:prstGeom>
          <a:noFill/>
        </p:spPr>
        <p:txBody>
          <a:bodyPr wrap="square" lIns="0" rIns="0" tIns="0" bIns="0">
            <a:spAutoFit/>
          </a:bodyPr>
          <a:lstStyle/>
          <a:p>
            <a:pPr algn="ctr">
              <a:spcAft>
                <a:spcPts val="500"/>
              </a:spcAft>
              <a:defRPr sz="2700" b="1">
                <a:solidFill>
                  <a:srgbClr val="B65F20"/>
                </a:solidFill>
                <a:latin typeface="Lato"/>
              </a:defRPr>
            </a:pPr>
            <a:r>
              <a:t>PENDING</a:t>
            </a:r>
          </a:p>
        </p:txBody>
      </p:sp>
      <p:sp>
        <p:nvSpPr>
          <p:cNvPr id="48" name="TextBox 47"/>
          <p:cNvSpPr txBox="1"/>
          <p:nvPr/>
        </p:nvSpPr>
        <p:spPr>
          <a:xfrm>
            <a:off x="8769096" y="4197096"/>
            <a:ext cx="2523744" cy="923544"/>
          </a:xfrm>
          <a:prstGeom prst="rect">
            <a:avLst/>
          </a:prstGeom>
          <a:noFill/>
        </p:spPr>
        <p:txBody>
          <a:bodyPr wrap="square" lIns="0" rIns="0" tIns="0" bIns="0">
            <a:spAutoFit/>
          </a:bodyPr>
          <a:lstStyle/>
          <a:p>
            <a:pPr algn="ctr">
              <a:spcAft>
                <a:spcPts val="500"/>
              </a:spcAft>
              <a:defRPr sz="1800" b="0">
                <a:solidFill>
                  <a:srgbClr val="B65F20"/>
                </a:solidFill>
                <a:latin typeface="Lato"/>
              </a:defRPr>
            </a:pPr>
            <a:r>
              <a:t>Open follow-up</a:t>
            </a:r>
          </a:p>
          <a:p>
            <a:pPr algn="ctr">
              <a:spcAft>
                <a:spcPts val="500"/>
              </a:spcAft>
              <a:defRPr sz="1800" b="0">
                <a:solidFill>
                  <a:srgbClr val="B65F20"/>
                </a:solidFill>
                <a:latin typeface="Lato"/>
              </a:defRPr>
            </a:pPr>
            <a:r>
              <a:t>PS owns next action</a:t>
            </a:r>
          </a:p>
        </p:txBody>
      </p:sp>
      <p:cxnSp>
        <p:nvCxnSpPr>
          <p:cNvPr id="49" name="Connector 48"/>
          <p:cNvCxnSpPr/>
          <p:nvPr/>
        </p:nvCxnSpPr>
        <p:spPr>
          <a:xfrm>
            <a:off x="576072" y="5888736"/>
            <a:ext cx="329184" cy="0"/>
          </a:xfrm>
          <a:prstGeom prst="line">
            <a:avLst/>
          </a:prstGeom>
          <a:ln w="38100">
            <a:solidFill>
              <a:srgbClr val="B65F20"/>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1060704" y="5724144"/>
            <a:ext cx="10332720" cy="448056"/>
          </a:xfrm>
          <a:prstGeom prst="rect">
            <a:avLst/>
          </a:prstGeom>
          <a:noFill/>
        </p:spPr>
        <p:txBody>
          <a:bodyPr wrap="square" lIns="0" rIns="0" tIns="0" bIns="0">
            <a:spAutoFit/>
          </a:bodyPr>
          <a:lstStyle/>
          <a:p>
            <a:pPr>
              <a:spcAft>
                <a:spcPts val="500"/>
              </a:spcAft>
              <a:defRPr sz="1500" b="1">
                <a:solidFill>
                  <a:srgbClr val="B65F20"/>
                </a:solidFill>
                <a:latin typeface="Lato"/>
              </a:defRPr>
            </a:pPr>
            <a:r>
              <a:t>Open the same record after saving: verify status, owner and history.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LIVE SCENARIO</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04 / PS records a sales loss</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DEMO DEEPAK: “I have chosen a competing product.”</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20 / 30</a:t>
            </a:r>
          </a:p>
        </p:txBody>
      </p:sp>
      <p:sp>
        <p:nvSpPr>
          <p:cNvPr id="8" name="Rounded Rectangle 7"/>
          <p:cNvSpPr/>
          <p:nvPr/>
        </p:nvSpPr>
        <p:spPr>
          <a:xfrm>
            <a:off x="566928" y="2240280"/>
            <a:ext cx="7635240" cy="326440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097280" y="2971800"/>
            <a:ext cx="5486400" cy="0"/>
          </a:xfrm>
          <a:prstGeom prst="line">
            <a:avLst/>
          </a:prstGeom>
          <a:ln w="63500">
            <a:solidFill>
              <a:srgbClr val="DDD4E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04671" y="2679192"/>
            <a:ext cx="585216" cy="585216"/>
          </a:xfrm>
          <a:prstGeom prst="ellipse">
            <a:avLst/>
          </a:prstGeom>
          <a:solidFill>
            <a:srgbClr val="E8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8882" y="2785628"/>
            <a:ext cx="136794" cy="136794"/>
          </a:xfrm>
          <a:prstGeom prst="ellipse">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flipV="1">
            <a:off x="964509" y="3027029"/>
            <a:ext cx="0" cy="96561"/>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964509" y="2970702"/>
            <a:ext cx="72420" cy="56327"/>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36929" y="2970702"/>
            <a:ext cx="120701"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57630" y="2970702"/>
            <a:ext cx="72420" cy="56327"/>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30050" y="3027029"/>
            <a:ext cx="0" cy="96561"/>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04671" y="3557016"/>
            <a:ext cx="1655064" cy="566928"/>
          </a:xfrm>
          <a:prstGeom prst="rect">
            <a:avLst/>
          </a:prstGeom>
          <a:noFill/>
        </p:spPr>
        <p:txBody>
          <a:bodyPr wrap="square" lIns="0" rIns="0" tIns="0" bIns="0">
            <a:spAutoFit/>
          </a:bodyPr>
          <a:lstStyle/>
          <a:p>
            <a:pPr>
              <a:spcAft>
                <a:spcPts val="500"/>
              </a:spcAft>
              <a:defRPr sz="2000" b="1">
                <a:solidFill>
                  <a:srgbClr val="2D1B38"/>
                </a:solidFill>
                <a:latin typeface="Lato"/>
              </a:defRPr>
            </a:pPr>
            <a:r>
              <a:t>Open lead</a:t>
            </a:r>
          </a:p>
        </p:txBody>
      </p:sp>
      <p:sp>
        <p:nvSpPr>
          <p:cNvPr id="18" name="TextBox 17"/>
          <p:cNvSpPr txBox="1"/>
          <p:nvPr/>
        </p:nvSpPr>
        <p:spPr>
          <a:xfrm>
            <a:off x="804671" y="4251960"/>
            <a:ext cx="1655064" cy="804672"/>
          </a:xfrm>
          <a:prstGeom prst="rect">
            <a:avLst/>
          </a:prstGeom>
          <a:noFill/>
        </p:spPr>
        <p:txBody>
          <a:bodyPr wrap="square" lIns="0" rIns="0" tIns="0" bIns="0">
            <a:spAutoFit/>
          </a:bodyPr>
          <a:lstStyle/>
          <a:p>
            <a:pPr>
              <a:spcAft>
                <a:spcPts val="500"/>
              </a:spcAft>
              <a:defRPr sz="1700" b="0">
                <a:solidFill>
                  <a:srgbClr val="776B80"/>
                </a:solidFill>
                <a:latin typeface="Lato"/>
              </a:defRPr>
            </a:pPr>
            <a:r>
              <a:t>Qualified lead</a:t>
            </a:r>
          </a:p>
          <a:p>
            <a:pPr>
              <a:spcAft>
                <a:spcPts val="500"/>
              </a:spcAft>
              <a:defRPr sz="1700" b="0">
                <a:solidFill>
                  <a:srgbClr val="776B80"/>
                </a:solidFill>
                <a:latin typeface="Lato"/>
              </a:defRPr>
            </a:pPr>
            <a:r>
              <a:t>Assigned PS</a:t>
            </a:r>
          </a:p>
        </p:txBody>
      </p:sp>
      <p:sp>
        <p:nvSpPr>
          <p:cNvPr id="19" name="Oval 18"/>
          <p:cNvSpPr/>
          <p:nvPr/>
        </p:nvSpPr>
        <p:spPr>
          <a:xfrm>
            <a:off x="2633472" y="2679192"/>
            <a:ext cx="585216" cy="585216"/>
          </a:xfrm>
          <a:prstGeom prst="ellipse">
            <a:avLst/>
          </a:prstGeom>
          <a:solidFill>
            <a:srgbClr val="E8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H="1">
            <a:off x="2761122" y="2813791"/>
            <a:ext cx="36210" cy="84491"/>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761122" y="2898282"/>
            <a:ext cx="76444" cy="124724"/>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837566" y="3023006"/>
            <a:ext cx="148864" cy="108631"/>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986430" y="3087380"/>
            <a:ext cx="92537" cy="44257"/>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797332" y="2813791"/>
            <a:ext cx="84491" cy="80467"/>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2837566" y="2894258"/>
            <a:ext cx="44257" cy="52304"/>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946196" y="3006912"/>
            <a:ext cx="56327" cy="48281"/>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002523" y="3006912"/>
            <a:ext cx="76444" cy="80468"/>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633472" y="3557016"/>
            <a:ext cx="1655064" cy="566928"/>
          </a:xfrm>
          <a:prstGeom prst="rect">
            <a:avLst/>
          </a:prstGeom>
          <a:noFill/>
        </p:spPr>
        <p:txBody>
          <a:bodyPr wrap="square" lIns="0" rIns="0" tIns="0" bIns="0">
            <a:spAutoFit/>
          </a:bodyPr>
          <a:lstStyle/>
          <a:p>
            <a:pPr>
              <a:spcAft>
                <a:spcPts val="500"/>
              </a:spcAft>
              <a:defRPr sz="2000" b="1">
                <a:solidFill>
                  <a:srgbClr val="2D1B38"/>
                </a:solidFill>
                <a:latin typeface="Lato"/>
              </a:defRPr>
            </a:pPr>
            <a:r>
              <a:t>Choose loss</a:t>
            </a:r>
          </a:p>
        </p:txBody>
      </p:sp>
      <p:sp>
        <p:nvSpPr>
          <p:cNvPr id="29" name="TextBox 28"/>
          <p:cNvSpPr txBox="1"/>
          <p:nvPr/>
        </p:nvSpPr>
        <p:spPr>
          <a:xfrm>
            <a:off x="2633472" y="4251960"/>
            <a:ext cx="1655064" cy="804672"/>
          </a:xfrm>
          <a:prstGeom prst="rect">
            <a:avLst/>
          </a:prstGeom>
          <a:noFill/>
        </p:spPr>
        <p:txBody>
          <a:bodyPr wrap="square" lIns="0" rIns="0" tIns="0" bIns="0">
            <a:spAutoFit/>
          </a:bodyPr>
          <a:lstStyle/>
          <a:p>
            <a:pPr>
              <a:spcAft>
                <a:spcPts val="500"/>
              </a:spcAft>
              <a:defRPr sz="1700" b="0">
                <a:solidFill>
                  <a:srgbClr val="776B80"/>
                </a:solidFill>
                <a:latin typeface="Lato"/>
              </a:defRPr>
            </a:pPr>
            <a:r>
              <a:t>Connected</a:t>
            </a:r>
          </a:p>
          <a:p>
            <a:pPr>
              <a:spcAft>
                <a:spcPts val="500"/>
              </a:spcAft>
              <a:defRPr sz="1700" b="0">
                <a:solidFill>
                  <a:srgbClr val="776B80"/>
                </a:solidFill>
                <a:latin typeface="Lato"/>
              </a:defRPr>
            </a:pPr>
            <a:r>
              <a:t>Lost to Competition</a:t>
            </a:r>
          </a:p>
        </p:txBody>
      </p:sp>
      <p:sp>
        <p:nvSpPr>
          <p:cNvPr id="30" name="Oval 29"/>
          <p:cNvSpPr/>
          <p:nvPr/>
        </p:nvSpPr>
        <p:spPr>
          <a:xfrm>
            <a:off x="4462272" y="2679192"/>
            <a:ext cx="585216" cy="585216"/>
          </a:xfrm>
          <a:prstGeom prst="ellipse">
            <a:avLst/>
          </a:prstGeom>
          <a:solidFill>
            <a:srgbClr val="E8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581875" y="2841955"/>
            <a:ext cx="346008" cy="253471"/>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a:off x="4807183" y="2841955"/>
            <a:ext cx="0" cy="253471"/>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634179" y="2918399"/>
            <a:ext cx="112654"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634179" y="3002889"/>
            <a:ext cx="112654"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462272" y="3557016"/>
            <a:ext cx="1655064" cy="566928"/>
          </a:xfrm>
          <a:prstGeom prst="rect">
            <a:avLst/>
          </a:prstGeom>
          <a:noFill/>
        </p:spPr>
        <p:txBody>
          <a:bodyPr wrap="square" lIns="0" rIns="0" tIns="0" bIns="0">
            <a:spAutoFit/>
          </a:bodyPr>
          <a:lstStyle/>
          <a:p>
            <a:pPr>
              <a:spcAft>
                <a:spcPts val="500"/>
              </a:spcAft>
              <a:defRPr sz="2000" b="1">
                <a:solidFill>
                  <a:srgbClr val="2D1B38"/>
                </a:solidFill>
                <a:latin typeface="Lato"/>
              </a:defRPr>
            </a:pPr>
            <a:r>
              <a:t>Explain</a:t>
            </a:r>
          </a:p>
        </p:txBody>
      </p:sp>
      <p:sp>
        <p:nvSpPr>
          <p:cNvPr id="36" name="TextBox 35"/>
          <p:cNvSpPr txBox="1"/>
          <p:nvPr/>
        </p:nvSpPr>
        <p:spPr>
          <a:xfrm>
            <a:off x="4462272" y="4251960"/>
            <a:ext cx="1655064" cy="804672"/>
          </a:xfrm>
          <a:prstGeom prst="rect">
            <a:avLst/>
          </a:prstGeom>
          <a:noFill/>
        </p:spPr>
        <p:txBody>
          <a:bodyPr wrap="square" lIns="0" rIns="0" tIns="0" bIns="0">
            <a:spAutoFit/>
          </a:bodyPr>
          <a:lstStyle/>
          <a:p>
            <a:pPr>
              <a:spcAft>
                <a:spcPts val="500"/>
              </a:spcAft>
              <a:defRPr sz="1700" b="0">
                <a:solidFill>
                  <a:srgbClr val="776B80"/>
                </a:solidFill>
                <a:latin typeface="Lato"/>
              </a:defRPr>
            </a:pPr>
            <a:r>
              <a:t>Specific reason</a:t>
            </a:r>
          </a:p>
          <a:p>
            <a:pPr>
              <a:spcAft>
                <a:spcPts val="500"/>
              </a:spcAft>
              <a:defRPr sz="1700" b="0">
                <a:solidFill>
                  <a:srgbClr val="776B80"/>
                </a:solidFill>
                <a:latin typeface="Lato"/>
              </a:defRPr>
            </a:pPr>
            <a:r>
              <a:t>Customer remarks</a:t>
            </a:r>
          </a:p>
        </p:txBody>
      </p:sp>
      <p:sp>
        <p:nvSpPr>
          <p:cNvPr id="37" name="Oval 36"/>
          <p:cNvSpPr/>
          <p:nvPr/>
        </p:nvSpPr>
        <p:spPr>
          <a:xfrm>
            <a:off x="6291072" y="2679192"/>
            <a:ext cx="585216" cy="585216"/>
          </a:xfrm>
          <a:prstGeom prst="ellipse">
            <a:avLst/>
          </a:prstGeom>
          <a:solidFill>
            <a:srgbClr val="E8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406652" y="2785628"/>
            <a:ext cx="354055" cy="354055"/>
          </a:xfrm>
          <a:prstGeom prst="ellipse">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6475049" y="2958632"/>
            <a:ext cx="76444" cy="76444"/>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6551493" y="2878165"/>
            <a:ext cx="140817" cy="156911"/>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291072" y="3557016"/>
            <a:ext cx="1655064" cy="566928"/>
          </a:xfrm>
          <a:prstGeom prst="rect">
            <a:avLst/>
          </a:prstGeom>
          <a:noFill/>
        </p:spPr>
        <p:txBody>
          <a:bodyPr wrap="square" lIns="0" rIns="0" tIns="0" bIns="0">
            <a:spAutoFit/>
          </a:bodyPr>
          <a:lstStyle/>
          <a:p>
            <a:pPr>
              <a:spcAft>
                <a:spcPts val="500"/>
              </a:spcAft>
              <a:defRPr sz="2000" b="1">
                <a:solidFill>
                  <a:srgbClr val="2D1B38"/>
                </a:solidFill>
                <a:latin typeface="Lato"/>
              </a:defRPr>
            </a:pPr>
            <a:r>
              <a:t>Save</a:t>
            </a:r>
          </a:p>
        </p:txBody>
      </p:sp>
      <p:sp>
        <p:nvSpPr>
          <p:cNvPr id="42" name="TextBox 41"/>
          <p:cNvSpPr txBox="1"/>
          <p:nvPr/>
        </p:nvSpPr>
        <p:spPr>
          <a:xfrm>
            <a:off x="6291072" y="4251960"/>
            <a:ext cx="1655064" cy="804672"/>
          </a:xfrm>
          <a:prstGeom prst="rect">
            <a:avLst/>
          </a:prstGeom>
          <a:noFill/>
        </p:spPr>
        <p:txBody>
          <a:bodyPr wrap="square" lIns="0" rIns="0" tIns="0" bIns="0">
            <a:spAutoFit/>
          </a:bodyPr>
          <a:lstStyle/>
          <a:p>
            <a:pPr>
              <a:spcAft>
                <a:spcPts val="500"/>
              </a:spcAft>
              <a:defRPr sz="1700" b="0">
                <a:solidFill>
                  <a:srgbClr val="776B80"/>
                </a:solidFill>
                <a:latin typeface="Lato"/>
              </a:defRPr>
            </a:pPr>
            <a:r>
              <a:t>PS Lost view</a:t>
            </a:r>
          </a:p>
          <a:p>
            <a:pPr>
              <a:spcAft>
                <a:spcPts val="500"/>
              </a:spcAft>
              <a:defRPr sz="1700" b="0">
                <a:solidFill>
                  <a:srgbClr val="776B80"/>
                </a:solidFill>
                <a:latin typeface="Lato"/>
              </a:defRPr>
            </a:pPr>
            <a:r>
              <a:t>SM branch view</a:t>
            </a:r>
          </a:p>
        </p:txBody>
      </p:sp>
      <p:sp>
        <p:nvSpPr>
          <p:cNvPr id="43" name="Rounded Rectangle 42"/>
          <p:cNvSpPr/>
          <p:nvPr/>
        </p:nvSpPr>
        <p:spPr>
          <a:xfrm>
            <a:off x="8449056" y="2240280"/>
            <a:ext cx="3172968" cy="3264408"/>
          </a:xfrm>
          <a:prstGeom prst="roundRect">
            <a:avLst/>
          </a:prstGeom>
          <a:solidFill>
            <a:srgbClr val="F4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728301" y="2614269"/>
            <a:ext cx="523036" cy="523036"/>
          </a:xfrm>
          <a:prstGeom prst="ellipse">
            <a:avLst/>
          </a:prstGeom>
          <a:noFill/>
          <a:ln w="15240">
            <a:solidFill>
              <a:srgbClr val="AD40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9829342" y="2869844"/>
            <a:ext cx="112929" cy="112928"/>
          </a:xfrm>
          <a:prstGeom prst="line">
            <a:avLst/>
          </a:prstGeom>
          <a:ln w="25400">
            <a:solidFill>
              <a:srgbClr val="AD405D"/>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9942271" y="2750972"/>
            <a:ext cx="208026" cy="231800"/>
          </a:xfrm>
          <a:prstGeom prst="line">
            <a:avLst/>
          </a:prstGeom>
          <a:ln w="25400">
            <a:solidFill>
              <a:srgbClr val="AD405D"/>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8668512" y="3383280"/>
            <a:ext cx="2743200" cy="612648"/>
          </a:xfrm>
          <a:prstGeom prst="rect">
            <a:avLst/>
          </a:prstGeom>
          <a:noFill/>
        </p:spPr>
        <p:txBody>
          <a:bodyPr wrap="square" lIns="0" rIns="0" tIns="0" bIns="0">
            <a:spAutoFit/>
          </a:bodyPr>
          <a:lstStyle/>
          <a:p>
            <a:pPr algn="ctr">
              <a:spcAft>
                <a:spcPts val="500"/>
              </a:spcAft>
              <a:defRPr sz="2700" b="1">
                <a:solidFill>
                  <a:srgbClr val="AD405D"/>
                </a:solidFill>
                <a:latin typeface="Lato"/>
              </a:defRPr>
            </a:pPr>
            <a:r>
              <a:t>LOST</a:t>
            </a:r>
          </a:p>
        </p:txBody>
      </p:sp>
      <p:sp>
        <p:nvSpPr>
          <p:cNvPr id="48" name="TextBox 47"/>
          <p:cNvSpPr txBox="1"/>
          <p:nvPr/>
        </p:nvSpPr>
        <p:spPr>
          <a:xfrm>
            <a:off x="8769096" y="4197096"/>
            <a:ext cx="2523744" cy="923544"/>
          </a:xfrm>
          <a:prstGeom prst="rect">
            <a:avLst/>
          </a:prstGeom>
          <a:noFill/>
        </p:spPr>
        <p:txBody>
          <a:bodyPr wrap="square" lIns="0" rIns="0" tIns="0" bIns="0">
            <a:spAutoFit/>
          </a:bodyPr>
          <a:lstStyle/>
          <a:p>
            <a:pPr algn="ctr">
              <a:spcAft>
                <a:spcPts val="500"/>
              </a:spcAft>
              <a:defRPr sz="1800" b="0">
                <a:solidFill>
                  <a:srgbClr val="AD405D"/>
                </a:solidFill>
                <a:latin typeface="Lato"/>
              </a:defRPr>
            </a:pPr>
            <a:r>
              <a:t>CRE history kept</a:t>
            </a:r>
          </a:p>
          <a:p>
            <a:pPr algn="ctr">
              <a:spcAft>
                <a:spcPts val="500"/>
              </a:spcAft>
              <a:defRPr sz="1800" b="0">
                <a:solidFill>
                  <a:srgbClr val="AD405D"/>
                </a:solidFill>
                <a:latin typeface="Lato"/>
              </a:defRPr>
            </a:pPr>
            <a:r>
              <a:t>PS loss recorded</a:t>
            </a:r>
          </a:p>
        </p:txBody>
      </p:sp>
      <p:cxnSp>
        <p:nvCxnSpPr>
          <p:cNvPr id="49" name="Connector 48"/>
          <p:cNvCxnSpPr/>
          <p:nvPr/>
        </p:nvCxnSpPr>
        <p:spPr>
          <a:xfrm>
            <a:off x="576072" y="5888736"/>
            <a:ext cx="329184" cy="0"/>
          </a:xfrm>
          <a:prstGeom prst="line">
            <a:avLst/>
          </a:prstGeom>
          <a:ln w="38100">
            <a:solidFill>
              <a:srgbClr val="AD405D"/>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1060704" y="5724144"/>
            <a:ext cx="10332720" cy="448056"/>
          </a:xfrm>
          <a:prstGeom prst="rect">
            <a:avLst/>
          </a:prstGeom>
          <a:noFill/>
        </p:spPr>
        <p:txBody>
          <a:bodyPr wrap="square" lIns="0" rIns="0" tIns="0" bIns="0">
            <a:spAutoFit/>
          </a:bodyPr>
          <a:lstStyle/>
          <a:p>
            <a:pPr>
              <a:spcAft>
                <a:spcPts val="500"/>
              </a:spcAft>
              <a:defRPr sz="1500" b="1">
                <a:solidFill>
                  <a:srgbClr val="AD405D"/>
                </a:solidFill>
                <a:latin typeface="Lato"/>
              </a:defRPr>
            </a:pPr>
            <a:r>
              <a:t>Open the same record after saving: verify status, owner and history.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LIVE SCENARIO</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05 / CRE hands a complaint to the resolution team</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DEMO FARAH: “My delivery issue needs attention.”</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21 / 30</a:t>
            </a:r>
          </a:p>
        </p:txBody>
      </p:sp>
      <p:sp>
        <p:nvSpPr>
          <p:cNvPr id="8" name="Rounded Rectangle 7"/>
          <p:cNvSpPr/>
          <p:nvPr/>
        </p:nvSpPr>
        <p:spPr>
          <a:xfrm>
            <a:off x="630936" y="2276856"/>
            <a:ext cx="10917936" cy="87782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22960" y="2532888"/>
            <a:ext cx="2185416" cy="356616"/>
          </a:xfrm>
          <a:prstGeom prst="roundRect">
            <a:avLst/>
          </a:prstGeom>
          <a:solidFill>
            <a:srgbClr val="E8D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596896"/>
            <a:ext cx="2002536" cy="228600"/>
          </a:xfrm>
          <a:prstGeom prst="rect">
            <a:avLst/>
          </a:prstGeom>
          <a:noFill/>
        </p:spPr>
        <p:txBody>
          <a:bodyPr wrap="square" lIns="0" rIns="0" tIns="0" bIns="0">
            <a:spAutoFit/>
          </a:bodyPr>
          <a:lstStyle/>
          <a:p>
            <a:pPr algn="ctr">
              <a:spcAft>
                <a:spcPts val="500"/>
              </a:spcAft>
              <a:defRPr sz="1300" b="1">
                <a:solidFill>
                  <a:srgbClr val="6945A3"/>
                </a:solidFill>
                <a:latin typeface="Lato"/>
              </a:defRPr>
            </a:pPr>
            <a:r>
              <a:t>CRE</a:t>
            </a:r>
          </a:p>
        </p:txBody>
      </p:sp>
      <p:sp>
        <p:nvSpPr>
          <p:cNvPr id="11" name="Rounded Rectangle 10"/>
          <p:cNvSpPr/>
          <p:nvPr/>
        </p:nvSpPr>
        <p:spPr>
          <a:xfrm>
            <a:off x="3455700" y="2534716"/>
            <a:ext cx="440375" cy="322600"/>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3742456" y="2534716"/>
            <a:ext cx="0" cy="322601"/>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522268" y="2632008"/>
            <a:ext cx="143378"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522268" y="2739542"/>
            <a:ext cx="143378"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261104" y="2487168"/>
            <a:ext cx="3182112" cy="365760"/>
          </a:xfrm>
          <a:prstGeom prst="rect">
            <a:avLst/>
          </a:prstGeom>
          <a:noFill/>
        </p:spPr>
        <p:txBody>
          <a:bodyPr wrap="square" lIns="0" rIns="0" tIns="0" bIns="0">
            <a:spAutoFit/>
          </a:bodyPr>
          <a:lstStyle/>
          <a:p>
            <a:pPr>
              <a:spcAft>
                <a:spcPts val="500"/>
              </a:spcAft>
              <a:defRPr sz="2300" b="1">
                <a:solidFill>
                  <a:srgbClr val="6945A3"/>
                </a:solidFill>
                <a:latin typeface="Lato"/>
              </a:defRPr>
            </a:pPr>
            <a:r>
              <a:t>Log complaint</a:t>
            </a:r>
          </a:p>
        </p:txBody>
      </p:sp>
      <p:sp>
        <p:nvSpPr>
          <p:cNvPr id="16" name="TextBox 15"/>
          <p:cNvSpPr txBox="1"/>
          <p:nvPr/>
        </p:nvSpPr>
        <p:spPr>
          <a:xfrm>
            <a:off x="7717536" y="2395728"/>
            <a:ext cx="3584448" cy="676656"/>
          </a:xfrm>
          <a:prstGeom prst="rect">
            <a:avLst/>
          </a:prstGeom>
          <a:noFill/>
        </p:spPr>
        <p:txBody>
          <a:bodyPr wrap="square" lIns="0" rIns="0" tIns="0" bIns="0">
            <a:spAutoFit/>
          </a:bodyPr>
          <a:lstStyle/>
          <a:p>
            <a:pPr>
              <a:spcAft>
                <a:spcPts val="500"/>
              </a:spcAft>
              <a:defRPr sz="1800" b="0">
                <a:solidFill>
                  <a:srgbClr val="776B80"/>
                </a:solidFill>
                <a:latin typeface="Lato"/>
              </a:defRPr>
            </a:pPr>
            <a:r>
              <a:t>Customer · branch</a:t>
            </a:r>
          </a:p>
          <a:p>
            <a:pPr>
              <a:spcAft>
                <a:spcPts val="500"/>
              </a:spcAft>
              <a:defRPr sz="1800" b="0">
                <a:solidFill>
                  <a:srgbClr val="776B80"/>
                </a:solidFill>
                <a:latin typeface="Lato"/>
              </a:defRPr>
            </a:pPr>
            <a:r>
              <a:t>Issue · priority</a:t>
            </a:r>
          </a:p>
        </p:txBody>
      </p:sp>
      <p:sp>
        <p:nvSpPr>
          <p:cNvPr id="17" name="Rounded Rectangle 16"/>
          <p:cNvSpPr/>
          <p:nvPr/>
        </p:nvSpPr>
        <p:spPr>
          <a:xfrm>
            <a:off x="630936" y="3319272"/>
            <a:ext cx="10917936" cy="87782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2960" y="3575304"/>
            <a:ext cx="2185416" cy="356616"/>
          </a:xfrm>
          <a:prstGeom prst="roundRect">
            <a:avLst/>
          </a:prstGeom>
          <a:solidFill>
            <a:srgbClr val="F6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639312"/>
            <a:ext cx="2002536" cy="228600"/>
          </a:xfrm>
          <a:prstGeom prst="rect">
            <a:avLst/>
          </a:prstGeom>
          <a:noFill/>
        </p:spPr>
        <p:txBody>
          <a:bodyPr wrap="square" lIns="0" rIns="0" tIns="0" bIns="0">
            <a:spAutoFit/>
          </a:bodyPr>
          <a:lstStyle/>
          <a:p>
            <a:pPr algn="ctr">
              <a:spcAft>
                <a:spcPts val="500"/>
              </a:spcAft>
              <a:defRPr sz="1300" b="1">
                <a:solidFill>
                  <a:srgbClr val="B65F20"/>
                </a:solidFill>
                <a:latin typeface="Lato"/>
              </a:defRPr>
            </a:pPr>
            <a:r>
              <a:t>COMPLAINTS</a:t>
            </a:r>
          </a:p>
        </p:txBody>
      </p:sp>
      <p:sp>
        <p:nvSpPr>
          <p:cNvPr id="20" name="Rounded Rectangle 19"/>
          <p:cNvSpPr/>
          <p:nvPr/>
        </p:nvSpPr>
        <p:spPr>
          <a:xfrm>
            <a:off x="3455700" y="3577132"/>
            <a:ext cx="440375" cy="322600"/>
          </a:xfrm>
          <a:prstGeom prst="roundRect">
            <a:avLst/>
          </a:prstGeom>
          <a:noFill/>
          <a:ln w="15240">
            <a:solidFill>
              <a:srgbClr val="B65F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3742456" y="3577132"/>
            <a:ext cx="0" cy="322601"/>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522268" y="3674424"/>
            <a:ext cx="143378" cy="0"/>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522268" y="3781958"/>
            <a:ext cx="143378" cy="0"/>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261104" y="3529584"/>
            <a:ext cx="3182112" cy="365760"/>
          </a:xfrm>
          <a:prstGeom prst="rect">
            <a:avLst/>
          </a:prstGeom>
          <a:noFill/>
        </p:spPr>
        <p:txBody>
          <a:bodyPr wrap="square" lIns="0" rIns="0" tIns="0" bIns="0">
            <a:spAutoFit/>
          </a:bodyPr>
          <a:lstStyle/>
          <a:p>
            <a:pPr>
              <a:spcAft>
                <a:spcPts val="500"/>
              </a:spcAft>
              <a:defRPr sz="2300" b="1">
                <a:solidFill>
                  <a:srgbClr val="B65F20"/>
                </a:solidFill>
                <a:latin typeface="Lato"/>
              </a:defRPr>
            </a:pPr>
            <a:r>
              <a:t>Work the ticket</a:t>
            </a:r>
          </a:p>
        </p:txBody>
      </p:sp>
      <p:sp>
        <p:nvSpPr>
          <p:cNvPr id="25" name="TextBox 24"/>
          <p:cNvSpPr txBox="1"/>
          <p:nvPr/>
        </p:nvSpPr>
        <p:spPr>
          <a:xfrm>
            <a:off x="7717536" y="3438144"/>
            <a:ext cx="3584448" cy="676656"/>
          </a:xfrm>
          <a:prstGeom prst="rect">
            <a:avLst/>
          </a:prstGeom>
          <a:noFill/>
        </p:spPr>
        <p:txBody>
          <a:bodyPr wrap="square" lIns="0" rIns="0" tIns="0" bIns="0">
            <a:spAutoFit/>
          </a:bodyPr>
          <a:lstStyle/>
          <a:p>
            <a:pPr>
              <a:spcAft>
                <a:spcPts val="500"/>
              </a:spcAft>
              <a:defRPr sz="1800" b="0">
                <a:solidFill>
                  <a:srgbClr val="776B80"/>
                </a:solidFill>
                <a:latin typeface="Lato"/>
              </a:defRPr>
            </a:pPr>
            <a:r>
              <a:t>In Progress</a:t>
            </a:r>
          </a:p>
          <a:p>
            <a:pPr>
              <a:spcAft>
                <a:spcPts val="500"/>
              </a:spcAft>
              <a:defRPr sz="1800" b="0">
                <a:solidFill>
                  <a:srgbClr val="776B80"/>
                </a:solidFill>
                <a:latin typeface="Lato"/>
              </a:defRPr>
            </a:pPr>
            <a:r>
              <a:t>Add resolution remarks</a:t>
            </a:r>
          </a:p>
        </p:txBody>
      </p:sp>
      <p:sp>
        <p:nvSpPr>
          <p:cNvPr id="26" name="Rounded Rectangle 25"/>
          <p:cNvSpPr/>
          <p:nvPr/>
        </p:nvSpPr>
        <p:spPr>
          <a:xfrm>
            <a:off x="630936" y="4361688"/>
            <a:ext cx="10917936" cy="87782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22960" y="4617720"/>
            <a:ext cx="2185416" cy="356616"/>
          </a:xfrm>
          <a:prstGeom prst="roundRect">
            <a:avLst/>
          </a:prstGeom>
          <a:solidFill>
            <a:srgbClr val="DDE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4681728"/>
            <a:ext cx="2002536" cy="228600"/>
          </a:xfrm>
          <a:prstGeom prst="rect">
            <a:avLst/>
          </a:prstGeom>
          <a:noFill/>
        </p:spPr>
        <p:txBody>
          <a:bodyPr wrap="square" lIns="0" rIns="0" tIns="0" bIns="0">
            <a:spAutoFit/>
          </a:bodyPr>
          <a:lstStyle/>
          <a:p>
            <a:pPr algn="ctr">
              <a:spcAft>
                <a:spcPts val="500"/>
              </a:spcAft>
              <a:defRPr sz="1300" b="1">
                <a:solidFill>
                  <a:srgbClr val="24776D"/>
                </a:solidFill>
                <a:latin typeface="Lato"/>
              </a:defRPr>
            </a:pPr>
            <a:r>
              <a:t>CRE / ADMIN</a:t>
            </a:r>
          </a:p>
        </p:txBody>
      </p:sp>
      <p:sp>
        <p:nvSpPr>
          <p:cNvPr id="29" name="Oval 28"/>
          <p:cNvSpPr/>
          <p:nvPr/>
        </p:nvSpPr>
        <p:spPr>
          <a:xfrm>
            <a:off x="3450579" y="4547859"/>
            <a:ext cx="450616" cy="450616"/>
          </a:xfrm>
          <a:prstGeom prst="ellipse">
            <a:avLst/>
          </a:prstGeom>
          <a:noFill/>
          <a:ln w="15240">
            <a:solidFill>
              <a:srgbClr val="247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3537630" y="4768047"/>
            <a:ext cx="97292" cy="97292"/>
          </a:xfrm>
          <a:prstGeom prst="line">
            <a:avLst/>
          </a:prstGeom>
          <a:ln w="25400">
            <a:solidFill>
              <a:srgbClr val="24776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634922" y="4665634"/>
            <a:ext cx="179223" cy="199705"/>
          </a:xfrm>
          <a:prstGeom prst="line">
            <a:avLst/>
          </a:prstGeom>
          <a:ln w="25400">
            <a:solidFill>
              <a:srgbClr val="24776D"/>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261104" y="4572000"/>
            <a:ext cx="3182112" cy="365760"/>
          </a:xfrm>
          <a:prstGeom prst="rect">
            <a:avLst/>
          </a:prstGeom>
          <a:noFill/>
        </p:spPr>
        <p:txBody>
          <a:bodyPr wrap="square" lIns="0" rIns="0" tIns="0" bIns="0">
            <a:spAutoFit/>
          </a:bodyPr>
          <a:lstStyle/>
          <a:p>
            <a:pPr>
              <a:spcAft>
                <a:spcPts val="500"/>
              </a:spcAft>
              <a:defRPr sz="2300" b="1">
                <a:solidFill>
                  <a:srgbClr val="24776D"/>
                </a:solidFill>
                <a:latin typeface="Lato"/>
              </a:defRPr>
            </a:pPr>
            <a:r>
              <a:t>Track the result</a:t>
            </a:r>
          </a:p>
        </p:txBody>
      </p:sp>
      <p:sp>
        <p:nvSpPr>
          <p:cNvPr id="33" name="TextBox 32"/>
          <p:cNvSpPr txBox="1"/>
          <p:nvPr/>
        </p:nvSpPr>
        <p:spPr>
          <a:xfrm>
            <a:off x="7717536" y="4480559"/>
            <a:ext cx="3584448" cy="676656"/>
          </a:xfrm>
          <a:prstGeom prst="rect">
            <a:avLst/>
          </a:prstGeom>
          <a:noFill/>
        </p:spPr>
        <p:txBody>
          <a:bodyPr wrap="square" lIns="0" rIns="0" tIns="0" bIns="0">
            <a:spAutoFit/>
          </a:bodyPr>
          <a:lstStyle/>
          <a:p>
            <a:pPr>
              <a:spcAft>
                <a:spcPts val="500"/>
              </a:spcAft>
              <a:defRPr sz="1800" b="0">
                <a:solidFill>
                  <a:srgbClr val="776B80"/>
                </a:solidFill>
                <a:latin typeface="Lato"/>
              </a:defRPr>
            </a:pPr>
            <a:r>
              <a:t>Ticket status</a:t>
            </a:r>
          </a:p>
          <a:p>
            <a:pPr>
              <a:spcAft>
                <a:spcPts val="500"/>
              </a:spcAft>
              <a:defRPr sz="1800" b="0">
                <a:solidFill>
                  <a:srgbClr val="776B80"/>
                </a:solidFill>
                <a:latin typeface="Lato"/>
              </a:defRPr>
            </a:pPr>
            <a:r>
              <a:t>Notes and resolution</a:t>
            </a:r>
          </a:p>
        </p:txBody>
      </p:sp>
      <p:sp>
        <p:nvSpPr>
          <p:cNvPr id="34" name="Down Arrow 33"/>
          <p:cNvSpPr/>
          <p:nvPr/>
        </p:nvSpPr>
        <p:spPr>
          <a:xfrm>
            <a:off x="5806440" y="3182112"/>
            <a:ext cx="201168" cy="274320"/>
          </a:xfrm>
          <a:prstGeom prst="downArrow">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own Arrow 34"/>
          <p:cNvSpPr/>
          <p:nvPr/>
        </p:nvSpPr>
        <p:spPr>
          <a:xfrm>
            <a:off x="5806440" y="4233672"/>
            <a:ext cx="201168" cy="274320"/>
          </a:xfrm>
          <a:prstGeom prst="downArrow">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576072" y="5888736"/>
            <a:ext cx="329184" cy="0"/>
          </a:xfrm>
          <a:prstGeom prst="line">
            <a:avLst/>
          </a:prstGeom>
          <a:ln w="38100">
            <a:solidFill>
              <a:srgbClr val="6945A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060704" y="5724144"/>
            <a:ext cx="10332720" cy="448056"/>
          </a:xfrm>
          <a:prstGeom prst="rect">
            <a:avLst/>
          </a:prstGeom>
          <a:noFill/>
        </p:spPr>
        <p:txBody>
          <a:bodyPr wrap="square" lIns="0" rIns="0" tIns="0" bIns="0">
            <a:spAutoFit/>
          </a:bodyPr>
          <a:lstStyle/>
          <a:p>
            <a:pPr>
              <a:spcAft>
                <a:spcPts val="500"/>
              </a:spcAft>
              <a:defRPr sz="1500" b="1">
                <a:solidFill>
                  <a:srgbClr val="6945A3"/>
                </a:solidFill>
                <a:latin typeface="Lato"/>
              </a:defRPr>
            </a:pPr>
            <a:r>
              <a:t>Complaint is a separate ticket. It does not automatically change or link the sales lead.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SUCCESSFUL OUTCOME</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Complete the sales story</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PS/SO records progress after the company’s sales process supports it.</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22 / 30</a:t>
            </a:r>
          </a:p>
        </p:txBody>
      </p:sp>
      <p:cxnSp>
        <p:nvCxnSpPr>
          <p:cNvPr id="8" name="Connector 7"/>
          <p:cNvCxnSpPr/>
          <p:nvPr/>
        </p:nvCxnSpPr>
        <p:spPr>
          <a:xfrm>
            <a:off x="1179576" y="2871215"/>
            <a:ext cx="8366759" cy="0"/>
          </a:xfrm>
          <a:prstGeom prst="line">
            <a:avLst/>
          </a:prstGeom>
          <a:ln w="76200">
            <a:solidFill>
              <a:srgbClr val="DDD4E6"/>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22960" y="2514599"/>
            <a:ext cx="713232" cy="713232"/>
          </a:xfrm>
          <a:prstGeom prst="ellipse">
            <a:avLst/>
          </a:prstGeom>
          <a:solidFill>
            <a:srgbClr val="FFFFFF"/>
          </a:solid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22664" y="2638592"/>
            <a:ext cx="313822" cy="446958"/>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089233" y="2762219"/>
            <a:ext cx="185440"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89233" y="2862072"/>
            <a:ext cx="185440"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89233" y="2966679"/>
            <a:ext cx="133136"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58368" y="3474720"/>
            <a:ext cx="2331720" cy="347472"/>
          </a:xfrm>
          <a:prstGeom prst="rect">
            <a:avLst/>
          </a:prstGeom>
          <a:noFill/>
        </p:spPr>
        <p:txBody>
          <a:bodyPr wrap="square" lIns="0" rIns="0" tIns="0" bIns="0">
            <a:spAutoFit/>
          </a:bodyPr>
          <a:lstStyle/>
          <a:p>
            <a:pPr algn="ctr">
              <a:spcAft>
                <a:spcPts val="500"/>
              </a:spcAft>
              <a:defRPr sz="2100" b="1">
                <a:solidFill>
                  <a:srgbClr val="6945A3"/>
                </a:solidFill>
                <a:latin typeface="Lato"/>
              </a:defRPr>
            </a:pPr>
            <a:r>
              <a:t>QUALIFIED</a:t>
            </a:r>
          </a:p>
        </p:txBody>
      </p:sp>
      <p:sp>
        <p:nvSpPr>
          <p:cNvPr id="15" name="TextBox 14"/>
          <p:cNvSpPr txBox="1"/>
          <p:nvPr/>
        </p:nvSpPr>
        <p:spPr>
          <a:xfrm>
            <a:off x="658368" y="3977639"/>
            <a:ext cx="2331720" cy="640080"/>
          </a:xfrm>
          <a:prstGeom prst="rect">
            <a:avLst/>
          </a:prstGeom>
          <a:noFill/>
        </p:spPr>
        <p:txBody>
          <a:bodyPr wrap="square" lIns="0" rIns="0" tIns="0" bIns="0">
            <a:spAutoFit/>
          </a:bodyPr>
          <a:lstStyle/>
          <a:p>
            <a:pPr algn="ctr">
              <a:spcAft>
                <a:spcPts val="500"/>
              </a:spcAft>
              <a:defRPr sz="1700" b="0">
                <a:solidFill>
                  <a:srgbClr val="776B80"/>
                </a:solidFill>
                <a:latin typeface="Lato"/>
              </a:defRPr>
            </a:pPr>
            <a:r>
              <a:t>Read CRE context</a:t>
            </a:r>
          </a:p>
        </p:txBody>
      </p:sp>
      <p:sp>
        <p:nvSpPr>
          <p:cNvPr id="16" name="Oval 15"/>
          <p:cNvSpPr/>
          <p:nvPr/>
        </p:nvSpPr>
        <p:spPr>
          <a:xfrm>
            <a:off x="3611879" y="2514599"/>
            <a:ext cx="713232" cy="713232"/>
          </a:xfrm>
          <a:prstGeom prst="ellipse">
            <a:avLst/>
          </a:prstGeom>
          <a:solidFill>
            <a:srgbClr val="FFFFFF"/>
          </a:solid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H="1">
            <a:off x="3773545" y="2686141"/>
            <a:ext cx="42794" cy="99852"/>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773545" y="2785993"/>
            <a:ext cx="90343" cy="147402"/>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863888" y="2933395"/>
            <a:ext cx="175931" cy="128381"/>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039819" y="3009473"/>
            <a:ext cx="109362" cy="52303"/>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816339" y="2686141"/>
            <a:ext cx="99853" cy="95098"/>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3863888" y="2781239"/>
            <a:ext cx="52304" cy="61813"/>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992270" y="2914375"/>
            <a:ext cx="66568" cy="57059"/>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058838" y="2914375"/>
            <a:ext cx="90343" cy="95098"/>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447288" y="3474720"/>
            <a:ext cx="2331720" cy="347472"/>
          </a:xfrm>
          <a:prstGeom prst="rect">
            <a:avLst/>
          </a:prstGeom>
          <a:noFill/>
        </p:spPr>
        <p:txBody>
          <a:bodyPr wrap="square" lIns="0" rIns="0" tIns="0" bIns="0">
            <a:spAutoFit/>
          </a:bodyPr>
          <a:lstStyle/>
          <a:p>
            <a:pPr algn="ctr">
              <a:spcAft>
                <a:spcPts val="500"/>
              </a:spcAft>
              <a:defRPr sz="2100" b="1">
                <a:solidFill>
                  <a:srgbClr val="6945A3"/>
                </a:solidFill>
                <a:latin typeface="Lato"/>
              </a:defRPr>
            </a:pPr>
            <a:r>
              <a:t>FOLLOW-UP</a:t>
            </a:r>
          </a:p>
        </p:txBody>
      </p:sp>
      <p:sp>
        <p:nvSpPr>
          <p:cNvPr id="26" name="TextBox 25"/>
          <p:cNvSpPr txBox="1"/>
          <p:nvPr/>
        </p:nvSpPr>
        <p:spPr>
          <a:xfrm>
            <a:off x="3447288" y="3977639"/>
            <a:ext cx="2331720" cy="640080"/>
          </a:xfrm>
          <a:prstGeom prst="rect">
            <a:avLst/>
          </a:prstGeom>
          <a:noFill/>
        </p:spPr>
        <p:txBody>
          <a:bodyPr wrap="square" lIns="0" rIns="0" tIns="0" bIns="0">
            <a:spAutoFit/>
          </a:bodyPr>
          <a:lstStyle/>
          <a:p>
            <a:pPr algn="ctr">
              <a:spcAft>
                <a:spcPts val="500"/>
              </a:spcAft>
              <a:defRPr sz="1700" b="0">
                <a:solidFill>
                  <a:srgbClr val="776B80"/>
                </a:solidFill>
                <a:latin typeface="Lato"/>
              </a:defRPr>
            </a:pPr>
            <a:r>
              <a:t>Resolve questions</a:t>
            </a:r>
          </a:p>
        </p:txBody>
      </p:sp>
      <p:sp>
        <p:nvSpPr>
          <p:cNvPr id="27" name="Oval 26"/>
          <p:cNvSpPr/>
          <p:nvPr/>
        </p:nvSpPr>
        <p:spPr>
          <a:xfrm>
            <a:off x="6400800" y="2514599"/>
            <a:ext cx="713232" cy="713232"/>
          </a:xfrm>
          <a:prstGeom prst="ellipse">
            <a:avLst/>
          </a:prstGeom>
          <a:solidFill>
            <a:srgbClr val="FFFFFF"/>
          </a:solidFill>
          <a:ln w="15240">
            <a:solidFill>
              <a:srgbClr val="B65F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557711" y="2709915"/>
            <a:ext cx="399409" cy="351861"/>
          </a:xfrm>
          <a:prstGeom prst="roundRect">
            <a:avLst/>
          </a:prstGeom>
          <a:noFill/>
          <a:ln w="15240">
            <a:solidFill>
              <a:srgbClr val="B65F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6557711" y="2814523"/>
            <a:ext cx="399409" cy="0"/>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662318" y="2643347"/>
            <a:ext cx="0" cy="118872"/>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852513" y="2643347"/>
            <a:ext cx="0" cy="118872"/>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657563" y="2919130"/>
            <a:ext cx="66568" cy="66568"/>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6724131" y="2857317"/>
            <a:ext cx="147402" cy="128381"/>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236207" y="3474720"/>
            <a:ext cx="2331720" cy="347472"/>
          </a:xfrm>
          <a:prstGeom prst="rect">
            <a:avLst/>
          </a:prstGeom>
          <a:noFill/>
        </p:spPr>
        <p:txBody>
          <a:bodyPr wrap="square" lIns="0" rIns="0" tIns="0" bIns="0">
            <a:spAutoFit/>
          </a:bodyPr>
          <a:lstStyle/>
          <a:p>
            <a:pPr algn="ctr">
              <a:spcAft>
                <a:spcPts val="500"/>
              </a:spcAft>
              <a:defRPr sz="2100" b="1">
                <a:solidFill>
                  <a:srgbClr val="B65F20"/>
                </a:solidFill>
                <a:latin typeface="Lato"/>
              </a:defRPr>
            </a:pPr>
            <a:r>
              <a:t>BOOKED</a:t>
            </a:r>
          </a:p>
        </p:txBody>
      </p:sp>
      <p:sp>
        <p:nvSpPr>
          <p:cNvPr id="35" name="TextBox 34"/>
          <p:cNvSpPr txBox="1"/>
          <p:nvPr/>
        </p:nvSpPr>
        <p:spPr>
          <a:xfrm>
            <a:off x="6236207" y="3977639"/>
            <a:ext cx="2331720" cy="640080"/>
          </a:xfrm>
          <a:prstGeom prst="rect">
            <a:avLst/>
          </a:prstGeom>
          <a:noFill/>
        </p:spPr>
        <p:txBody>
          <a:bodyPr wrap="square" lIns="0" rIns="0" tIns="0" bIns="0">
            <a:spAutoFit/>
          </a:bodyPr>
          <a:lstStyle/>
          <a:p>
            <a:pPr algn="ctr">
              <a:spcAft>
                <a:spcPts val="500"/>
              </a:spcAft>
              <a:defRPr sz="1700" b="0">
                <a:solidFill>
                  <a:srgbClr val="776B80"/>
                </a:solidFill>
                <a:latin typeface="Lato"/>
              </a:defRPr>
            </a:pPr>
            <a:r>
              <a:t>Booking Done + next date</a:t>
            </a:r>
          </a:p>
        </p:txBody>
      </p:sp>
      <p:sp>
        <p:nvSpPr>
          <p:cNvPr id="36" name="Oval 35"/>
          <p:cNvSpPr/>
          <p:nvPr/>
        </p:nvSpPr>
        <p:spPr>
          <a:xfrm>
            <a:off x="9189719" y="2514599"/>
            <a:ext cx="713232" cy="713232"/>
          </a:xfrm>
          <a:prstGeom prst="ellipse">
            <a:avLst/>
          </a:prstGeom>
          <a:solidFill>
            <a:srgbClr val="FFFFFF"/>
          </a:solidFill>
          <a:ln w="15240">
            <a:solidFill>
              <a:srgbClr val="247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337121" y="2652857"/>
            <a:ext cx="418429" cy="418429"/>
          </a:xfrm>
          <a:prstGeom prst="ellipse">
            <a:avLst/>
          </a:prstGeom>
          <a:noFill/>
          <a:ln w="15240">
            <a:solidFill>
              <a:srgbClr val="247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9417954" y="2857317"/>
            <a:ext cx="90342" cy="90342"/>
          </a:xfrm>
          <a:prstGeom prst="line">
            <a:avLst/>
          </a:prstGeom>
          <a:ln w="25400">
            <a:solidFill>
              <a:srgbClr val="24776D"/>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9508296" y="2762219"/>
            <a:ext cx="166421" cy="185440"/>
          </a:xfrm>
          <a:prstGeom prst="line">
            <a:avLst/>
          </a:prstGeom>
          <a:ln w="25400">
            <a:solidFill>
              <a:srgbClr val="24776D"/>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9025127" y="3474720"/>
            <a:ext cx="2331720" cy="347472"/>
          </a:xfrm>
          <a:prstGeom prst="rect">
            <a:avLst/>
          </a:prstGeom>
          <a:noFill/>
        </p:spPr>
        <p:txBody>
          <a:bodyPr wrap="square" lIns="0" rIns="0" tIns="0" bIns="0">
            <a:spAutoFit/>
          </a:bodyPr>
          <a:lstStyle/>
          <a:p>
            <a:pPr algn="ctr">
              <a:spcAft>
                <a:spcPts val="500"/>
              </a:spcAft>
              <a:defRPr sz="2100" b="1">
                <a:solidFill>
                  <a:srgbClr val="24776D"/>
                </a:solidFill>
                <a:latin typeface="Lato"/>
              </a:defRPr>
            </a:pPr>
            <a:r>
              <a:t>RETAILED</a:t>
            </a:r>
          </a:p>
        </p:txBody>
      </p:sp>
      <p:sp>
        <p:nvSpPr>
          <p:cNvPr id="41" name="TextBox 40"/>
          <p:cNvSpPr txBox="1"/>
          <p:nvPr/>
        </p:nvSpPr>
        <p:spPr>
          <a:xfrm>
            <a:off x="9025127" y="3977639"/>
            <a:ext cx="2331720" cy="640080"/>
          </a:xfrm>
          <a:prstGeom prst="rect">
            <a:avLst/>
          </a:prstGeom>
          <a:noFill/>
        </p:spPr>
        <p:txBody>
          <a:bodyPr wrap="square" lIns="0" rIns="0" tIns="0" bIns="0">
            <a:spAutoFit/>
          </a:bodyPr>
          <a:lstStyle/>
          <a:p>
            <a:pPr algn="ctr">
              <a:spcAft>
                <a:spcPts val="500"/>
              </a:spcAft>
              <a:defRPr sz="1700" b="0">
                <a:solidFill>
                  <a:srgbClr val="776B80"/>
                </a:solidFill>
                <a:latin typeface="Lato"/>
              </a:defRPr>
            </a:pPr>
            <a:r>
              <a:t>Retail Done + remarks</a:t>
            </a:r>
          </a:p>
        </p:txBody>
      </p:sp>
      <p:cxnSp>
        <p:nvCxnSpPr>
          <p:cNvPr id="42" name="Connector 41"/>
          <p:cNvCxnSpPr/>
          <p:nvPr/>
        </p:nvCxnSpPr>
        <p:spPr>
          <a:xfrm>
            <a:off x="576072" y="5888736"/>
            <a:ext cx="329184" cy="0"/>
          </a:xfrm>
          <a:prstGeom prst="line">
            <a:avLst/>
          </a:prstGeom>
          <a:ln w="38100">
            <a:solidFill>
              <a:srgbClr val="6945A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60704" y="5724144"/>
            <a:ext cx="10332720" cy="448056"/>
          </a:xfrm>
          <a:prstGeom prst="rect">
            <a:avLst/>
          </a:prstGeom>
          <a:noFill/>
        </p:spPr>
        <p:txBody>
          <a:bodyPr wrap="square" lIns="0" rIns="0" tIns="0" bIns="0">
            <a:spAutoFit/>
          </a:bodyPr>
          <a:lstStyle/>
          <a:p>
            <a:pPr>
              <a:spcAft>
                <a:spcPts val="500"/>
              </a:spcAft>
              <a:defRPr sz="1500" b="1">
                <a:solidFill>
                  <a:srgbClr val="6945A3"/>
                </a:solidFill>
                <a:latin typeface="Lato"/>
              </a:defRPr>
            </a:pPr>
            <a:r>
              <a:t>Booking and retail are CRM outcomes; payments, invoicing and inventory remain separate.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RECEPTIONIST FLOW</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Walk-ins can go straight to PS/SO</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Capture the visitor and select the sales user.</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23 / 30</a:t>
            </a:r>
          </a:p>
        </p:txBody>
      </p:sp>
      <p:cxnSp>
        <p:nvCxnSpPr>
          <p:cNvPr id="8" name="Connector 7"/>
          <p:cNvCxnSpPr/>
          <p:nvPr/>
        </p:nvCxnSpPr>
        <p:spPr>
          <a:xfrm>
            <a:off x="1179576" y="2734056"/>
            <a:ext cx="8366759" cy="0"/>
          </a:xfrm>
          <a:prstGeom prst="line">
            <a:avLst/>
          </a:prstGeom>
          <a:ln w="76200">
            <a:solidFill>
              <a:srgbClr val="DDD4E6"/>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22960" y="2377439"/>
            <a:ext cx="713232" cy="713232"/>
          </a:xfrm>
          <a:prstGeom prst="ellipse">
            <a:avLst/>
          </a:prstGeom>
          <a:solidFill>
            <a:srgbClr val="FFFFFF"/>
          </a:solidFill>
          <a:ln w="15240">
            <a:solidFill>
              <a:srgbClr val="B65F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98743" y="2515697"/>
            <a:ext cx="161665" cy="161665"/>
          </a:xfrm>
          <a:prstGeom prst="ellipse">
            <a:avLst/>
          </a:prstGeom>
          <a:noFill/>
          <a:ln w="15240">
            <a:solidFill>
              <a:srgbClr val="B65F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1022664" y="2800990"/>
            <a:ext cx="0" cy="114117"/>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022664" y="2734421"/>
            <a:ext cx="85588" cy="66569"/>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08252" y="2734421"/>
            <a:ext cx="142647" cy="0"/>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250899" y="2734421"/>
            <a:ext cx="85588" cy="66569"/>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336487" y="2800990"/>
            <a:ext cx="0" cy="114117"/>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58368" y="3337560"/>
            <a:ext cx="2331720" cy="347472"/>
          </a:xfrm>
          <a:prstGeom prst="rect">
            <a:avLst/>
          </a:prstGeom>
          <a:noFill/>
        </p:spPr>
        <p:txBody>
          <a:bodyPr wrap="square" lIns="0" rIns="0" tIns="0" bIns="0">
            <a:spAutoFit/>
          </a:bodyPr>
          <a:lstStyle/>
          <a:p>
            <a:pPr algn="ctr">
              <a:spcAft>
                <a:spcPts val="500"/>
              </a:spcAft>
              <a:defRPr sz="2100" b="1">
                <a:solidFill>
                  <a:srgbClr val="B65F20"/>
                </a:solidFill>
                <a:latin typeface="Lato"/>
              </a:defRPr>
            </a:pPr>
            <a:r>
              <a:t>RECEPTION</a:t>
            </a:r>
          </a:p>
        </p:txBody>
      </p:sp>
      <p:sp>
        <p:nvSpPr>
          <p:cNvPr id="17" name="TextBox 16"/>
          <p:cNvSpPr txBox="1"/>
          <p:nvPr/>
        </p:nvSpPr>
        <p:spPr>
          <a:xfrm>
            <a:off x="658368" y="3840480"/>
            <a:ext cx="2331720" cy="640080"/>
          </a:xfrm>
          <a:prstGeom prst="rect">
            <a:avLst/>
          </a:prstGeom>
          <a:noFill/>
        </p:spPr>
        <p:txBody>
          <a:bodyPr wrap="square" lIns="0" rIns="0" tIns="0" bIns="0">
            <a:spAutoFit/>
          </a:bodyPr>
          <a:lstStyle/>
          <a:p>
            <a:pPr algn="ctr">
              <a:spcAft>
                <a:spcPts val="500"/>
              </a:spcAft>
              <a:defRPr sz="1700" b="0">
                <a:solidFill>
                  <a:srgbClr val="776B80"/>
                </a:solidFill>
                <a:latin typeface="Lato"/>
              </a:defRPr>
            </a:pPr>
            <a:r>
              <a:t>Customer · model · color</a:t>
            </a:r>
          </a:p>
        </p:txBody>
      </p:sp>
      <p:sp>
        <p:nvSpPr>
          <p:cNvPr id="18" name="Oval 17"/>
          <p:cNvSpPr/>
          <p:nvPr/>
        </p:nvSpPr>
        <p:spPr>
          <a:xfrm>
            <a:off x="3611879" y="2377439"/>
            <a:ext cx="713232" cy="713232"/>
          </a:xfrm>
          <a:prstGeom prst="ellipse">
            <a:avLst/>
          </a:prstGeom>
          <a:solidFill>
            <a:srgbClr val="FFFFFF"/>
          </a:solid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901927" y="2501432"/>
            <a:ext cx="133136" cy="118872"/>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740261" y="2815254"/>
            <a:ext cx="133136" cy="118872"/>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063593" y="2815254"/>
            <a:ext cx="133136" cy="118872"/>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3968496" y="2620304"/>
            <a:ext cx="0" cy="95098"/>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806830" y="2715402"/>
            <a:ext cx="323331"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806830" y="2715402"/>
            <a:ext cx="0" cy="99852"/>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130161" y="2715402"/>
            <a:ext cx="0" cy="99852"/>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447288" y="3337560"/>
            <a:ext cx="2331720" cy="347472"/>
          </a:xfrm>
          <a:prstGeom prst="rect">
            <a:avLst/>
          </a:prstGeom>
          <a:noFill/>
        </p:spPr>
        <p:txBody>
          <a:bodyPr wrap="square" lIns="0" rIns="0" tIns="0" bIns="0">
            <a:spAutoFit/>
          </a:bodyPr>
          <a:lstStyle/>
          <a:p>
            <a:pPr algn="ctr">
              <a:spcAft>
                <a:spcPts val="500"/>
              </a:spcAft>
              <a:defRPr sz="2100" b="1">
                <a:solidFill>
                  <a:srgbClr val="6945A3"/>
                </a:solidFill>
                <a:latin typeface="Lato"/>
              </a:defRPr>
            </a:pPr>
            <a:r>
              <a:t>SELECT PS</a:t>
            </a:r>
          </a:p>
        </p:txBody>
      </p:sp>
      <p:sp>
        <p:nvSpPr>
          <p:cNvPr id="27" name="TextBox 26"/>
          <p:cNvSpPr txBox="1"/>
          <p:nvPr/>
        </p:nvSpPr>
        <p:spPr>
          <a:xfrm>
            <a:off x="3447288" y="3840480"/>
            <a:ext cx="2331720" cy="640080"/>
          </a:xfrm>
          <a:prstGeom prst="rect">
            <a:avLst/>
          </a:prstGeom>
          <a:noFill/>
        </p:spPr>
        <p:txBody>
          <a:bodyPr wrap="square" lIns="0" rIns="0" tIns="0" bIns="0">
            <a:spAutoFit/>
          </a:bodyPr>
          <a:lstStyle/>
          <a:p>
            <a:pPr algn="ctr">
              <a:spcAft>
                <a:spcPts val="500"/>
              </a:spcAft>
              <a:defRPr sz="1700" b="0">
                <a:solidFill>
                  <a:srgbClr val="776B80"/>
                </a:solidFill>
                <a:latin typeface="Lato"/>
              </a:defRPr>
            </a:pPr>
            <a:r>
              <a:t>Active sales user</a:t>
            </a:r>
          </a:p>
        </p:txBody>
      </p:sp>
      <p:sp>
        <p:nvSpPr>
          <p:cNvPr id="28" name="Oval 27"/>
          <p:cNvSpPr/>
          <p:nvPr/>
        </p:nvSpPr>
        <p:spPr>
          <a:xfrm>
            <a:off x="6400800" y="2377439"/>
            <a:ext cx="713232" cy="713232"/>
          </a:xfrm>
          <a:prstGeom prst="ellipse">
            <a:avLst/>
          </a:prstGeom>
          <a:solidFill>
            <a:srgbClr val="FFFFFF"/>
          </a:solid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548201" y="2515697"/>
            <a:ext cx="418429" cy="418429"/>
          </a:xfrm>
          <a:prstGeom prst="ellipse">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6629034" y="2720157"/>
            <a:ext cx="90342" cy="90342"/>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719376" y="2625059"/>
            <a:ext cx="166421" cy="18544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236207" y="3337560"/>
            <a:ext cx="2331720" cy="347472"/>
          </a:xfrm>
          <a:prstGeom prst="rect">
            <a:avLst/>
          </a:prstGeom>
          <a:noFill/>
        </p:spPr>
        <p:txBody>
          <a:bodyPr wrap="square" lIns="0" rIns="0" tIns="0" bIns="0">
            <a:spAutoFit/>
          </a:bodyPr>
          <a:lstStyle/>
          <a:p>
            <a:pPr algn="ctr">
              <a:spcAft>
                <a:spcPts val="500"/>
              </a:spcAft>
              <a:defRPr sz="2100" b="1">
                <a:solidFill>
                  <a:srgbClr val="6945A3"/>
                </a:solidFill>
                <a:latin typeface="Lato"/>
              </a:defRPr>
            </a:pPr>
            <a:r>
              <a:t>QUALIFIED</a:t>
            </a:r>
          </a:p>
        </p:txBody>
      </p:sp>
      <p:sp>
        <p:nvSpPr>
          <p:cNvPr id="33" name="TextBox 32"/>
          <p:cNvSpPr txBox="1"/>
          <p:nvPr/>
        </p:nvSpPr>
        <p:spPr>
          <a:xfrm>
            <a:off x="6236207" y="3840480"/>
            <a:ext cx="2331720" cy="640080"/>
          </a:xfrm>
          <a:prstGeom prst="rect">
            <a:avLst/>
          </a:prstGeom>
          <a:noFill/>
        </p:spPr>
        <p:txBody>
          <a:bodyPr wrap="square" lIns="0" rIns="0" tIns="0" bIns="0">
            <a:spAutoFit/>
          </a:bodyPr>
          <a:lstStyle/>
          <a:p>
            <a:pPr algn="ctr">
              <a:spcAft>
                <a:spcPts val="500"/>
              </a:spcAft>
              <a:defRPr sz="1700" b="0">
                <a:solidFill>
                  <a:srgbClr val="776B80"/>
                </a:solidFill>
                <a:latin typeface="Lato"/>
              </a:defRPr>
            </a:pPr>
            <a:r>
              <a:t>Walk-in source</a:t>
            </a:r>
          </a:p>
        </p:txBody>
      </p:sp>
      <p:sp>
        <p:nvSpPr>
          <p:cNvPr id="34" name="Oval 33"/>
          <p:cNvSpPr/>
          <p:nvPr/>
        </p:nvSpPr>
        <p:spPr>
          <a:xfrm>
            <a:off x="9189719" y="2377439"/>
            <a:ext cx="713232" cy="713232"/>
          </a:xfrm>
          <a:prstGeom prst="ellipse">
            <a:avLst/>
          </a:prstGeom>
          <a:solidFill>
            <a:srgbClr val="FFFFFF"/>
          </a:solidFill>
          <a:ln w="15240">
            <a:solidFill>
              <a:srgbClr val="247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flipH="1">
            <a:off x="9351385" y="2548981"/>
            <a:ext cx="42794" cy="99852"/>
          </a:xfrm>
          <a:prstGeom prst="line">
            <a:avLst/>
          </a:prstGeom>
          <a:ln w="25400">
            <a:solidFill>
              <a:srgbClr val="24776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351385" y="2648833"/>
            <a:ext cx="90343" cy="147402"/>
          </a:xfrm>
          <a:prstGeom prst="line">
            <a:avLst/>
          </a:prstGeom>
          <a:ln w="25400">
            <a:solidFill>
              <a:srgbClr val="24776D"/>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441728" y="2796235"/>
            <a:ext cx="175931" cy="128381"/>
          </a:xfrm>
          <a:prstGeom prst="line">
            <a:avLst/>
          </a:prstGeom>
          <a:ln w="25400">
            <a:solidFill>
              <a:srgbClr val="24776D"/>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9617659" y="2872313"/>
            <a:ext cx="109362" cy="52303"/>
          </a:xfrm>
          <a:prstGeom prst="line">
            <a:avLst/>
          </a:prstGeom>
          <a:ln w="25400">
            <a:solidFill>
              <a:srgbClr val="24776D"/>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394179" y="2548981"/>
            <a:ext cx="99853" cy="95098"/>
          </a:xfrm>
          <a:prstGeom prst="line">
            <a:avLst/>
          </a:prstGeom>
          <a:ln w="25400">
            <a:solidFill>
              <a:srgbClr val="24776D"/>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9441728" y="2644079"/>
            <a:ext cx="52304" cy="61813"/>
          </a:xfrm>
          <a:prstGeom prst="line">
            <a:avLst/>
          </a:prstGeom>
          <a:ln w="25400">
            <a:solidFill>
              <a:srgbClr val="24776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9570110" y="2777215"/>
            <a:ext cx="66568" cy="57059"/>
          </a:xfrm>
          <a:prstGeom prst="line">
            <a:avLst/>
          </a:prstGeom>
          <a:ln w="25400">
            <a:solidFill>
              <a:srgbClr val="24776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636678" y="2777215"/>
            <a:ext cx="90343" cy="95098"/>
          </a:xfrm>
          <a:prstGeom prst="line">
            <a:avLst/>
          </a:prstGeom>
          <a:ln w="25400">
            <a:solidFill>
              <a:srgbClr val="24776D"/>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025127" y="3337560"/>
            <a:ext cx="2331720" cy="347472"/>
          </a:xfrm>
          <a:prstGeom prst="rect">
            <a:avLst/>
          </a:prstGeom>
          <a:noFill/>
        </p:spPr>
        <p:txBody>
          <a:bodyPr wrap="square" lIns="0" rIns="0" tIns="0" bIns="0">
            <a:spAutoFit/>
          </a:bodyPr>
          <a:lstStyle/>
          <a:p>
            <a:pPr algn="ctr">
              <a:spcAft>
                <a:spcPts val="500"/>
              </a:spcAft>
              <a:defRPr sz="2100" b="1">
                <a:solidFill>
                  <a:srgbClr val="24776D"/>
                </a:solidFill>
                <a:latin typeface="Lato"/>
              </a:defRPr>
            </a:pPr>
            <a:r>
              <a:t>PS FOLLOW-UP</a:t>
            </a:r>
          </a:p>
        </p:txBody>
      </p:sp>
      <p:sp>
        <p:nvSpPr>
          <p:cNvPr id="44" name="TextBox 43"/>
          <p:cNvSpPr txBox="1"/>
          <p:nvPr/>
        </p:nvSpPr>
        <p:spPr>
          <a:xfrm>
            <a:off x="9025127" y="3840480"/>
            <a:ext cx="2331720" cy="640080"/>
          </a:xfrm>
          <a:prstGeom prst="rect">
            <a:avLst/>
          </a:prstGeom>
          <a:noFill/>
        </p:spPr>
        <p:txBody>
          <a:bodyPr wrap="square" lIns="0" rIns="0" tIns="0" bIns="0">
            <a:spAutoFit/>
          </a:bodyPr>
          <a:lstStyle/>
          <a:p>
            <a:pPr algn="ctr">
              <a:spcAft>
                <a:spcPts val="500"/>
              </a:spcAft>
              <a:defRPr sz="1700" b="0">
                <a:solidFill>
                  <a:srgbClr val="776B80"/>
                </a:solidFill>
                <a:latin typeface="Lato"/>
              </a:defRPr>
            </a:pPr>
            <a:r>
              <a:t>Continue the sales flow</a:t>
            </a:r>
          </a:p>
        </p:txBody>
      </p:sp>
      <p:sp>
        <p:nvSpPr>
          <p:cNvPr id="45" name="Rounded Rectangle 44"/>
          <p:cNvSpPr/>
          <p:nvPr/>
        </p:nvSpPr>
        <p:spPr>
          <a:xfrm>
            <a:off x="813816" y="5321808"/>
            <a:ext cx="10533888" cy="576072"/>
          </a:xfrm>
          <a:prstGeom prst="roundRect">
            <a:avLst/>
          </a:prstGeom>
          <a:solidFill>
            <a:srgbClr val="F6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05840" y="5477256"/>
            <a:ext cx="10149840" cy="283464"/>
          </a:xfrm>
          <a:prstGeom prst="rect">
            <a:avLst/>
          </a:prstGeom>
          <a:noFill/>
        </p:spPr>
        <p:txBody>
          <a:bodyPr wrap="square" lIns="0" rIns="0" tIns="0" bIns="0">
            <a:spAutoFit/>
          </a:bodyPr>
          <a:lstStyle/>
          <a:p>
            <a:pPr>
              <a:spcAft>
                <a:spcPts val="500"/>
              </a:spcAft>
              <a:defRPr sz="1500" b="1">
                <a:solidFill>
                  <a:srgbClr val="B65F20"/>
                </a:solidFill>
                <a:latin typeface="Lato"/>
              </a:defRPr>
            </a:pPr>
            <a:r>
              <a:t>REQUIRED OPERATING CHECK: complete branch and enquiry date for manager reporting.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COMPLAINT OPERATIONS</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Complaints: shared queue, documented resolution</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Only the complaints department changes status, priority or resolution.</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24 / 30</a:t>
            </a:r>
          </a:p>
        </p:txBody>
      </p:sp>
      <p:cxnSp>
        <p:nvCxnSpPr>
          <p:cNvPr id="8" name="Connector 7"/>
          <p:cNvCxnSpPr/>
          <p:nvPr/>
        </p:nvCxnSpPr>
        <p:spPr>
          <a:xfrm>
            <a:off x="1353312" y="2935224"/>
            <a:ext cx="9509760" cy="0"/>
          </a:xfrm>
          <a:prstGeom prst="line">
            <a:avLst/>
          </a:prstGeom>
          <a:ln w="76200">
            <a:solidFill>
              <a:srgbClr val="B65F20"/>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1152144" y="2743200"/>
            <a:ext cx="384048" cy="384048"/>
          </a:xfrm>
          <a:prstGeom prst="ellipse">
            <a:avLst/>
          </a:prstGeom>
          <a:solidFill>
            <a:srgbClr val="FFFFFF"/>
          </a:solid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276856"/>
            <a:ext cx="2002536" cy="402336"/>
          </a:xfrm>
          <a:prstGeom prst="rect">
            <a:avLst/>
          </a:prstGeom>
          <a:noFill/>
        </p:spPr>
        <p:txBody>
          <a:bodyPr wrap="square" lIns="0" rIns="0" tIns="0" bIns="0">
            <a:spAutoFit/>
          </a:bodyPr>
          <a:lstStyle/>
          <a:p>
            <a:pPr algn="ctr">
              <a:spcAft>
                <a:spcPts val="500"/>
              </a:spcAft>
              <a:defRPr sz="1900" b="1">
                <a:solidFill>
                  <a:srgbClr val="6945A3"/>
                </a:solidFill>
                <a:latin typeface="Lato"/>
              </a:defRPr>
            </a:pPr>
            <a:r>
              <a:t>OPEN</a:t>
            </a:r>
          </a:p>
        </p:txBody>
      </p:sp>
      <p:sp>
        <p:nvSpPr>
          <p:cNvPr id="11" name="TextBox 10"/>
          <p:cNvSpPr txBox="1"/>
          <p:nvPr/>
        </p:nvSpPr>
        <p:spPr>
          <a:xfrm>
            <a:off x="621792" y="3337560"/>
            <a:ext cx="1956816" cy="548640"/>
          </a:xfrm>
          <a:prstGeom prst="rect">
            <a:avLst/>
          </a:prstGeom>
          <a:noFill/>
        </p:spPr>
        <p:txBody>
          <a:bodyPr wrap="square" lIns="0" rIns="0" tIns="0" bIns="0">
            <a:spAutoFit/>
          </a:bodyPr>
          <a:lstStyle/>
          <a:p>
            <a:pPr algn="ctr">
              <a:spcAft>
                <a:spcPts val="500"/>
              </a:spcAft>
              <a:defRPr sz="1700" b="0">
                <a:solidFill>
                  <a:srgbClr val="776B80"/>
                </a:solidFill>
                <a:latin typeface="Lato"/>
              </a:defRPr>
            </a:pPr>
            <a:r>
              <a:t>CRE logs</a:t>
            </a:r>
          </a:p>
        </p:txBody>
      </p:sp>
      <p:sp>
        <p:nvSpPr>
          <p:cNvPr id="12" name="Oval 11"/>
          <p:cNvSpPr/>
          <p:nvPr/>
        </p:nvSpPr>
        <p:spPr>
          <a:xfrm>
            <a:off x="4306824" y="2743200"/>
            <a:ext cx="384048" cy="384048"/>
          </a:xfrm>
          <a:prstGeom prst="ellipse">
            <a:avLst/>
          </a:prstGeom>
          <a:solidFill>
            <a:srgbClr val="FFFFFF"/>
          </a:solidFill>
          <a:ln w="15240">
            <a:solidFill>
              <a:srgbClr val="B65F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9039" y="2276856"/>
            <a:ext cx="2002536" cy="402336"/>
          </a:xfrm>
          <a:prstGeom prst="rect">
            <a:avLst/>
          </a:prstGeom>
          <a:noFill/>
        </p:spPr>
        <p:txBody>
          <a:bodyPr wrap="square" lIns="0" rIns="0" tIns="0" bIns="0">
            <a:spAutoFit/>
          </a:bodyPr>
          <a:lstStyle/>
          <a:p>
            <a:pPr algn="ctr">
              <a:spcAft>
                <a:spcPts val="500"/>
              </a:spcAft>
              <a:defRPr sz="1900" b="1">
                <a:solidFill>
                  <a:srgbClr val="B65F20"/>
                </a:solidFill>
                <a:latin typeface="Lato"/>
              </a:defRPr>
            </a:pPr>
            <a:r>
              <a:t>IN PROGRESS</a:t>
            </a:r>
          </a:p>
        </p:txBody>
      </p:sp>
      <p:sp>
        <p:nvSpPr>
          <p:cNvPr id="14" name="TextBox 13"/>
          <p:cNvSpPr txBox="1"/>
          <p:nvPr/>
        </p:nvSpPr>
        <p:spPr>
          <a:xfrm>
            <a:off x="3776472" y="3337560"/>
            <a:ext cx="1956816" cy="548640"/>
          </a:xfrm>
          <a:prstGeom prst="rect">
            <a:avLst/>
          </a:prstGeom>
          <a:noFill/>
        </p:spPr>
        <p:txBody>
          <a:bodyPr wrap="square" lIns="0" rIns="0" tIns="0" bIns="0">
            <a:spAutoFit/>
          </a:bodyPr>
          <a:lstStyle/>
          <a:p>
            <a:pPr algn="ctr">
              <a:spcAft>
                <a:spcPts val="500"/>
              </a:spcAft>
              <a:defRPr sz="1700" b="0">
                <a:solidFill>
                  <a:srgbClr val="776B80"/>
                </a:solidFill>
                <a:latin typeface="Lato"/>
              </a:defRPr>
            </a:pPr>
            <a:r>
              <a:t>Resolver investigates</a:t>
            </a:r>
          </a:p>
        </p:txBody>
      </p:sp>
      <p:sp>
        <p:nvSpPr>
          <p:cNvPr id="15" name="Oval 14"/>
          <p:cNvSpPr/>
          <p:nvPr/>
        </p:nvSpPr>
        <p:spPr>
          <a:xfrm>
            <a:off x="7461504" y="2743200"/>
            <a:ext cx="384048" cy="384048"/>
          </a:xfrm>
          <a:prstGeom prst="ellipse">
            <a:avLst/>
          </a:prstGeom>
          <a:solidFill>
            <a:srgbClr val="FFFFFF"/>
          </a:solidFill>
          <a:ln w="15240">
            <a:solidFill>
              <a:srgbClr val="247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03720" y="2276856"/>
            <a:ext cx="2002536" cy="402336"/>
          </a:xfrm>
          <a:prstGeom prst="rect">
            <a:avLst/>
          </a:prstGeom>
          <a:noFill/>
        </p:spPr>
        <p:txBody>
          <a:bodyPr wrap="square" lIns="0" rIns="0" tIns="0" bIns="0">
            <a:spAutoFit/>
          </a:bodyPr>
          <a:lstStyle/>
          <a:p>
            <a:pPr algn="ctr">
              <a:spcAft>
                <a:spcPts val="500"/>
              </a:spcAft>
              <a:defRPr sz="1900" b="1">
                <a:solidFill>
                  <a:srgbClr val="24776D"/>
                </a:solidFill>
                <a:latin typeface="Lato"/>
              </a:defRPr>
            </a:pPr>
            <a:r>
              <a:t>RESOLVED</a:t>
            </a:r>
          </a:p>
        </p:txBody>
      </p:sp>
      <p:sp>
        <p:nvSpPr>
          <p:cNvPr id="17" name="TextBox 16"/>
          <p:cNvSpPr txBox="1"/>
          <p:nvPr/>
        </p:nvSpPr>
        <p:spPr>
          <a:xfrm>
            <a:off x="6931152" y="3337560"/>
            <a:ext cx="1956816" cy="548640"/>
          </a:xfrm>
          <a:prstGeom prst="rect">
            <a:avLst/>
          </a:prstGeom>
          <a:noFill/>
        </p:spPr>
        <p:txBody>
          <a:bodyPr wrap="square" lIns="0" rIns="0" tIns="0" bIns="0">
            <a:spAutoFit/>
          </a:bodyPr>
          <a:lstStyle/>
          <a:p>
            <a:pPr algn="ctr">
              <a:spcAft>
                <a:spcPts val="500"/>
              </a:spcAft>
              <a:defRPr sz="1700" b="0">
                <a:solidFill>
                  <a:srgbClr val="776B80"/>
                </a:solidFill>
                <a:latin typeface="Lato"/>
              </a:defRPr>
            </a:pPr>
            <a:r>
              <a:t>Action + remarks</a:t>
            </a:r>
          </a:p>
        </p:txBody>
      </p:sp>
      <p:sp>
        <p:nvSpPr>
          <p:cNvPr id="18" name="Oval 17"/>
          <p:cNvSpPr/>
          <p:nvPr/>
        </p:nvSpPr>
        <p:spPr>
          <a:xfrm>
            <a:off x="10616184" y="2743200"/>
            <a:ext cx="384048" cy="384048"/>
          </a:xfrm>
          <a:prstGeom prst="ellipse">
            <a:avLst/>
          </a:prstGeom>
          <a:solidFill>
            <a:srgbClr val="FFFFFF"/>
          </a:solidFill>
          <a:ln w="15240">
            <a:solidFill>
              <a:srgbClr val="2477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0" y="2276856"/>
            <a:ext cx="2002536" cy="402336"/>
          </a:xfrm>
          <a:prstGeom prst="rect">
            <a:avLst/>
          </a:prstGeom>
          <a:noFill/>
        </p:spPr>
        <p:txBody>
          <a:bodyPr wrap="square" lIns="0" rIns="0" tIns="0" bIns="0">
            <a:spAutoFit/>
          </a:bodyPr>
          <a:lstStyle/>
          <a:p>
            <a:pPr algn="ctr">
              <a:spcAft>
                <a:spcPts val="500"/>
              </a:spcAft>
              <a:defRPr sz="1900" b="1">
                <a:solidFill>
                  <a:srgbClr val="24776D"/>
                </a:solidFill>
                <a:latin typeface="Lato"/>
              </a:defRPr>
            </a:pPr>
            <a:r>
              <a:t>CLOSED</a:t>
            </a:r>
          </a:p>
        </p:txBody>
      </p:sp>
      <p:sp>
        <p:nvSpPr>
          <p:cNvPr id="20" name="TextBox 19"/>
          <p:cNvSpPr txBox="1"/>
          <p:nvPr/>
        </p:nvSpPr>
        <p:spPr>
          <a:xfrm>
            <a:off x="10085832" y="3337560"/>
            <a:ext cx="1956816" cy="548640"/>
          </a:xfrm>
          <a:prstGeom prst="rect">
            <a:avLst/>
          </a:prstGeom>
          <a:noFill/>
        </p:spPr>
        <p:txBody>
          <a:bodyPr wrap="square" lIns="0" rIns="0" tIns="0" bIns="0">
            <a:spAutoFit/>
          </a:bodyPr>
          <a:lstStyle/>
          <a:p>
            <a:pPr algn="ctr">
              <a:spcAft>
                <a:spcPts val="500"/>
              </a:spcAft>
              <a:defRPr sz="1700" b="0">
                <a:solidFill>
                  <a:srgbClr val="776B80"/>
                </a:solidFill>
                <a:latin typeface="Lato"/>
              </a:defRPr>
            </a:pPr>
            <a:r>
              <a:t>Agreed closure check</a:t>
            </a:r>
          </a:p>
        </p:txBody>
      </p:sp>
      <p:cxnSp>
        <p:nvCxnSpPr>
          <p:cNvPr id="21" name="Connector 20"/>
          <p:cNvCxnSpPr/>
          <p:nvPr/>
        </p:nvCxnSpPr>
        <p:spPr>
          <a:xfrm flipH="1">
            <a:off x="3182112" y="3145536"/>
            <a:ext cx="1316736" cy="0"/>
          </a:xfrm>
          <a:prstGeom prst="line">
            <a:avLst/>
          </a:prstGeom>
          <a:ln w="38100">
            <a:solidFill>
              <a:srgbClr val="AD405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182112" y="3145536"/>
            <a:ext cx="0" cy="1060704"/>
          </a:xfrm>
          <a:prstGeom prst="line">
            <a:avLst/>
          </a:prstGeom>
          <a:ln w="38100">
            <a:solidFill>
              <a:srgbClr val="AD405D"/>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182112" y="4279392"/>
            <a:ext cx="2660904" cy="356616"/>
          </a:xfrm>
          <a:prstGeom prst="roundRect">
            <a:avLst/>
          </a:prstGeom>
          <a:solidFill>
            <a:srgbClr val="F4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73552" y="4343400"/>
            <a:ext cx="2478024" cy="228600"/>
          </a:xfrm>
          <a:prstGeom prst="rect">
            <a:avLst/>
          </a:prstGeom>
          <a:noFill/>
        </p:spPr>
        <p:txBody>
          <a:bodyPr wrap="square" lIns="0" rIns="0" tIns="0" bIns="0">
            <a:spAutoFit/>
          </a:bodyPr>
          <a:lstStyle/>
          <a:p>
            <a:pPr algn="ctr">
              <a:spcAft>
                <a:spcPts val="500"/>
              </a:spcAft>
              <a:defRPr sz="1300" b="1">
                <a:solidFill>
                  <a:srgbClr val="AD405D"/>
                </a:solidFill>
                <a:latin typeface="Lato"/>
              </a:defRPr>
            </a:pPr>
            <a:r>
              <a:t>ESCALATED</a:t>
            </a:r>
          </a:p>
        </p:txBody>
      </p:sp>
      <p:sp>
        <p:nvSpPr>
          <p:cNvPr id="25" name="TextBox 24"/>
          <p:cNvSpPr txBox="1"/>
          <p:nvPr/>
        </p:nvSpPr>
        <p:spPr>
          <a:xfrm>
            <a:off x="6373368" y="4343400"/>
            <a:ext cx="5120640" cy="694944"/>
          </a:xfrm>
          <a:prstGeom prst="rect">
            <a:avLst/>
          </a:prstGeom>
          <a:noFill/>
        </p:spPr>
        <p:txBody>
          <a:bodyPr wrap="square" lIns="0" rIns="0" tIns="0" bIns="0">
            <a:spAutoFit/>
          </a:bodyPr>
          <a:lstStyle/>
          <a:p>
            <a:pPr>
              <a:spcAft>
                <a:spcPts val="500"/>
              </a:spcAft>
              <a:defRPr sz="2100" b="1">
                <a:solidFill>
                  <a:srgbClr val="2D1B38"/>
                </a:solidFill>
                <a:latin typeface="Lato"/>
              </a:defRPr>
            </a:pPr>
            <a:r>
              <a:t>Updater becomes assignee.</a:t>
            </a:r>
          </a:p>
          <a:p>
            <a:pPr>
              <a:spcAft>
                <a:spcPts val="500"/>
              </a:spcAft>
              <a:defRPr sz="2100" b="1">
                <a:solidFill>
                  <a:srgbClr val="2D1B38"/>
                </a:solidFill>
                <a:latin typeface="Lato"/>
              </a:defRPr>
            </a:pPr>
            <a:r>
              <a:t>Resolution / closure requires remarks.</a:t>
            </a:r>
          </a:p>
        </p:txBody>
      </p:sp>
      <p:cxnSp>
        <p:nvCxnSpPr>
          <p:cNvPr id="26" name="Connector 25"/>
          <p:cNvCxnSpPr/>
          <p:nvPr/>
        </p:nvCxnSpPr>
        <p:spPr>
          <a:xfrm>
            <a:off x="576072" y="5888736"/>
            <a:ext cx="329184" cy="0"/>
          </a:xfrm>
          <a:prstGeom prst="line">
            <a:avLst/>
          </a:prstGeom>
          <a:ln w="38100">
            <a:solidFill>
              <a:srgbClr val="B65F2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60704" y="5724144"/>
            <a:ext cx="10332720" cy="448056"/>
          </a:xfrm>
          <a:prstGeom prst="rect">
            <a:avLst/>
          </a:prstGeom>
          <a:noFill/>
        </p:spPr>
        <p:txBody>
          <a:bodyPr wrap="square" lIns="0" rIns="0" tIns="0" bIns="0">
            <a:spAutoFit/>
          </a:bodyPr>
          <a:lstStyle/>
          <a:p>
            <a:pPr>
              <a:spcAft>
                <a:spcPts val="500"/>
              </a:spcAft>
              <a:defRPr sz="1500" b="1">
                <a:solidFill>
                  <a:srgbClr val="B65F20"/>
                </a:solidFill>
                <a:latin typeface="Lato"/>
              </a:defRPr>
            </a:pPr>
            <a:r>
              <a:t>Sequence is recommended practice; SLA targets and escalation contacts need agreement.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BRANCH REVIEW</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Sales Manager: inspect, understand, direct</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Read-only oversight of the configured branch.</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25 / 30</a:t>
            </a:r>
          </a:p>
        </p:txBody>
      </p:sp>
      <p:sp>
        <p:nvSpPr>
          <p:cNvPr id="8" name="Rounded Rectangle 7"/>
          <p:cNvSpPr/>
          <p:nvPr/>
        </p:nvSpPr>
        <p:spPr>
          <a:xfrm>
            <a:off x="685800" y="2249424"/>
            <a:ext cx="3209544" cy="3090672"/>
          </a:xfrm>
          <a:prstGeom prst="roundRect">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949500" y="2619756"/>
            <a:ext cx="0" cy="715975"/>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949500" y="3335731"/>
            <a:ext cx="740664"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130552" y="3031236"/>
            <a:ext cx="0" cy="181051"/>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344521" y="2858414"/>
            <a:ext cx="0" cy="353873"/>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558491" y="2652674"/>
            <a:ext cx="0" cy="559613"/>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50976" y="3703320"/>
            <a:ext cx="2679192" cy="530352"/>
          </a:xfrm>
          <a:prstGeom prst="rect">
            <a:avLst/>
          </a:prstGeom>
          <a:noFill/>
        </p:spPr>
        <p:txBody>
          <a:bodyPr wrap="square" lIns="0" rIns="0" tIns="0" bIns="0">
            <a:spAutoFit/>
          </a:bodyPr>
          <a:lstStyle/>
          <a:p>
            <a:pPr algn="ctr">
              <a:spcAft>
                <a:spcPts val="500"/>
              </a:spcAft>
              <a:defRPr sz="2600" b="1">
                <a:solidFill>
                  <a:srgbClr val="FFFFFF"/>
                </a:solidFill>
                <a:latin typeface="Lato"/>
              </a:defRPr>
            </a:pPr>
            <a:r>
              <a:t>BRANCH VIEW</a:t>
            </a:r>
          </a:p>
        </p:txBody>
      </p:sp>
      <p:sp>
        <p:nvSpPr>
          <p:cNvPr id="15" name="TextBox 14"/>
          <p:cNvSpPr txBox="1"/>
          <p:nvPr/>
        </p:nvSpPr>
        <p:spPr>
          <a:xfrm>
            <a:off x="950976" y="4517136"/>
            <a:ext cx="2679192" cy="566928"/>
          </a:xfrm>
          <a:prstGeom prst="rect">
            <a:avLst/>
          </a:prstGeom>
          <a:noFill/>
        </p:spPr>
        <p:txBody>
          <a:bodyPr wrap="square" lIns="0" rIns="0" tIns="0" bIns="0">
            <a:spAutoFit/>
          </a:bodyPr>
          <a:lstStyle/>
          <a:p>
            <a:pPr algn="ctr">
              <a:spcAft>
                <a:spcPts val="500"/>
              </a:spcAft>
              <a:defRPr sz="2000" b="0">
                <a:solidFill>
                  <a:srgbClr val="FFFFFF"/>
                </a:solidFill>
                <a:latin typeface="Lato"/>
              </a:defRPr>
            </a:pPr>
            <a:r>
              <a:t>Leads · people</a:t>
            </a:r>
          </a:p>
          <a:p>
            <a:pPr algn="ctr">
              <a:spcAft>
                <a:spcPts val="500"/>
              </a:spcAft>
              <a:defRPr sz="2000" b="0">
                <a:solidFill>
                  <a:srgbClr val="FFFFFF"/>
                </a:solidFill>
                <a:latin typeface="Lato"/>
              </a:defRPr>
            </a:pPr>
            <a:r>
              <a:t>Sources · outcomes</a:t>
            </a:r>
          </a:p>
        </p:txBody>
      </p:sp>
      <p:cxnSp>
        <p:nvCxnSpPr>
          <p:cNvPr id="16" name="Connector 15"/>
          <p:cNvCxnSpPr/>
          <p:nvPr/>
        </p:nvCxnSpPr>
        <p:spPr>
          <a:xfrm>
            <a:off x="5116982" y="2592324"/>
            <a:ext cx="0" cy="556869"/>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116982" y="3149193"/>
            <a:ext cx="576072"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5257800" y="2912363"/>
            <a:ext cx="0" cy="140818"/>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5424220" y="2777947"/>
            <a:ext cx="0" cy="275234"/>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5590641" y="2617927"/>
            <a:ext cx="0" cy="435254"/>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62856" y="3547872"/>
            <a:ext cx="2139696" cy="365760"/>
          </a:xfrm>
          <a:prstGeom prst="rect">
            <a:avLst/>
          </a:prstGeom>
          <a:noFill/>
        </p:spPr>
        <p:txBody>
          <a:bodyPr wrap="square" lIns="0" rIns="0" tIns="0" bIns="0">
            <a:spAutoFit/>
          </a:bodyPr>
          <a:lstStyle/>
          <a:p>
            <a:pPr algn="ctr">
              <a:spcAft>
                <a:spcPts val="500"/>
              </a:spcAft>
              <a:defRPr sz="2400" b="1">
                <a:solidFill>
                  <a:srgbClr val="6945A3"/>
                </a:solidFill>
                <a:latin typeface="Lato"/>
              </a:defRPr>
            </a:pPr>
            <a:r>
              <a:t>SPOT</a:t>
            </a:r>
          </a:p>
        </p:txBody>
      </p:sp>
      <p:sp>
        <p:nvSpPr>
          <p:cNvPr id="22" name="TextBox 21"/>
          <p:cNvSpPr txBox="1"/>
          <p:nvPr/>
        </p:nvSpPr>
        <p:spPr>
          <a:xfrm>
            <a:off x="4562856" y="4224528"/>
            <a:ext cx="2139696" cy="777240"/>
          </a:xfrm>
          <a:prstGeom prst="rect">
            <a:avLst/>
          </a:prstGeom>
          <a:noFill/>
        </p:spPr>
        <p:txBody>
          <a:bodyPr wrap="square" lIns="0" rIns="0" tIns="0" bIns="0">
            <a:spAutoFit/>
          </a:bodyPr>
          <a:lstStyle/>
          <a:p>
            <a:pPr algn="ctr">
              <a:spcAft>
                <a:spcPts val="500"/>
              </a:spcAft>
              <a:defRPr sz="1900" b="0">
                <a:solidFill>
                  <a:srgbClr val="776B80"/>
                </a:solidFill>
                <a:latin typeface="Lato"/>
              </a:defRPr>
            </a:pPr>
            <a:r>
              <a:t>Untouched / overdue work</a:t>
            </a:r>
          </a:p>
        </p:txBody>
      </p:sp>
      <p:sp>
        <p:nvSpPr>
          <p:cNvPr id="23" name="Rounded Rectangle 22"/>
          <p:cNvSpPr/>
          <p:nvPr/>
        </p:nvSpPr>
        <p:spPr>
          <a:xfrm>
            <a:off x="7506309" y="2579522"/>
            <a:ext cx="422452" cy="601675"/>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7595920" y="2745943"/>
            <a:ext cx="249632"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595920" y="2880360"/>
            <a:ext cx="249632"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595920" y="3021177"/>
            <a:ext cx="179223"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894576" y="3547872"/>
            <a:ext cx="2139696" cy="365760"/>
          </a:xfrm>
          <a:prstGeom prst="rect">
            <a:avLst/>
          </a:prstGeom>
          <a:noFill/>
        </p:spPr>
        <p:txBody>
          <a:bodyPr wrap="square" lIns="0" rIns="0" tIns="0" bIns="0">
            <a:spAutoFit/>
          </a:bodyPr>
          <a:lstStyle/>
          <a:p>
            <a:pPr algn="ctr">
              <a:spcAft>
                <a:spcPts val="500"/>
              </a:spcAft>
              <a:defRPr sz="2400" b="1">
                <a:solidFill>
                  <a:srgbClr val="6945A3"/>
                </a:solidFill>
                <a:latin typeface="Lato"/>
              </a:defRPr>
            </a:pPr>
            <a:r>
              <a:t>OPEN</a:t>
            </a:r>
          </a:p>
        </p:txBody>
      </p:sp>
      <p:sp>
        <p:nvSpPr>
          <p:cNvPr id="28" name="TextBox 27"/>
          <p:cNvSpPr txBox="1"/>
          <p:nvPr/>
        </p:nvSpPr>
        <p:spPr>
          <a:xfrm>
            <a:off x="6894576" y="4224528"/>
            <a:ext cx="2139696" cy="777240"/>
          </a:xfrm>
          <a:prstGeom prst="rect">
            <a:avLst/>
          </a:prstGeom>
          <a:noFill/>
        </p:spPr>
        <p:txBody>
          <a:bodyPr wrap="square" lIns="0" rIns="0" tIns="0" bIns="0">
            <a:spAutoFit/>
          </a:bodyPr>
          <a:lstStyle/>
          <a:p>
            <a:pPr algn="ctr">
              <a:spcAft>
                <a:spcPts val="500"/>
              </a:spcAft>
              <a:defRPr sz="1900" b="0">
                <a:solidFill>
                  <a:srgbClr val="776B80"/>
                </a:solidFill>
                <a:latin typeface="Lato"/>
              </a:defRPr>
            </a:pPr>
            <a:r>
              <a:t>Lead and owner history</a:t>
            </a:r>
          </a:p>
        </p:txBody>
      </p:sp>
      <p:sp>
        <p:nvSpPr>
          <p:cNvPr id="29" name="Oval 28"/>
          <p:cNvSpPr/>
          <p:nvPr/>
        </p:nvSpPr>
        <p:spPr>
          <a:xfrm>
            <a:off x="9940442" y="2598724"/>
            <a:ext cx="217627" cy="217627"/>
          </a:xfrm>
          <a:prstGeom prst="ellipse">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flipV="1">
            <a:off x="9838029" y="2982772"/>
            <a:ext cx="0" cy="153619"/>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9838029" y="2893161"/>
            <a:ext cx="115215" cy="89611"/>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953244" y="2893161"/>
            <a:ext cx="192024"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145268" y="2893161"/>
            <a:ext cx="115214" cy="89611"/>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260482" y="2982772"/>
            <a:ext cx="0" cy="153619"/>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226296" y="3547872"/>
            <a:ext cx="2139696" cy="365760"/>
          </a:xfrm>
          <a:prstGeom prst="rect">
            <a:avLst/>
          </a:prstGeom>
          <a:noFill/>
        </p:spPr>
        <p:txBody>
          <a:bodyPr wrap="square" lIns="0" rIns="0" tIns="0" bIns="0">
            <a:spAutoFit/>
          </a:bodyPr>
          <a:lstStyle/>
          <a:p>
            <a:pPr algn="ctr">
              <a:spcAft>
                <a:spcPts val="500"/>
              </a:spcAft>
              <a:defRPr sz="2400" b="1">
                <a:solidFill>
                  <a:srgbClr val="6945A3"/>
                </a:solidFill>
                <a:latin typeface="Lato"/>
              </a:defRPr>
            </a:pPr>
            <a:r>
              <a:t>DIRECT</a:t>
            </a:r>
          </a:p>
        </p:txBody>
      </p:sp>
      <p:sp>
        <p:nvSpPr>
          <p:cNvPr id="36" name="TextBox 35"/>
          <p:cNvSpPr txBox="1"/>
          <p:nvPr/>
        </p:nvSpPr>
        <p:spPr>
          <a:xfrm>
            <a:off x="9226296" y="4224528"/>
            <a:ext cx="2139696" cy="777240"/>
          </a:xfrm>
          <a:prstGeom prst="rect">
            <a:avLst/>
          </a:prstGeom>
          <a:noFill/>
        </p:spPr>
        <p:txBody>
          <a:bodyPr wrap="square" lIns="0" rIns="0" tIns="0" bIns="0">
            <a:spAutoFit/>
          </a:bodyPr>
          <a:lstStyle/>
          <a:p>
            <a:pPr algn="ctr">
              <a:spcAft>
                <a:spcPts val="500"/>
              </a:spcAft>
              <a:defRPr sz="1900" b="0">
                <a:solidFill>
                  <a:srgbClr val="776B80"/>
                </a:solidFill>
                <a:latin typeface="Lato"/>
              </a:defRPr>
            </a:pPr>
            <a:r>
              <a:t>Owner acts; Admin reallocates</a:t>
            </a:r>
          </a:p>
        </p:txBody>
      </p:sp>
      <p:cxnSp>
        <p:nvCxnSpPr>
          <p:cNvPr id="37" name="Connector 36"/>
          <p:cNvCxnSpPr/>
          <p:nvPr/>
        </p:nvCxnSpPr>
        <p:spPr>
          <a:xfrm>
            <a:off x="576072" y="5888736"/>
            <a:ext cx="329184" cy="0"/>
          </a:xfrm>
          <a:prstGeom prst="line">
            <a:avLst/>
          </a:prstGeom>
          <a:ln w="38100">
            <a:solidFill>
              <a:srgbClr val="6945A3"/>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060704" y="5724144"/>
            <a:ext cx="10332720" cy="448056"/>
          </a:xfrm>
          <a:prstGeom prst="rect">
            <a:avLst/>
          </a:prstGeom>
          <a:noFill/>
        </p:spPr>
        <p:txBody>
          <a:bodyPr wrap="square" lIns="0" rIns="0" tIns="0" bIns="0">
            <a:spAutoFit/>
          </a:bodyPr>
          <a:lstStyle/>
          <a:p>
            <a:pPr>
              <a:spcAft>
                <a:spcPts val="500"/>
              </a:spcAft>
              <a:defRPr sz="1500" b="1">
                <a:solidFill>
                  <a:srgbClr val="6945A3"/>
                </a:solidFill>
                <a:latin typeface="Lato"/>
              </a:defRPr>
            </a:pPr>
            <a:r>
              <a:t>Stale = currently Fresh and created at least three calendar days ago.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BRANCH REVIEW</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Read dashboard numbers in context</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Current-state counts support daily review; agree definitions before using targets.</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26 / 30</a:t>
            </a:r>
          </a:p>
        </p:txBody>
      </p:sp>
      <p:graphicFrame>
        <p:nvGraphicFramePr>
          <p:cNvPr id="8" name="Table 7"/>
          <p:cNvGraphicFramePr>
            <a:graphicFrameLocks noGrp="1"/>
          </p:cNvGraphicFramePr>
          <p:nvPr/>
        </p:nvGraphicFramePr>
        <p:xfrm>
          <a:off x="548640" y="2258568"/>
          <a:ext cx="11082528" cy="3264408"/>
        </p:xfrm>
        <a:graphic>
          <a:graphicData uri="http://schemas.openxmlformats.org/drawingml/2006/table">
            <a:tbl>
              <a:tblPr firstRow="1" bandRow="1">
                <a:tableStyleId>{5C22544A-7EE6-4342-B048-85BDC9FD1C3A}</a:tableStyleId>
              </a:tblPr>
              <a:tblGrid>
                <a:gridCol w="2267712"/>
                <a:gridCol w="4315968"/>
                <a:gridCol w="4498848"/>
              </a:tblGrid>
              <a:tr h="544068">
                <a:tc>
                  <a:txBody>
                    <a:bodyPr/>
                    <a:lstStyle/>
                    <a:p>
                      <a:pPr>
                        <a:defRPr sz="1600" b="1">
                          <a:solidFill>
                            <a:srgbClr val="FFFFFF"/>
                          </a:solidFill>
                          <a:latin typeface="Lato"/>
                        </a:defRPr>
                      </a:pPr>
                      <a:r>
                        <a:t>Measure</a:t>
                      </a:r>
                    </a:p>
                  </a:txBody>
                  <a:tcPr anchor="ctr" marL="128016" marR="91440" marT="50292" marB="41148">
                    <a:solidFill>
                      <a:srgbClr val="2D1B38"/>
                    </a:solidFill>
                  </a:tcPr>
                </a:tc>
                <a:tc>
                  <a:txBody>
                    <a:bodyPr/>
                    <a:lstStyle/>
                    <a:p>
                      <a:pPr>
                        <a:defRPr sz="1600" b="1">
                          <a:solidFill>
                            <a:srgbClr val="FFFFFF"/>
                          </a:solidFill>
                          <a:latin typeface="Lato"/>
                        </a:defRPr>
                      </a:pPr>
                      <a:r>
                        <a:t>What it represents</a:t>
                      </a:r>
                    </a:p>
                  </a:txBody>
                  <a:tcPr anchor="ctr" marL="128016" marR="91440" marT="50292" marB="41148">
                    <a:solidFill>
                      <a:srgbClr val="2D1B38"/>
                    </a:solidFill>
                  </a:tcPr>
                </a:tc>
                <a:tc>
                  <a:txBody>
                    <a:bodyPr/>
                    <a:lstStyle/>
                    <a:p>
                      <a:pPr>
                        <a:defRPr sz="1600" b="1">
                          <a:solidFill>
                            <a:srgbClr val="FFFFFF"/>
                          </a:solidFill>
                          <a:latin typeface="Lato"/>
                        </a:defRPr>
                      </a:pPr>
                      <a:r>
                        <a:t>What to avoid assuming</a:t>
                      </a:r>
                    </a:p>
                  </a:txBody>
                  <a:tcPr anchor="ctr" marL="128016" marR="91440" marT="50292" marB="41148">
                    <a:solidFill>
                      <a:srgbClr val="2D1B38"/>
                    </a:solidFill>
                  </a:tcPr>
                </a:tc>
              </a:tr>
              <a:tr h="544068">
                <a:tc>
                  <a:txBody>
                    <a:bodyPr/>
                    <a:lstStyle/>
                    <a:p>
                      <a:pPr>
                        <a:defRPr sz="1600" b="1">
                          <a:solidFill>
                            <a:srgbClr val="2D1B38"/>
                          </a:solidFill>
                          <a:latin typeface="Lato"/>
                        </a:defRPr>
                      </a:pPr>
                      <a:r>
                        <a:t>Qualified</a:t>
                      </a:r>
                    </a:p>
                  </a:txBody>
                  <a:tcPr anchor="ctr" marL="128016" marR="91440" marT="50292" marB="41148">
                    <a:solidFill>
                      <a:srgbClr val="FFFFFF"/>
                    </a:solidFill>
                  </a:tcPr>
                </a:tc>
                <a:tc>
                  <a:txBody>
                    <a:bodyPr/>
                    <a:lstStyle/>
                    <a:p>
                      <a:pPr>
                        <a:defRPr sz="1600" b="0">
                          <a:solidFill>
                            <a:srgbClr val="2D1B38"/>
                          </a:solidFill>
                          <a:latin typeface="Lato"/>
                        </a:defRPr>
                      </a:pPr>
                      <a:r>
                        <a:t>Current Qualified status</a:t>
                      </a:r>
                    </a:p>
                  </a:txBody>
                  <a:tcPr anchor="ctr" marL="128016" marR="91440" marT="50292" marB="41148">
                    <a:solidFill>
                      <a:srgbClr val="FFFFFF"/>
                    </a:solidFill>
                  </a:tcPr>
                </a:tc>
                <a:tc>
                  <a:txBody>
                    <a:bodyPr/>
                    <a:lstStyle/>
                    <a:p>
                      <a:pPr>
                        <a:defRPr sz="1600" b="0">
                          <a:solidFill>
                            <a:srgbClr val="2D1B38"/>
                          </a:solidFill>
                          <a:latin typeface="Lato"/>
                        </a:defRPr>
                      </a:pPr>
                      <a:r>
                        <a:t>Everyone who ever qualified</a:t>
                      </a:r>
                    </a:p>
                  </a:txBody>
                  <a:tcPr anchor="ctr" marL="128016" marR="91440" marT="50292" marB="41148">
                    <a:solidFill>
                      <a:srgbClr val="FFFFFF"/>
                    </a:solidFill>
                  </a:tcPr>
                </a:tc>
              </a:tr>
              <a:tr h="544068">
                <a:tc>
                  <a:txBody>
                    <a:bodyPr/>
                    <a:lstStyle/>
                    <a:p>
                      <a:pPr>
                        <a:defRPr sz="1600" b="1">
                          <a:solidFill>
                            <a:srgbClr val="2D1B38"/>
                          </a:solidFill>
                          <a:latin typeface="Lato"/>
                        </a:defRPr>
                      </a:pPr>
                      <a:r>
                        <a:t>Booked / Retailed</a:t>
                      </a:r>
                    </a:p>
                  </a:txBody>
                  <a:tcPr anchor="ctr" marL="128016" marR="91440" marT="50292" marB="41148">
                    <a:solidFill>
                      <a:srgbClr val="E8DDF4"/>
                    </a:solidFill>
                  </a:tcPr>
                </a:tc>
                <a:tc>
                  <a:txBody>
                    <a:bodyPr/>
                    <a:lstStyle/>
                    <a:p>
                      <a:pPr>
                        <a:defRPr sz="1600" b="0">
                          <a:solidFill>
                            <a:srgbClr val="2D1B38"/>
                          </a:solidFill>
                          <a:latin typeface="Lato"/>
                        </a:defRPr>
                      </a:pPr>
                      <a:r>
                        <a:t>Current sales outcome</a:t>
                      </a:r>
                    </a:p>
                  </a:txBody>
                  <a:tcPr anchor="ctr" marL="128016" marR="91440" marT="50292" marB="41148">
                    <a:solidFill>
                      <a:srgbClr val="E8DDF4"/>
                    </a:solidFill>
                  </a:tcPr>
                </a:tc>
                <a:tc>
                  <a:txBody>
                    <a:bodyPr/>
                    <a:lstStyle/>
                    <a:p>
                      <a:pPr>
                        <a:defRPr sz="1600" b="0">
                          <a:solidFill>
                            <a:srgbClr val="2D1B38"/>
                          </a:solidFill>
                          <a:latin typeface="Lato"/>
                        </a:defRPr>
                      </a:pPr>
                      <a:r>
                        <a:t>An immutable sales ledger</a:t>
                      </a:r>
                    </a:p>
                  </a:txBody>
                  <a:tcPr anchor="ctr" marL="128016" marR="91440" marT="50292" marB="41148">
                    <a:solidFill>
                      <a:srgbClr val="E8DDF4"/>
                    </a:solidFill>
                  </a:tcPr>
                </a:tc>
              </a:tr>
              <a:tr h="544068">
                <a:tc>
                  <a:txBody>
                    <a:bodyPr/>
                    <a:lstStyle/>
                    <a:p>
                      <a:pPr>
                        <a:defRPr sz="1600" b="1">
                          <a:solidFill>
                            <a:srgbClr val="2D1B38"/>
                          </a:solidFill>
                          <a:latin typeface="Lato"/>
                        </a:defRPr>
                      </a:pPr>
                      <a:r>
                        <a:t>Contacted</a:t>
                      </a:r>
                    </a:p>
                  </a:txBody>
                  <a:tcPr anchor="ctr" marL="128016" marR="91440" marT="50292" marB="41148">
                    <a:solidFill>
                      <a:srgbClr val="FFFFFF"/>
                    </a:solidFill>
                  </a:tcPr>
                </a:tc>
                <a:tc>
                  <a:txBody>
                    <a:bodyPr/>
                    <a:lstStyle/>
                    <a:p>
                      <a:pPr>
                        <a:defRPr sz="1600" b="0">
                          <a:solidFill>
                            <a:srgbClr val="2D1B38"/>
                          </a:solidFill>
                          <a:latin typeface="Lato"/>
                        </a:defRPr>
                      </a:pPr>
                      <a:r>
                        <a:t>Status is no longer Fresh</a:t>
                      </a:r>
                    </a:p>
                  </a:txBody>
                  <a:tcPr anchor="ctr" marL="128016" marR="91440" marT="50292" marB="41148">
                    <a:solidFill>
                      <a:srgbClr val="FFFFFF"/>
                    </a:solidFill>
                  </a:tcPr>
                </a:tc>
                <a:tc>
                  <a:txBody>
                    <a:bodyPr/>
                    <a:lstStyle/>
                    <a:p>
                      <a:pPr>
                        <a:defRPr sz="1600" b="0">
                          <a:solidFill>
                            <a:srgbClr val="2D1B38"/>
                          </a:solidFill>
                          <a:latin typeface="Lato"/>
                        </a:defRPr>
                      </a:pPr>
                      <a:r>
                        <a:t>Verified connected call</a:t>
                      </a:r>
                    </a:p>
                  </a:txBody>
                  <a:tcPr anchor="ctr" marL="128016" marR="91440" marT="50292" marB="41148">
                    <a:solidFill>
                      <a:srgbClr val="FFFFFF"/>
                    </a:solidFill>
                  </a:tcPr>
                </a:tc>
              </a:tr>
              <a:tr h="544068">
                <a:tc>
                  <a:txBody>
                    <a:bodyPr/>
                    <a:lstStyle/>
                    <a:p>
                      <a:pPr>
                        <a:defRPr sz="1600" b="1">
                          <a:solidFill>
                            <a:srgbClr val="2D1B38"/>
                          </a:solidFill>
                          <a:latin typeface="Lato"/>
                        </a:defRPr>
                      </a:pPr>
                      <a:r>
                        <a:t>Lead-to-retail %</a:t>
                      </a:r>
                    </a:p>
                  </a:txBody>
                  <a:tcPr anchor="ctr" marL="128016" marR="91440" marT="50292" marB="41148">
                    <a:solidFill>
                      <a:srgbClr val="E8DDF4"/>
                    </a:solidFill>
                  </a:tcPr>
                </a:tc>
                <a:tc>
                  <a:txBody>
                    <a:bodyPr/>
                    <a:lstStyle/>
                    <a:p>
                      <a:pPr>
                        <a:defRPr sz="1600" b="0">
                          <a:solidFill>
                            <a:srgbClr val="2D1B38"/>
                          </a:solidFill>
                          <a:latin typeface="Lato"/>
                        </a:defRPr>
                      </a:pPr>
                      <a:r>
                        <a:t>Retailed ÷ selected lead cohort</a:t>
                      </a:r>
                    </a:p>
                  </a:txBody>
                  <a:tcPr anchor="ctr" marL="128016" marR="91440" marT="50292" marB="41148">
                    <a:solidFill>
                      <a:srgbClr val="E8DDF4"/>
                    </a:solidFill>
                  </a:tcPr>
                </a:tc>
                <a:tc>
                  <a:txBody>
                    <a:bodyPr/>
                    <a:lstStyle/>
                    <a:p>
                      <a:pPr>
                        <a:defRPr sz="1600" b="0">
                          <a:solidFill>
                            <a:srgbClr val="2D1B38"/>
                          </a:solidFill>
                          <a:latin typeface="Lato"/>
                        </a:defRPr>
                      </a:pPr>
                      <a:r>
                        <a:t>Same cohort across different filters</a:t>
                      </a:r>
                    </a:p>
                  </a:txBody>
                  <a:tcPr anchor="ctr" marL="128016" marR="91440" marT="50292" marB="41148">
                    <a:solidFill>
                      <a:srgbClr val="E8DDF4"/>
                    </a:solidFill>
                  </a:tcPr>
                </a:tc>
              </a:tr>
              <a:tr h="544068">
                <a:tc>
                  <a:txBody>
                    <a:bodyPr/>
                    <a:lstStyle/>
                    <a:p>
                      <a:pPr>
                        <a:defRPr sz="1600" b="1">
                          <a:solidFill>
                            <a:srgbClr val="2D1B38"/>
                          </a:solidFill>
                          <a:latin typeface="Lato"/>
                        </a:defRPr>
                      </a:pPr>
                      <a:r>
                        <a:t>Lost reasons</a:t>
                      </a:r>
                    </a:p>
                  </a:txBody>
                  <a:tcPr anchor="ctr" marL="128016" marR="91440" marT="50292" marB="41148">
                    <a:solidFill>
                      <a:srgbClr val="FFFFFF"/>
                    </a:solidFill>
                  </a:tcPr>
                </a:tc>
                <a:tc>
                  <a:txBody>
                    <a:bodyPr/>
                    <a:lstStyle/>
                    <a:p>
                      <a:pPr>
                        <a:defRPr sz="1600" b="0">
                          <a:solidFill>
                            <a:srgbClr val="2D1B38"/>
                          </a:solidFill>
                          <a:latin typeface="Lato"/>
                        </a:defRPr>
                      </a:pPr>
                      <a:r>
                        <a:t>Call outcomes on currently lost leads</a:t>
                      </a:r>
                    </a:p>
                  </a:txBody>
                  <a:tcPr anchor="ctr" marL="128016" marR="91440" marT="50292" marB="41148">
                    <a:solidFill>
                      <a:srgbClr val="FFFFFF"/>
                    </a:solidFill>
                  </a:tcPr>
                </a:tc>
                <a:tc>
                  <a:txBody>
                    <a:bodyPr/>
                    <a:lstStyle/>
                    <a:p>
                      <a:pPr>
                        <a:defRPr sz="1600" b="0">
                          <a:solidFill>
                            <a:srgbClr val="2D1B38"/>
                          </a:solidFill>
                          <a:latin typeface="Lato"/>
                        </a:defRPr>
                      </a:pPr>
                      <a:r>
                        <a:t>One final reason per unique lead</a:t>
                      </a:r>
                    </a:p>
                  </a:txBody>
                  <a:tcPr anchor="ctr" marL="128016" marR="91440" marT="50292" marB="41148">
                    <a:solidFill>
                      <a:srgbClr val="FFFFFF"/>
                    </a:solidFill>
                  </a:tcPr>
                </a:tc>
              </a:tr>
            </a:tbl>
          </a:graphicData>
        </a:graphic>
      </p:graphicFrame>
      <p:cxnSp>
        <p:nvCxnSpPr>
          <p:cNvPr id="9" name="Connector 8"/>
          <p:cNvCxnSpPr/>
          <p:nvPr/>
        </p:nvCxnSpPr>
        <p:spPr>
          <a:xfrm>
            <a:off x="576072" y="5888736"/>
            <a:ext cx="329184" cy="0"/>
          </a:xfrm>
          <a:prstGeom prst="line">
            <a:avLst/>
          </a:prstGeom>
          <a:ln w="38100">
            <a:solidFill>
              <a:srgbClr val="B65F2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60704" y="5724144"/>
            <a:ext cx="10332720" cy="448056"/>
          </a:xfrm>
          <a:prstGeom prst="rect">
            <a:avLst/>
          </a:prstGeom>
          <a:noFill/>
        </p:spPr>
        <p:txBody>
          <a:bodyPr wrap="square" lIns="0" rIns="0" tIns="0" bIns="0">
            <a:spAutoFit/>
          </a:bodyPr>
          <a:lstStyle/>
          <a:p>
            <a:pPr>
              <a:spcAft>
                <a:spcPts val="500"/>
              </a:spcAft>
              <a:defRPr sz="1500" b="1">
                <a:solidFill>
                  <a:srgbClr val="B65F20"/>
                </a:solidFill>
                <a:latin typeface="Lato"/>
              </a:defRPr>
            </a:pPr>
            <a:r>
              <a:t>Keep branch and date filters visible; open records to explain the count.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DAILY OPERATIONS</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Make the queues part of the working day</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Suggested rhythm; agree timings with the manager.</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27 / 30</a:t>
            </a:r>
          </a:p>
        </p:txBody>
      </p:sp>
      <p:cxnSp>
        <p:nvCxnSpPr>
          <p:cNvPr id="8" name="Connector 7"/>
          <p:cNvCxnSpPr/>
          <p:nvPr/>
        </p:nvCxnSpPr>
        <p:spPr>
          <a:xfrm>
            <a:off x="1289304" y="3026664"/>
            <a:ext cx="9546336" cy="0"/>
          </a:xfrm>
          <a:prstGeom prst="line">
            <a:avLst/>
          </a:prstGeom>
          <a:ln w="76200">
            <a:solidFill>
              <a:srgbClr val="6945A3"/>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1069848" y="2816352"/>
            <a:ext cx="420624" cy="420624"/>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39" y="2386584"/>
            <a:ext cx="2103120" cy="384048"/>
          </a:xfrm>
          <a:prstGeom prst="rect">
            <a:avLst/>
          </a:prstGeom>
          <a:noFill/>
        </p:spPr>
        <p:txBody>
          <a:bodyPr wrap="square" lIns="0" rIns="0" tIns="0" bIns="0">
            <a:spAutoFit/>
          </a:bodyPr>
          <a:lstStyle/>
          <a:p>
            <a:pPr algn="ctr">
              <a:spcAft>
                <a:spcPts val="500"/>
              </a:spcAft>
              <a:defRPr sz="2100" b="1">
                <a:solidFill>
                  <a:srgbClr val="6945A3"/>
                </a:solidFill>
                <a:latin typeface="Lato"/>
              </a:defRPr>
            </a:pPr>
            <a:r>
              <a:t>START</a:t>
            </a:r>
          </a:p>
        </p:txBody>
      </p:sp>
      <p:sp>
        <p:nvSpPr>
          <p:cNvPr id="11" name="TextBox 10"/>
          <p:cNvSpPr txBox="1"/>
          <p:nvPr/>
        </p:nvSpPr>
        <p:spPr>
          <a:xfrm>
            <a:off x="548639" y="3538728"/>
            <a:ext cx="2103120" cy="365760"/>
          </a:xfrm>
          <a:prstGeom prst="rect">
            <a:avLst/>
          </a:prstGeom>
          <a:noFill/>
        </p:spPr>
        <p:txBody>
          <a:bodyPr wrap="square" lIns="0" rIns="0" tIns="0" bIns="0">
            <a:spAutoFit/>
          </a:bodyPr>
          <a:lstStyle/>
          <a:p>
            <a:pPr algn="ctr">
              <a:spcAft>
                <a:spcPts val="500"/>
              </a:spcAft>
              <a:defRPr sz="1700" b="1">
                <a:solidFill>
                  <a:srgbClr val="6945A3"/>
                </a:solidFill>
                <a:latin typeface="Lato"/>
              </a:defRPr>
            </a:pPr>
            <a:r>
              <a:t>ADMIN</a:t>
            </a:r>
          </a:p>
        </p:txBody>
      </p:sp>
      <p:sp>
        <p:nvSpPr>
          <p:cNvPr id="12" name="TextBox 11"/>
          <p:cNvSpPr txBox="1"/>
          <p:nvPr/>
        </p:nvSpPr>
        <p:spPr>
          <a:xfrm>
            <a:off x="548639" y="4242816"/>
            <a:ext cx="2103120" cy="859536"/>
          </a:xfrm>
          <a:prstGeom prst="rect">
            <a:avLst/>
          </a:prstGeom>
          <a:noFill/>
        </p:spPr>
        <p:txBody>
          <a:bodyPr wrap="square" lIns="0" rIns="0" tIns="0" bIns="0">
            <a:spAutoFit/>
          </a:bodyPr>
          <a:lstStyle/>
          <a:p>
            <a:pPr algn="ctr">
              <a:spcAft>
                <a:spcPts val="500"/>
              </a:spcAft>
              <a:defRPr sz="2000" b="0">
                <a:solidFill>
                  <a:srgbClr val="776B80"/>
                </a:solidFill>
                <a:latin typeface="Lato"/>
              </a:defRPr>
            </a:pPr>
            <a:r>
              <a:t>Allocate new work</a:t>
            </a:r>
          </a:p>
          <a:p>
            <a:pPr algn="ctr">
              <a:spcAft>
                <a:spcPts val="500"/>
              </a:spcAft>
              <a:defRPr sz="2000" b="0">
                <a:solidFill>
                  <a:srgbClr val="776B80"/>
                </a:solidFill>
                <a:latin typeface="Lato"/>
              </a:defRPr>
            </a:pPr>
            <a:r>
              <a:t>Check reassignment</a:t>
            </a:r>
          </a:p>
        </p:txBody>
      </p:sp>
      <p:sp>
        <p:nvSpPr>
          <p:cNvPr id="13" name="Oval 12"/>
          <p:cNvSpPr/>
          <p:nvPr/>
        </p:nvSpPr>
        <p:spPr>
          <a:xfrm>
            <a:off x="4251959" y="2816352"/>
            <a:ext cx="420624" cy="420624"/>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0752" y="2386584"/>
            <a:ext cx="2103120" cy="384048"/>
          </a:xfrm>
          <a:prstGeom prst="rect">
            <a:avLst/>
          </a:prstGeom>
          <a:noFill/>
        </p:spPr>
        <p:txBody>
          <a:bodyPr wrap="square" lIns="0" rIns="0" tIns="0" bIns="0">
            <a:spAutoFit/>
          </a:bodyPr>
          <a:lstStyle/>
          <a:p>
            <a:pPr algn="ctr">
              <a:spcAft>
                <a:spcPts val="500"/>
              </a:spcAft>
              <a:defRPr sz="2100" b="1">
                <a:solidFill>
                  <a:srgbClr val="6945A3"/>
                </a:solidFill>
                <a:latin typeface="Lato"/>
              </a:defRPr>
            </a:pPr>
            <a:r>
              <a:t>THROUGHOUT</a:t>
            </a:r>
          </a:p>
        </p:txBody>
      </p:sp>
      <p:sp>
        <p:nvSpPr>
          <p:cNvPr id="15" name="TextBox 14"/>
          <p:cNvSpPr txBox="1"/>
          <p:nvPr/>
        </p:nvSpPr>
        <p:spPr>
          <a:xfrm>
            <a:off x="3730752" y="3538728"/>
            <a:ext cx="2103120" cy="365760"/>
          </a:xfrm>
          <a:prstGeom prst="rect">
            <a:avLst/>
          </a:prstGeom>
          <a:noFill/>
        </p:spPr>
        <p:txBody>
          <a:bodyPr wrap="square" lIns="0" rIns="0" tIns="0" bIns="0">
            <a:spAutoFit/>
          </a:bodyPr>
          <a:lstStyle/>
          <a:p>
            <a:pPr algn="ctr">
              <a:spcAft>
                <a:spcPts val="500"/>
              </a:spcAft>
              <a:defRPr sz="1700" b="1">
                <a:solidFill>
                  <a:srgbClr val="6945A3"/>
                </a:solidFill>
                <a:latin typeface="Lato"/>
              </a:defRPr>
            </a:pPr>
            <a:r>
              <a:t>CRE / PS</a:t>
            </a:r>
          </a:p>
        </p:txBody>
      </p:sp>
      <p:sp>
        <p:nvSpPr>
          <p:cNvPr id="16" name="TextBox 15"/>
          <p:cNvSpPr txBox="1"/>
          <p:nvPr/>
        </p:nvSpPr>
        <p:spPr>
          <a:xfrm>
            <a:off x="3730752" y="4242816"/>
            <a:ext cx="2103120" cy="859536"/>
          </a:xfrm>
          <a:prstGeom prst="rect">
            <a:avLst/>
          </a:prstGeom>
          <a:noFill/>
        </p:spPr>
        <p:txBody>
          <a:bodyPr wrap="square" lIns="0" rIns="0" tIns="0" bIns="0">
            <a:spAutoFit/>
          </a:bodyPr>
          <a:lstStyle/>
          <a:p>
            <a:pPr algn="ctr">
              <a:spcAft>
                <a:spcPts val="500"/>
              </a:spcAft>
              <a:defRPr sz="2000" b="0">
                <a:solidFill>
                  <a:srgbClr val="776B80"/>
                </a:solidFill>
                <a:latin typeface="Lato"/>
              </a:defRPr>
            </a:pPr>
            <a:r>
              <a:t>Contact customer</a:t>
            </a:r>
          </a:p>
          <a:p>
            <a:pPr algn="ctr">
              <a:spcAft>
                <a:spcPts val="500"/>
              </a:spcAft>
              <a:defRPr sz="2000" b="0">
                <a:solidFill>
                  <a:srgbClr val="776B80"/>
                </a:solidFill>
                <a:latin typeface="Lato"/>
              </a:defRPr>
            </a:pPr>
            <a:r>
              <a:t>Save outcome + next date</a:t>
            </a:r>
          </a:p>
        </p:txBody>
      </p:sp>
      <p:sp>
        <p:nvSpPr>
          <p:cNvPr id="17" name="Oval 16"/>
          <p:cNvSpPr/>
          <p:nvPr/>
        </p:nvSpPr>
        <p:spPr>
          <a:xfrm>
            <a:off x="7434071" y="2816352"/>
            <a:ext cx="420624" cy="420624"/>
          </a:xfrm>
          <a:prstGeom prst="ellipse">
            <a:avLst/>
          </a:prstGeom>
          <a:solidFill>
            <a:srgbClr val="B65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12864" y="2386584"/>
            <a:ext cx="2103120" cy="384048"/>
          </a:xfrm>
          <a:prstGeom prst="rect">
            <a:avLst/>
          </a:prstGeom>
          <a:noFill/>
        </p:spPr>
        <p:txBody>
          <a:bodyPr wrap="square" lIns="0" rIns="0" tIns="0" bIns="0">
            <a:spAutoFit/>
          </a:bodyPr>
          <a:lstStyle/>
          <a:p>
            <a:pPr algn="ctr">
              <a:spcAft>
                <a:spcPts val="500"/>
              </a:spcAft>
              <a:defRPr sz="2100" b="1">
                <a:solidFill>
                  <a:srgbClr val="B65F20"/>
                </a:solidFill>
                <a:latin typeface="Lato"/>
              </a:defRPr>
            </a:pPr>
            <a:r>
              <a:t>MIDDAY</a:t>
            </a:r>
          </a:p>
        </p:txBody>
      </p:sp>
      <p:sp>
        <p:nvSpPr>
          <p:cNvPr id="19" name="TextBox 18"/>
          <p:cNvSpPr txBox="1"/>
          <p:nvPr/>
        </p:nvSpPr>
        <p:spPr>
          <a:xfrm>
            <a:off x="6912864" y="3538728"/>
            <a:ext cx="2103120" cy="365760"/>
          </a:xfrm>
          <a:prstGeom prst="rect">
            <a:avLst/>
          </a:prstGeom>
          <a:noFill/>
        </p:spPr>
        <p:txBody>
          <a:bodyPr wrap="square" lIns="0" rIns="0" tIns="0" bIns="0">
            <a:spAutoFit/>
          </a:bodyPr>
          <a:lstStyle/>
          <a:p>
            <a:pPr algn="ctr">
              <a:spcAft>
                <a:spcPts val="500"/>
              </a:spcAft>
              <a:defRPr sz="1700" b="1">
                <a:solidFill>
                  <a:srgbClr val="B65F20"/>
                </a:solidFill>
                <a:latin typeface="Lato"/>
              </a:defRPr>
            </a:pPr>
            <a:r>
              <a:t>SALES MANAGER</a:t>
            </a:r>
          </a:p>
        </p:txBody>
      </p:sp>
      <p:sp>
        <p:nvSpPr>
          <p:cNvPr id="20" name="TextBox 19"/>
          <p:cNvSpPr txBox="1"/>
          <p:nvPr/>
        </p:nvSpPr>
        <p:spPr>
          <a:xfrm>
            <a:off x="6912864" y="4242816"/>
            <a:ext cx="2103120" cy="859536"/>
          </a:xfrm>
          <a:prstGeom prst="rect">
            <a:avLst/>
          </a:prstGeom>
          <a:noFill/>
        </p:spPr>
        <p:txBody>
          <a:bodyPr wrap="square" lIns="0" rIns="0" tIns="0" bIns="0">
            <a:spAutoFit/>
          </a:bodyPr>
          <a:lstStyle/>
          <a:p>
            <a:pPr algn="ctr">
              <a:spcAft>
                <a:spcPts val="500"/>
              </a:spcAft>
              <a:defRPr sz="2000" b="0">
                <a:solidFill>
                  <a:srgbClr val="776B80"/>
                </a:solidFill>
                <a:latin typeface="Lato"/>
              </a:defRPr>
            </a:pPr>
            <a:r>
              <a:t>Review gaps</a:t>
            </a:r>
          </a:p>
          <a:p>
            <a:pPr algn="ctr">
              <a:spcAft>
                <a:spcPts val="500"/>
              </a:spcAft>
              <a:defRPr sz="2000" b="0">
                <a:solidFill>
                  <a:srgbClr val="776B80"/>
                </a:solidFill>
                <a:latin typeface="Lato"/>
              </a:defRPr>
            </a:pPr>
            <a:r>
              <a:t>Direct owners</a:t>
            </a:r>
          </a:p>
        </p:txBody>
      </p:sp>
      <p:sp>
        <p:nvSpPr>
          <p:cNvPr id="21" name="Oval 20"/>
          <p:cNvSpPr/>
          <p:nvPr/>
        </p:nvSpPr>
        <p:spPr>
          <a:xfrm>
            <a:off x="10616184" y="2816352"/>
            <a:ext cx="420624" cy="420624"/>
          </a:xfrm>
          <a:prstGeom prst="ellipse">
            <a:avLst/>
          </a:prstGeom>
          <a:solidFill>
            <a:srgbClr val="2477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94976" y="2386584"/>
            <a:ext cx="2103120" cy="384048"/>
          </a:xfrm>
          <a:prstGeom prst="rect">
            <a:avLst/>
          </a:prstGeom>
          <a:noFill/>
        </p:spPr>
        <p:txBody>
          <a:bodyPr wrap="square" lIns="0" rIns="0" tIns="0" bIns="0">
            <a:spAutoFit/>
          </a:bodyPr>
          <a:lstStyle/>
          <a:p>
            <a:pPr algn="ctr">
              <a:spcAft>
                <a:spcPts val="500"/>
              </a:spcAft>
              <a:defRPr sz="2100" b="1">
                <a:solidFill>
                  <a:srgbClr val="24776D"/>
                </a:solidFill>
                <a:latin typeface="Lato"/>
              </a:defRPr>
            </a:pPr>
            <a:r>
              <a:t>DAY END</a:t>
            </a:r>
          </a:p>
        </p:txBody>
      </p:sp>
      <p:sp>
        <p:nvSpPr>
          <p:cNvPr id="23" name="TextBox 22"/>
          <p:cNvSpPr txBox="1"/>
          <p:nvPr/>
        </p:nvSpPr>
        <p:spPr>
          <a:xfrm>
            <a:off x="10094976" y="3538728"/>
            <a:ext cx="2103120" cy="365760"/>
          </a:xfrm>
          <a:prstGeom prst="rect">
            <a:avLst/>
          </a:prstGeom>
          <a:noFill/>
        </p:spPr>
        <p:txBody>
          <a:bodyPr wrap="square" lIns="0" rIns="0" tIns="0" bIns="0">
            <a:spAutoFit/>
          </a:bodyPr>
          <a:lstStyle/>
          <a:p>
            <a:pPr algn="ctr">
              <a:spcAft>
                <a:spcPts val="500"/>
              </a:spcAft>
              <a:defRPr sz="1700" b="1">
                <a:solidFill>
                  <a:srgbClr val="24776D"/>
                </a:solidFill>
                <a:latin typeface="Lato"/>
              </a:defRPr>
            </a:pPr>
            <a:r>
              <a:t>TEAM LEADS</a:t>
            </a:r>
          </a:p>
        </p:txBody>
      </p:sp>
      <p:sp>
        <p:nvSpPr>
          <p:cNvPr id="24" name="TextBox 23"/>
          <p:cNvSpPr txBox="1"/>
          <p:nvPr/>
        </p:nvSpPr>
        <p:spPr>
          <a:xfrm>
            <a:off x="10094976" y="4242816"/>
            <a:ext cx="2103120" cy="859536"/>
          </a:xfrm>
          <a:prstGeom prst="rect">
            <a:avLst/>
          </a:prstGeom>
          <a:noFill/>
        </p:spPr>
        <p:txBody>
          <a:bodyPr wrap="square" lIns="0" rIns="0" tIns="0" bIns="0">
            <a:spAutoFit/>
          </a:bodyPr>
          <a:lstStyle/>
          <a:p>
            <a:pPr algn="ctr">
              <a:spcAft>
                <a:spcPts val="500"/>
              </a:spcAft>
              <a:defRPr sz="2000" b="0">
                <a:solidFill>
                  <a:srgbClr val="776B80"/>
                </a:solidFill>
                <a:latin typeface="Lato"/>
              </a:defRPr>
            </a:pPr>
            <a:r>
              <a:t>Clear exceptions</a:t>
            </a:r>
          </a:p>
          <a:p>
            <a:pPr algn="ctr">
              <a:spcAft>
                <a:spcPts val="500"/>
              </a:spcAft>
              <a:defRPr sz="2000" b="0">
                <a:solidFill>
                  <a:srgbClr val="776B80"/>
                </a:solidFill>
                <a:latin typeface="Lato"/>
              </a:defRPr>
            </a:pPr>
            <a:r>
              <a:t>Confirm next owners</a:t>
            </a:r>
          </a:p>
        </p:txBody>
      </p:sp>
      <p:cxnSp>
        <p:nvCxnSpPr>
          <p:cNvPr id="25" name="Connector 24"/>
          <p:cNvCxnSpPr/>
          <p:nvPr/>
        </p:nvCxnSpPr>
        <p:spPr>
          <a:xfrm>
            <a:off x="576072" y="5888736"/>
            <a:ext cx="329184" cy="0"/>
          </a:xfrm>
          <a:prstGeom prst="line">
            <a:avLst/>
          </a:prstGeom>
          <a:ln w="38100">
            <a:solidFill>
              <a:srgbClr val="6945A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060704" y="5724144"/>
            <a:ext cx="10332720" cy="448056"/>
          </a:xfrm>
          <a:prstGeom prst="rect">
            <a:avLst/>
          </a:prstGeom>
          <a:noFill/>
        </p:spPr>
        <p:txBody>
          <a:bodyPr wrap="square" lIns="0" rIns="0" tIns="0" bIns="0">
            <a:spAutoFit/>
          </a:bodyPr>
          <a:lstStyle/>
          <a:p>
            <a:pPr>
              <a:spcAft>
                <a:spcPts val="500"/>
              </a:spcAft>
              <a:defRPr sz="1500" b="1">
                <a:solidFill>
                  <a:srgbClr val="6945A3"/>
                </a:solidFill>
                <a:latin typeface="Lato"/>
              </a:defRPr>
            </a:pPr>
            <a:r>
              <a:t>Complaints need their own queue review and escalation owner.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OPERATIONAL CONTROLS</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Exceptions: what staff should do next</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Keep the customer record and next owner clear.</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28 / 30</a:t>
            </a:r>
          </a:p>
        </p:txBody>
      </p:sp>
      <p:graphicFrame>
        <p:nvGraphicFramePr>
          <p:cNvPr id="8" name="Table 7"/>
          <p:cNvGraphicFramePr>
            <a:graphicFrameLocks noGrp="1"/>
          </p:cNvGraphicFramePr>
          <p:nvPr/>
        </p:nvGraphicFramePr>
        <p:xfrm>
          <a:off x="548640" y="2258568"/>
          <a:ext cx="11082528" cy="3264408"/>
        </p:xfrm>
        <a:graphic>
          <a:graphicData uri="http://schemas.openxmlformats.org/drawingml/2006/table">
            <a:tbl>
              <a:tblPr firstRow="1" bandRow="1">
                <a:tableStyleId>{5C22544A-7EE6-4342-B048-85BDC9FD1C3A}</a:tableStyleId>
              </a:tblPr>
              <a:tblGrid>
                <a:gridCol w="3054096"/>
                <a:gridCol w="3685032"/>
                <a:gridCol w="4343400"/>
              </a:tblGrid>
              <a:tr h="544068">
                <a:tc>
                  <a:txBody>
                    <a:bodyPr/>
                    <a:lstStyle/>
                    <a:p>
                      <a:pPr>
                        <a:defRPr sz="1600" b="1">
                          <a:solidFill>
                            <a:srgbClr val="FFFFFF"/>
                          </a:solidFill>
                          <a:latin typeface="Lato"/>
                        </a:defRPr>
                      </a:pPr>
                      <a:r>
                        <a:t>Exception</a:t>
                      </a:r>
                    </a:p>
                  </a:txBody>
                  <a:tcPr anchor="ctr" marL="128016" marR="91440" marT="50292" marB="41148">
                    <a:solidFill>
                      <a:srgbClr val="2D1B38"/>
                    </a:solidFill>
                  </a:tcPr>
                </a:tc>
                <a:tc>
                  <a:txBody>
                    <a:bodyPr/>
                    <a:lstStyle/>
                    <a:p>
                      <a:pPr>
                        <a:defRPr sz="1600" b="1">
                          <a:solidFill>
                            <a:srgbClr val="FFFFFF"/>
                          </a:solidFill>
                          <a:latin typeface="Lato"/>
                        </a:defRPr>
                      </a:pPr>
                      <a:r>
                        <a:t>Current handling</a:t>
                      </a:r>
                    </a:p>
                  </a:txBody>
                  <a:tcPr anchor="ctr" marL="128016" marR="91440" marT="50292" marB="41148">
                    <a:solidFill>
                      <a:srgbClr val="2D1B38"/>
                    </a:solidFill>
                  </a:tcPr>
                </a:tc>
                <a:tc>
                  <a:txBody>
                    <a:bodyPr/>
                    <a:lstStyle/>
                    <a:p>
                      <a:pPr>
                        <a:defRPr sz="1600" b="1">
                          <a:solidFill>
                            <a:srgbClr val="FFFFFF"/>
                          </a:solidFill>
                          <a:latin typeface="Lato"/>
                        </a:defRPr>
                      </a:pPr>
                      <a:r>
                        <a:t>Operator action</a:t>
                      </a:r>
                    </a:p>
                  </a:txBody>
                  <a:tcPr anchor="ctr" marL="128016" marR="91440" marT="50292" marB="41148">
                    <a:solidFill>
                      <a:srgbClr val="2D1B38"/>
                    </a:solidFill>
                  </a:tcPr>
                </a:tc>
              </a:tr>
              <a:tr h="544068">
                <a:tc>
                  <a:txBody>
                    <a:bodyPr/>
                    <a:lstStyle/>
                    <a:p>
                      <a:pPr>
                        <a:defRPr sz="1600" b="1">
                          <a:solidFill>
                            <a:srgbClr val="2D1B38"/>
                          </a:solidFill>
                          <a:latin typeface="Lato"/>
                        </a:defRPr>
                      </a:pPr>
                      <a:r>
                        <a:t>No matching active PS</a:t>
                      </a:r>
                    </a:p>
                  </a:txBody>
                  <a:tcPr anchor="ctr" marL="128016" marR="91440" marT="50292" marB="41148">
                    <a:solidFill>
                      <a:srgbClr val="FFFFFF"/>
                    </a:solidFill>
                  </a:tcPr>
                </a:tc>
                <a:tc>
                  <a:txBody>
                    <a:bodyPr/>
                    <a:lstStyle/>
                    <a:p>
                      <a:pPr>
                        <a:defRPr sz="1600" b="0">
                          <a:solidFill>
                            <a:srgbClr val="2D1B38"/>
                          </a:solidFill>
                          <a:latin typeface="Lato"/>
                        </a:defRPr>
                      </a:pPr>
                      <a:r>
                        <a:t>Qualification cannot complete</a:t>
                      </a:r>
                    </a:p>
                  </a:txBody>
                  <a:tcPr anchor="ctr" marL="128016" marR="91440" marT="50292" marB="41148">
                    <a:solidFill>
                      <a:srgbClr val="FFFFFF"/>
                    </a:solidFill>
                  </a:tcPr>
                </a:tc>
                <a:tc>
                  <a:txBody>
                    <a:bodyPr/>
                    <a:lstStyle/>
                    <a:p>
                      <a:pPr>
                        <a:defRPr sz="1600" b="0">
                          <a:solidFill>
                            <a:srgbClr val="2D1B38"/>
                          </a:solidFill>
                          <a:latin typeface="Lato"/>
                        </a:defRPr>
                      </a:pPr>
                      <a:r>
                        <a:t>Admin checks branch and staffing</a:t>
                      </a:r>
                    </a:p>
                  </a:txBody>
                  <a:tcPr anchor="ctr" marL="128016" marR="91440" marT="50292" marB="41148">
                    <a:solidFill>
                      <a:srgbClr val="FFFFFF"/>
                    </a:solidFill>
                  </a:tcPr>
                </a:tc>
              </a:tr>
              <a:tr h="544068">
                <a:tc>
                  <a:txBody>
                    <a:bodyPr/>
                    <a:lstStyle/>
                    <a:p>
                      <a:pPr>
                        <a:defRPr sz="1600" b="1">
                          <a:solidFill>
                            <a:srgbClr val="2D1B38"/>
                          </a:solidFill>
                          <a:latin typeface="Lato"/>
                        </a:defRPr>
                      </a:pPr>
                      <a:r>
                        <a:t>Already assigned / conflicting save</a:t>
                      </a:r>
                    </a:p>
                  </a:txBody>
                  <a:tcPr anchor="ctr" marL="128016" marR="91440" marT="50292" marB="41148">
                    <a:solidFill>
                      <a:srgbClr val="E8DDF4"/>
                    </a:solidFill>
                  </a:tcPr>
                </a:tc>
                <a:tc>
                  <a:txBody>
                    <a:bodyPr/>
                    <a:lstStyle/>
                    <a:p>
                      <a:pPr>
                        <a:defRPr sz="1600" b="0">
                          <a:solidFill>
                            <a:srgbClr val="2D1B38"/>
                          </a:solidFill>
                          <a:latin typeface="Lato"/>
                        </a:defRPr>
                      </a:pPr>
                      <a:r>
                        <a:t>Dedicated action rejects conflict</a:t>
                      </a:r>
                    </a:p>
                  </a:txBody>
                  <a:tcPr anchor="ctr" marL="128016" marR="91440" marT="50292" marB="41148">
                    <a:solidFill>
                      <a:srgbClr val="E8DDF4"/>
                    </a:solidFill>
                  </a:tcPr>
                </a:tc>
                <a:tc>
                  <a:txBody>
                    <a:bodyPr/>
                    <a:lstStyle/>
                    <a:p>
                      <a:pPr>
                        <a:defRPr sz="1600" b="0">
                          <a:solidFill>
                            <a:srgbClr val="2D1B38"/>
                          </a:solidFill>
                          <a:latin typeface="Lato"/>
                        </a:defRPr>
                      </a:pPr>
                      <a:r>
                        <a:t>Refresh; read owner and history</a:t>
                      </a:r>
                    </a:p>
                  </a:txBody>
                  <a:tcPr anchor="ctr" marL="128016" marR="91440" marT="50292" marB="41148">
                    <a:solidFill>
                      <a:srgbClr val="E8DDF4"/>
                    </a:solidFill>
                  </a:tcPr>
                </a:tc>
              </a:tr>
              <a:tr h="544068">
                <a:tc>
                  <a:txBody>
                    <a:bodyPr/>
                    <a:lstStyle/>
                    <a:p>
                      <a:pPr>
                        <a:defRPr sz="1600" b="1">
                          <a:solidFill>
                            <a:srgbClr val="2D1B38"/>
                          </a:solidFill>
                          <a:latin typeface="Lato"/>
                        </a:defRPr>
                      </a:pPr>
                      <a:r>
                        <a:t>Invalid follow-up date</a:t>
                      </a:r>
                    </a:p>
                  </a:txBody>
                  <a:tcPr anchor="ctr" marL="128016" marR="91440" marT="50292" marB="41148">
                    <a:solidFill>
                      <a:srgbClr val="FFFFFF"/>
                    </a:solidFill>
                  </a:tcPr>
                </a:tc>
                <a:tc>
                  <a:txBody>
                    <a:bodyPr/>
                    <a:lstStyle/>
                    <a:p>
                      <a:pPr>
                        <a:defRPr sz="1600" b="0">
                          <a:solidFill>
                            <a:srgbClr val="2D1B38"/>
                          </a:solidFill>
                          <a:latin typeface="Lato"/>
                        </a:defRPr>
                      </a:pPr>
                      <a:r>
                        <a:t>Save rejected</a:t>
                      </a:r>
                    </a:p>
                  </a:txBody>
                  <a:tcPr anchor="ctr" marL="128016" marR="91440" marT="50292" marB="41148">
                    <a:solidFill>
                      <a:srgbClr val="FFFFFF"/>
                    </a:solidFill>
                  </a:tcPr>
                </a:tc>
                <a:tc>
                  <a:txBody>
                    <a:bodyPr/>
                    <a:lstStyle/>
                    <a:p>
                      <a:pPr>
                        <a:defRPr sz="1600" b="0">
                          <a:solidFill>
                            <a:srgbClr val="2D1B38"/>
                          </a:solidFill>
                          <a:latin typeface="Lato"/>
                        </a:defRPr>
                      </a:pPr>
                      <a:r>
                        <a:t>Use today / tomorrow within limit</a:t>
                      </a:r>
                    </a:p>
                  </a:txBody>
                  <a:tcPr anchor="ctr" marL="128016" marR="91440" marT="50292" marB="41148">
                    <a:solidFill>
                      <a:srgbClr val="FFFFFF"/>
                    </a:solidFill>
                  </a:tcPr>
                </a:tc>
              </a:tr>
              <a:tr h="544068">
                <a:tc>
                  <a:txBody>
                    <a:bodyPr/>
                    <a:lstStyle/>
                    <a:p>
                      <a:pPr>
                        <a:defRPr sz="1600" b="1">
                          <a:solidFill>
                            <a:srgbClr val="2D1B38"/>
                          </a:solidFill>
                          <a:latin typeface="Lato"/>
                        </a:defRPr>
                      </a:pPr>
                      <a:r>
                        <a:t>SM cannot see the lead</a:t>
                      </a:r>
                    </a:p>
                  </a:txBody>
                  <a:tcPr anchor="ctr" marL="128016" marR="91440" marT="50292" marB="41148">
                    <a:solidFill>
                      <a:srgbClr val="E8DDF4"/>
                    </a:solidFill>
                  </a:tcPr>
                </a:tc>
                <a:tc>
                  <a:txBody>
                    <a:bodyPr/>
                    <a:lstStyle/>
                    <a:p>
                      <a:pPr>
                        <a:defRPr sz="1600" b="0">
                          <a:solidFill>
                            <a:srgbClr val="2D1B38"/>
                          </a:solidFill>
                          <a:latin typeface="Lato"/>
                        </a:defRPr>
                      </a:pPr>
                      <a:r>
                        <a:t>Branch or dates may exclude it</a:t>
                      </a:r>
                    </a:p>
                  </a:txBody>
                  <a:tcPr anchor="ctr" marL="128016" marR="91440" marT="50292" marB="41148">
                    <a:solidFill>
                      <a:srgbClr val="E8DDF4"/>
                    </a:solidFill>
                  </a:tcPr>
                </a:tc>
                <a:tc>
                  <a:txBody>
                    <a:bodyPr/>
                    <a:lstStyle/>
                    <a:p>
                      <a:pPr>
                        <a:defRPr sz="1600" b="0">
                          <a:solidFill>
                            <a:srgbClr val="2D1B38"/>
                          </a:solidFill>
                          <a:latin typeface="Lato"/>
                        </a:defRPr>
                      </a:pPr>
                      <a:r>
                        <a:t>Check branch, enquiry date, filters</a:t>
                      </a:r>
                    </a:p>
                  </a:txBody>
                  <a:tcPr anchor="ctr" marL="128016" marR="91440" marT="50292" marB="41148">
                    <a:solidFill>
                      <a:srgbClr val="E8DDF4"/>
                    </a:solidFill>
                  </a:tcPr>
                </a:tc>
              </a:tr>
              <a:tr h="544068">
                <a:tc>
                  <a:txBody>
                    <a:bodyPr/>
                    <a:lstStyle/>
                    <a:p>
                      <a:pPr>
                        <a:defRPr sz="1600" b="1">
                          <a:solidFill>
                            <a:srgbClr val="2D1B38"/>
                          </a:solidFill>
                          <a:latin typeface="Lato"/>
                        </a:defRPr>
                      </a:pPr>
                      <a:r>
                        <a:t>Reminder not visible</a:t>
                      </a:r>
                    </a:p>
                  </a:txBody>
                  <a:tcPr anchor="ctr" marL="128016" marR="91440" marT="50292" marB="41148">
                    <a:solidFill>
                      <a:srgbClr val="FFFFFF"/>
                    </a:solidFill>
                  </a:tcPr>
                </a:tc>
                <a:tc>
                  <a:txBody>
                    <a:bodyPr/>
                    <a:lstStyle/>
                    <a:p>
                      <a:pPr>
                        <a:defRPr sz="1600" b="0">
                          <a:solidFill>
                            <a:srgbClr val="2D1B38"/>
                          </a:solidFill>
                          <a:latin typeface="Lato"/>
                        </a:defRPr>
                      </a:pPr>
                      <a:r>
                        <a:t>Live delivery needs verification</a:t>
                      </a:r>
                    </a:p>
                  </a:txBody>
                  <a:tcPr anchor="ctr" marL="128016" marR="91440" marT="50292" marB="41148">
                    <a:solidFill>
                      <a:srgbClr val="FFFFFF"/>
                    </a:solidFill>
                  </a:tcPr>
                </a:tc>
                <a:tc>
                  <a:txBody>
                    <a:bodyPr/>
                    <a:lstStyle/>
                    <a:p>
                      <a:pPr>
                        <a:defRPr sz="1600" b="0">
                          <a:solidFill>
                            <a:srgbClr val="2D1B38"/>
                          </a:solidFill>
                          <a:latin typeface="Lato"/>
                        </a:defRPr>
                      </a:pPr>
                      <a:r>
                        <a:t>Use due queues; confirm scheduler</a:t>
                      </a:r>
                    </a:p>
                  </a:txBody>
                  <a:tcPr anchor="ctr" marL="128016" marR="91440" marT="50292" marB="41148">
                    <a:solidFill>
                      <a:srgbClr val="FFFFFF"/>
                    </a:solidFill>
                  </a:tcPr>
                </a:tc>
              </a:tr>
            </a:tbl>
          </a:graphicData>
        </a:graphic>
      </p:graphicFrame>
      <p:cxnSp>
        <p:nvCxnSpPr>
          <p:cNvPr id="9" name="Connector 8"/>
          <p:cNvCxnSpPr/>
          <p:nvPr/>
        </p:nvCxnSpPr>
        <p:spPr>
          <a:xfrm>
            <a:off x="576072" y="5888736"/>
            <a:ext cx="329184" cy="0"/>
          </a:xfrm>
          <a:prstGeom prst="line">
            <a:avLst/>
          </a:prstGeom>
          <a:ln w="38100">
            <a:solidFill>
              <a:srgbClr val="B65F2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60704" y="5724144"/>
            <a:ext cx="10332720" cy="448056"/>
          </a:xfrm>
          <a:prstGeom prst="rect">
            <a:avLst/>
          </a:prstGeom>
          <a:noFill/>
        </p:spPr>
        <p:txBody>
          <a:bodyPr wrap="square" lIns="0" rIns="0" tIns="0" bIns="0">
            <a:spAutoFit/>
          </a:bodyPr>
          <a:lstStyle/>
          <a:p>
            <a:pPr>
              <a:spcAft>
                <a:spcPts val="500"/>
              </a:spcAft>
              <a:defRPr sz="1500" b="1">
                <a:solidFill>
                  <a:srgbClr val="B65F20"/>
                </a:solidFill>
                <a:latin typeface="Lato"/>
              </a:defRPr>
            </a:pPr>
            <a:r>
              <a:t>Reopen and escalation flags lack a complete visible workflow; verify before promising them.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0F7"/>
        </a:solidFill>
        <a:effectLst/>
      </p:bgPr>
    </p:bg>
    <p:spTree>
      <p:nvGrpSpPr>
        <p:cNvPr id="1" name=""/>
        <p:cNvGrpSpPr/>
        <p:nvPr/>
      </p:nvGrpSpPr>
      <p:grpSpPr/>
      <p:sp>
        <p:nvSpPr>
          <p:cNvPr id="2" name="TextBox 1"/>
          <p:cNvSpPr txBox="1"/>
          <p:nvPr/>
        </p:nvSpPr>
        <p:spPr>
          <a:xfrm>
            <a:off x="548640" y="310896"/>
            <a:ext cx="9144000" cy="210312"/>
          </a:xfrm>
          <a:prstGeom prst="rect">
            <a:avLst/>
          </a:prstGeom>
          <a:noFill/>
        </p:spPr>
        <p:txBody>
          <a:bodyPr wrap="square" lIns="0" rIns="0" tIns="0" bIns="0">
            <a:spAutoFit/>
          </a:bodyPr>
          <a:lstStyle/>
          <a:p>
            <a:pPr>
              <a:spcAft>
                <a:spcPts val="500"/>
              </a:spcAft>
              <a:defRPr sz="1100" b="1">
                <a:solidFill>
                  <a:srgbClr val="6945A3"/>
                </a:solidFill>
                <a:latin typeface="Lato"/>
              </a:defRPr>
            </a:pPr>
            <a:r>
              <a:t>OPERATIONAL CONTINUITY</a:t>
            </a:r>
          </a:p>
        </p:txBody>
      </p:sp>
      <p:sp>
        <p:nvSpPr>
          <p:cNvPr id="3" name="TextBox 2"/>
          <p:cNvSpPr txBox="1"/>
          <p:nvPr/>
        </p:nvSpPr>
        <p:spPr>
          <a:xfrm>
            <a:off x="548640" y="804672"/>
            <a:ext cx="11064240" cy="640080"/>
          </a:xfrm>
          <a:prstGeom prst="rect">
            <a:avLst/>
          </a:prstGeom>
          <a:noFill/>
        </p:spPr>
        <p:txBody>
          <a:bodyPr wrap="square" lIns="0" rIns="0" tIns="0" bIns="0">
            <a:spAutoFit/>
          </a:bodyPr>
          <a:lstStyle/>
          <a:p>
            <a:pPr>
              <a:spcAft>
                <a:spcPts val="500"/>
              </a:spcAft>
              <a:defRPr sz="3100" b="1">
                <a:solidFill>
                  <a:srgbClr val="2D1B38"/>
                </a:solidFill>
                <a:latin typeface="Lato"/>
              </a:defRPr>
            </a:pPr>
            <a:r>
              <a:t>Staff changes need two handovers</a:t>
            </a:r>
          </a:p>
        </p:txBody>
      </p:sp>
      <p:sp>
        <p:nvSpPr>
          <p:cNvPr id="4" name="TextBox 3"/>
          <p:cNvSpPr txBox="1"/>
          <p:nvPr/>
        </p:nvSpPr>
        <p:spPr>
          <a:xfrm>
            <a:off x="566928" y="1536192"/>
            <a:ext cx="10972800" cy="438912"/>
          </a:xfrm>
          <a:prstGeom prst="rect">
            <a:avLst/>
          </a:prstGeom>
          <a:noFill/>
        </p:spPr>
        <p:txBody>
          <a:bodyPr wrap="square" lIns="0" rIns="0" tIns="0" bIns="0">
            <a:spAutoFit/>
          </a:bodyPr>
          <a:lstStyle/>
          <a:p>
            <a:pPr>
              <a:spcAft>
                <a:spcPts val="500"/>
              </a:spcAft>
              <a:defRPr sz="1700" b="0">
                <a:solidFill>
                  <a:srgbClr val="776B80"/>
                </a:solidFill>
                <a:latin typeface="Lato"/>
              </a:defRPr>
            </a:pPr>
            <a:r>
              <a:t>Dedicated lifecycle flow for CRE and PS/SO.</a:t>
            </a:r>
          </a:p>
        </p:txBody>
      </p:sp>
      <p:cxnSp>
        <p:nvCxnSpPr>
          <p:cNvPr id="5" name="Connector 4"/>
          <p:cNvCxnSpPr/>
          <p:nvPr/>
        </p:nvCxnSpPr>
        <p:spPr>
          <a:xfrm>
            <a:off x="548640" y="6345936"/>
            <a:ext cx="11082528" cy="0"/>
          </a:xfrm>
          <a:prstGeom prst="line">
            <a:avLst/>
          </a:prstGeom>
          <a:ln w="12700">
            <a:solidFill>
              <a:srgbClr val="DDD4E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776B80"/>
                </a:solidFill>
                <a:latin typeface="Lato"/>
              </a:defRPr>
            </a:pPr>
            <a:r>
              <a:t>INCHEON MOBILITY  /  OPERATIONS DEMO</a:t>
            </a:r>
          </a:p>
        </p:txBody>
      </p:sp>
      <p:sp>
        <p:nvSpPr>
          <p:cNvPr id="7" name="TextBox 6"/>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6945A3"/>
                </a:solidFill>
                <a:latin typeface="Lato"/>
              </a:defRPr>
            </a:pPr>
            <a:r>
              <a:t>29 / 30</a:t>
            </a:r>
          </a:p>
        </p:txBody>
      </p:sp>
      <p:sp>
        <p:nvSpPr>
          <p:cNvPr id="8" name="Rounded Rectangle 7"/>
          <p:cNvSpPr/>
          <p:nvPr/>
        </p:nvSpPr>
        <p:spPr>
          <a:xfrm>
            <a:off x="667512" y="2286000"/>
            <a:ext cx="3099816" cy="822960"/>
          </a:xfrm>
          <a:prstGeom prst="roundRect">
            <a:avLst/>
          </a:prstGeom>
          <a:solidFill>
            <a:srgbClr val="FFFFFF"/>
          </a:solidFill>
          <a:ln w="15240">
            <a:solidFill>
              <a:srgbClr val="DD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59" y="2468879"/>
            <a:ext cx="109728" cy="109728"/>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2395728"/>
            <a:ext cx="2596896" cy="301752"/>
          </a:xfrm>
          <a:prstGeom prst="rect">
            <a:avLst/>
          </a:prstGeom>
          <a:noFill/>
        </p:spPr>
        <p:txBody>
          <a:bodyPr wrap="square" lIns="0" rIns="0" tIns="0" bIns="0">
            <a:spAutoFit/>
          </a:bodyPr>
          <a:lstStyle/>
          <a:p>
            <a:pPr>
              <a:spcAft>
                <a:spcPts val="500"/>
              </a:spcAft>
              <a:defRPr sz="1800" b="1">
                <a:solidFill>
                  <a:srgbClr val="6945A3"/>
                </a:solidFill>
                <a:latin typeface="Lato"/>
              </a:defRPr>
            </a:pPr>
            <a:r>
              <a:t>Preview impact</a:t>
            </a:r>
          </a:p>
        </p:txBody>
      </p:sp>
      <p:sp>
        <p:nvSpPr>
          <p:cNvPr id="11" name="TextBox 10"/>
          <p:cNvSpPr txBox="1"/>
          <p:nvPr/>
        </p:nvSpPr>
        <p:spPr>
          <a:xfrm>
            <a:off x="822960" y="2770632"/>
            <a:ext cx="2788920" cy="338328"/>
          </a:xfrm>
          <a:prstGeom prst="rect">
            <a:avLst/>
          </a:prstGeom>
          <a:noFill/>
        </p:spPr>
        <p:txBody>
          <a:bodyPr wrap="square" lIns="0" rIns="0" tIns="0" bIns="0">
            <a:spAutoFit/>
          </a:bodyPr>
          <a:lstStyle/>
          <a:p>
            <a:pPr algn="ctr">
              <a:spcAft>
                <a:spcPts val="500"/>
              </a:spcAft>
              <a:defRPr sz="1400" b="0">
                <a:solidFill>
                  <a:srgbClr val="776B80"/>
                </a:solidFill>
                <a:latin typeface="Lato"/>
              </a:defRPr>
            </a:pPr>
            <a:r>
              <a:t>Active / closed work</a:t>
            </a:r>
          </a:p>
        </p:txBody>
      </p:sp>
      <p:sp>
        <p:nvSpPr>
          <p:cNvPr id="12" name="Rounded Rectangle 11"/>
          <p:cNvSpPr/>
          <p:nvPr/>
        </p:nvSpPr>
        <p:spPr>
          <a:xfrm>
            <a:off x="4553712" y="2286000"/>
            <a:ext cx="3099816" cy="822960"/>
          </a:xfrm>
          <a:prstGeom prst="roundRect">
            <a:avLst/>
          </a:prstGeom>
          <a:solidFill>
            <a:srgbClr val="FFFFFF"/>
          </a:solidFill>
          <a:ln w="15240">
            <a:solidFill>
              <a:srgbClr val="DD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9160" y="2468879"/>
            <a:ext cx="109728" cy="109728"/>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19472" y="2395728"/>
            <a:ext cx="2596896" cy="301752"/>
          </a:xfrm>
          <a:prstGeom prst="rect">
            <a:avLst/>
          </a:prstGeom>
          <a:noFill/>
        </p:spPr>
        <p:txBody>
          <a:bodyPr wrap="square" lIns="0" rIns="0" tIns="0" bIns="0">
            <a:spAutoFit/>
          </a:bodyPr>
          <a:lstStyle/>
          <a:p>
            <a:pPr>
              <a:spcAft>
                <a:spcPts val="500"/>
              </a:spcAft>
              <a:defRPr sz="1800" b="1">
                <a:solidFill>
                  <a:srgbClr val="6945A3"/>
                </a:solidFill>
                <a:latin typeface="Lato"/>
              </a:defRPr>
            </a:pPr>
            <a:r>
              <a:t>Choose routes</a:t>
            </a:r>
          </a:p>
        </p:txBody>
      </p:sp>
      <p:sp>
        <p:nvSpPr>
          <p:cNvPr id="15" name="TextBox 14"/>
          <p:cNvSpPr txBox="1"/>
          <p:nvPr/>
        </p:nvSpPr>
        <p:spPr>
          <a:xfrm>
            <a:off x="4709160" y="2770632"/>
            <a:ext cx="2788920" cy="338328"/>
          </a:xfrm>
          <a:prstGeom prst="rect">
            <a:avLst/>
          </a:prstGeom>
          <a:noFill/>
        </p:spPr>
        <p:txBody>
          <a:bodyPr wrap="square" lIns="0" rIns="0" tIns="0" bIns="0">
            <a:spAutoFit/>
          </a:bodyPr>
          <a:lstStyle/>
          <a:p>
            <a:pPr algn="ctr">
              <a:spcAft>
                <a:spcPts val="500"/>
              </a:spcAft>
              <a:defRPr sz="1400" b="0">
                <a:solidFill>
                  <a:srgbClr val="776B80"/>
                </a:solidFill>
                <a:latin typeface="Lato"/>
              </a:defRPr>
            </a:pPr>
            <a:r>
              <a:t>Pool or distribute by status</a:t>
            </a:r>
          </a:p>
        </p:txBody>
      </p:sp>
      <p:sp>
        <p:nvSpPr>
          <p:cNvPr id="16" name="Rounded Rectangle 15"/>
          <p:cNvSpPr/>
          <p:nvPr/>
        </p:nvSpPr>
        <p:spPr>
          <a:xfrm>
            <a:off x="8439912" y="2286000"/>
            <a:ext cx="3099816" cy="822960"/>
          </a:xfrm>
          <a:prstGeom prst="roundRect">
            <a:avLst/>
          </a:prstGeom>
          <a:solidFill>
            <a:srgbClr val="FFFFFF"/>
          </a:solidFill>
          <a:ln w="15240">
            <a:solidFill>
              <a:srgbClr val="DD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595360" y="2468879"/>
            <a:ext cx="109728" cy="109728"/>
          </a:xfrm>
          <a:prstGeom prst="ellipse">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05672" y="2395728"/>
            <a:ext cx="2596896" cy="301752"/>
          </a:xfrm>
          <a:prstGeom prst="rect">
            <a:avLst/>
          </a:prstGeom>
          <a:noFill/>
        </p:spPr>
        <p:txBody>
          <a:bodyPr wrap="square" lIns="0" rIns="0" tIns="0" bIns="0">
            <a:spAutoFit/>
          </a:bodyPr>
          <a:lstStyle/>
          <a:p>
            <a:pPr>
              <a:spcAft>
                <a:spcPts val="500"/>
              </a:spcAft>
              <a:defRPr sz="1800" b="1">
                <a:solidFill>
                  <a:srgbClr val="6945A3"/>
                </a:solidFill>
                <a:latin typeface="Lato"/>
              </a:defRPr>
            </a:pPr>
            <a:r>
              <a:t>Disable / delete</a:t>
            </a:r>
          </a:p>
        </p:txBody>
      </p:sp>
      <p:sp>
        <p:nvSpPr>
          <p:cNvPr id="19" name="TextBox 18"/>
          <p:cNvSpPr txBox="1"/>
          <p:nvPr/>
        </p:nvSpPr>
        <p:spPr>
          <a:xfrm>
            <a:off x="8595360" y="2770632"/>
            <a:ext cx="2788920" cy="338328"/>
          </a:xfrm>
          <a:prstGeom prst="rect">
            <a:avLst/>
          </a:prstGeom>
          <a:noFill/>
        </p:spPr>
        <p:txBody>
          <a:bodyPr wrap="square" lIns="0" rIns="0" tIns="0" bIns="0">
            <a:spAutoFit/>
          </a:bodyPr>
          <a:lstStyle/>
          <a:p>
            <a:pPr algn="ctr">
              <a:spcAft>
                <a:spcPts val="500"/>
              </a:spcAft>
              <a:defRPr sz="1400" b="0">
                <a:solidFill>
                  <a:srgbClr val="776B80"/>
                </a:solidFill>
                <a:latin typeface="Lato"/>
              </a:defRPr>
            </a:pPr>
            <a:r>
              <a:t>Keep historical attribution</a:t>
            </a:r>
          </a:p>
        </p:txBody>
      </p:sp>
      <p:sp>
        <p:nvSpPr>
          <p:cNvPr id="20" name="Chevron 19"/>
          <p:cNvSpPr/>
          <p:nvPr/>
        </p:nvSpPr>
        <p:spPr>
          <a:xfrm>
            <a:off x="3968496" y="2606040"/>
            <a:ext cx="274320" cy="201168"/>
          </a:xfrm>
          <a:prstGeom prst="chevron">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hevron 20"/>
          <p:cNvSpPr/>
          <p:nvPr/>
        </p:nvSpPr>
        <p:spPr>
          <a:xfrm>
            <a:off x="7854696" y="2606040"/>
            <a:ext cx="274320" cy="201168"/>
          </a:xfrm>
          <a:prstGeom prst="chevron">
            <a:avLst/>
          </a:prstGeom>
          <a:solidFill>
            <a:srgbClr val="694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6099048" y="3136392"/>
            <a:ext cx="0" cy="393192"/>
          </a:xfrm>
          <a:prstGeom prst="line">
            <a:avLst/>
          </a:prstGeom>
          <a:ln w="381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182112" y="3529584"/>
            <a:ext cx="5843016" cy="0"/>
          </a:xfrm>
          <a:prstGeom prst="line">
            <a:avLst/>
          </a:prstGeom>
          <a:ln w="381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191256" y="3529584"/>
            <a:ext cx="0" cy="265176"/>
          </a:xfrm>
          <a:prstGeom prst="line">
            <a:avLst/>
          </a:prstGeom>
          <a:ln w="38100">
            <a:solidFill>
              <a:srgbClr val="6945A3"/>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04088" y="3794760"/>
            <a:ext cx="4974336" cy="163677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81552" y="4036527"/>
            <a:ext cx="122895" cy="109728"/>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32322" y="4326209"/>
            <a:ext cx="122895" cy="109728"/>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230782" y="4326209"/>
            <a:ext cx="122895" cy="109728"/>
          </a:xfrm>
          <a:prstGeom prst="roundRect">
            <a:avLst/>
          </a:prstGeom>
          <a:noFill/>
          <a:ln w="15240">
            <a:solidFill>
              <a:srgbClr val="694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1143000" y="4146255"/>
            <a:ext cx="0" cy="87782"/>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93769" y="4234037"/>
            <a:ext cx="298461" cy="0"/>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93769" y="4234037"/>
            <a:ext cx="0" cy="92172"/>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292230" y="4234037"/>
            <a:ext cx="0" cy="92172"/>
          </a:xfrm>
          <a:prstGeom prst="line">
            <a:avLst/>
          </a:prstGeom>
          <a:ln w="25400">
            <a:solidFill>
              <a:srgbClr val="6945A3"/>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600200" y="4096512"/>
            <a:ext cx="3785615" cy="365760"/>
          </a:xfrm>
          <a:prstGeom prst="rect">
            <a:avLst/>
          </a:prstGeom>
          <a:noFill/>
        </p:spPr>
        <p:txBody>
          <a:bodyPr wrap="square" lIns="0" rIns="0" tIns="0" bIns="0">
            <a:spAutoFit/>
          </a:bodyPr>
          <a:lstStyle/>
          <a:p>
            <a:pPr>
              <a:spcAft>
                <a:spcPts val="500"/>
              </a:spcAft>
              <a:defRPr sz="1900" b="1">
                <a:solidFill>
                  <a:srgbClr val="6945A3"/>
                </a:solidFill>
                <a:latin typeface="Lato"/>
              </a:defRPr>
            </a:pPr>
            <a:r>
              <a:t>1 / LEAD OWNERSHIP</a:t>
            </a:r>
          </a:p>
        </p:txBody>
      </p:sp>
      <p:sp>
        <p:nvSpPr>
          <p:cNvPr id="34" name="TextBox 33"/>
          <p:cNvSpPr txBox="1"/>
          <p:nvPr/>
        </p:nvSpPr>
        <p:spPr>
          <a:xfrm>
            <a:off x="923544" y="4672584"/>
            <a:ext cx="4535424" cy="658368"/>
          </a:xfrm>
          <a:prstGeom prst="rect">
            <a:avLst/>
          </a:prstGeom>
          <a:noFill/>
        </p:spPr>
        <p:txBody>
          <a:bodyPr wrap="square" lIns="0" rIns="0" tIns="0" bIns="0">
            <a:spAutoFit/>
          </a:bodyPr>
          <a:lstStyle/>
          <a:p>
            <a:pPr>
              <a:spcAft>
                <a:spcPts val="500"/>
              </a:spcAft>
              <a:defRPr sz="1700" b="0">
                <a:solidFill>
                  <a:srgbClr val="776B80"/>
                </a:solidFill>
                <a:latin typeface="Lato"/>
              </a:defRPr>
            </a:pPr>
            <a:r>
              <a:t>Active replacements; PS branch must match.</a:t>
            </a:r>
          </a:p>
          <a:p>
            <a:pPr>
              <a:spcAft>
                <a:spcPts val="500"/>
              </a:spcAft>
              <a:defRPr sz="1700" b="0">
                <a:solidFill>
                  <a:srgbClr val="776B80"/>
                </a:solidFill>
                <a:latin typeface="Lato"/>
              </a:defRPr>
            </a:pPr>
            <a:r>
              <a:t>Unmatched work → Needs reassignment.</a:t>
            </a:r>
          </a:p>
        </p:txBody>
      </p:sp>
      <p:cxnSp>
        <p:nvCxnSpPr>
          <p:cNvPr id="35" name="Connector 34"/>
          <p:cNvCxnSpPr/>
          <p:nvPr/>
        </p:nvCxnSpPr>
        <p:spPr>
          <a:xfrm>
            <a:off x="9025128" y="3529584"/>
            <a:ext cx="0" cy="265176"/>
          </a:xfrm>
          <a:prstGeom prst="line">
            <a:avLst/>
          </a:prstGeom>
          <a:ln w="38100">
            <a:solidFill>
              <a:srgbClr val="B65F20"/>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537960" y="3794760"/>
            <a:ext cx="4974336" cy="163677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792528" y="4102364"/>
            <a:ext cx="368686" cy="324794"/>
          </a:xfrm>
          <a:prstGeom prst="roundRect">
            <a:avLst/>
          </a:prstGeom>
          <a:noFill/>
          <a:ln w="15240">
            <a:solidFill>
              <a:srgbClr val="B65F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6792528" y="4198924"/>
            <a:ext cx="368687" cy="0"/>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889089" y="4040916"/>
            <a:ext cx="0" cy="109728"/>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064654" y="4040916"/>
            <a:ext cx="0" cy="109728"/>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884700" y="4295485"/>
            <a:ext cx="61448" cy="61448"/>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6946148" y="4238426"/>
            <a:ext cx="136062" cy="118507"/>
          </a:xfrm>
          <a:prstGeom prst="line">
            <a:avLst/>
          </a:prstGeom>
          <a:ln w="25400">
            <a:solidFill>
              <a:srgbClr val="B65F2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434072" y="4096512"/>
            <a:ext cx="3785615" cy="365760"/>
          </a:xfrm>
          <a:prstGeom prst="rect">
            <a:avLst/>
          </a:prstGeom>
          <a:noFill/>
        </p:spPr>
        <p:txBody>
          <a:bodyPr wrap="square" lIns="0" rIns="0" tIns="0" bIns="0">
            <a:spAutoFit/>
          </a:bodyPr>
          <a:lstStyle/>
          <a:p>
            <a:pPr>
              <a:spcAft>
                <a:spcPts val="500"/>
              </a:spcAft>
              <a:defRPr sz="1900" b="1">
                <a:solidFill>
                  <a:srgbClr val="B65F20"/>
                </a:solidFill>
                <a:latin typeface="Lato"/>
              </a:defRPr>
            </a:pPr>
            <a:r>
              <a:t>2 / FOLLOW-UP REMINDERS</a:t>
            </a:r>
          </a:p>
        </p:txBody>
      </p:sp>
      <p:sp>
        <p:nvSpPr>
          <p:cNvPr id="44" name="TextBox 43"/>
          <p:cNvSpPr txBox="1"/>
          <p:nvPr/>
        </p:nvSpPr>
        <p:spPr>
          <a:xfrm>
            <a:off x="6757416" y="4672584"/>
            <a:ext cx="4535424" cy="658368"/>
          </a:xfrm>
          <a:prstGeom prst="rect">
            <a:avLst/>
          </a:prstGeom>
          <a:noFill/>
        </p:spPr>
        <p:txBody>
          <a:bodyPr wrap="square" lIns="0" rIns="0" tIns="0" bIns="0">
            <a:spAutoFit/>
          </a:bodyPr>
          <a:lstStyle/>
          <a:p>
            <a:pPr>
              <a:spcAft>
                <a:spcPts val="500"/>
              </a:spcAft>
              <a:defRPr sz="1700" b="0">
                <a:solidFill>
                  <a:srgbClr val="776B80"/>
                </a:solidFill>
                <a:latin typeface="Lato"/>
              </a:defRPr>
            </a:pPr>
            <a:r>
              <a:t>Hold inherited reminders.</a:t>
            </a:r>
          </a:p>
          <a:p>
            <a:pPr>
              <a:spcAft>
                <a:spcPts val="500"/>
              </a:spcAft>
              <a:defRPr sz="1700" b="0">
                <a:solidFill>
                  <a:srgbClr val="776B80"/>
                </a:solidFill>
                <a:latin typeface="Lato"/>
              </a:defRPr>
            </a:pPr>
            <a:r>
              <a:t>Admin approves, reschedules or resolves.</a:t>
            </a:r>
          </a:p>
        </p:txBody>
      </p:sp>
      <p:cxnSp>
        <p:nvCxnSpPr>
          <p:cNvPr id="45" name="Connector 44"/>
          <p:cNvCxnSpPr/>
          <p:nvPr/>
        </p:nvCxnSpPr>
        <p:spPr>
          <a:xfrm>
            <a:off x="576072" y="5888736"/>
            <a:ext cx="329184" cy="0"/>
          </a:xfrm>
          <a:prstGeom prst="line">
            <a:avLst/>
          </a:prstGeom>
          <a:ln w="38100">
            <a:solidFill>
              <a:srgbClr val="6945A3"/>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060704" y="5724144"/>
            <a:ext cx="10332720" cy="448056"/>
          </a:xfrm>
          <a:prstGeom prst="rect">
            <a:avLst/>
          </a:prstGeom>
          <a:noFill/>
        </p:spPr>
        <p:txBody>
          <a:bodyPr wrap="square" lIns="0" rIns="0" tIns="0" bIns="0">
            <a:spAutoFit/>
          </a:bodyPr>
          <a:lstStyle/>
          <a:p>
            <a:pPr>
              <a:spcAft>
                <a:spcPts val="500"/>
              </a:spcAft>
              <a:defRPr sz="1500" b="1">
                <a:solidFill>
                  <a:srgbClr val="6945A3"/>
                </a:solidFill>
                <a:latin typeface="Lato"/>
              </a:defRPr>
            </a:pPr>
            <a:r>
              <a:t>Re-enable does not return transferred leads. Deleted accounts cannot be re-enabled.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D1B38"/>
        </a:solidFill>
        <a:effectLst/>
      </p:bgPr>
    </p:bg>
    <p:spTree>
      <p:nvGrpSpPr>
        <p:cNvPr id="1" name=""/>
        <p:cNvGrpSpPr/>
        <p:nvPr/>
      </p:nvGrpSpPr>
      <p:grpSpPr/>
      <p:cxnSp>
        <p:nvCxnSpPr>
          <p:cNvPr id="2" name="Connector 1"/>
          <p:cNvCxnSpPr/>
          <p:nvPr/>
        </p:nvCxnSpPr>
        <p:spPr>
          <a:xfrm>
            <a:off x="548640" y="6345936"/>
            <a:ext cx="11082528" cy="0"/>
          </a:xfrm>
          <a:prstGeom prst="line">
            <a:avLst/>
          </a:prstGeom>
          <a:ln w="12700">
            <a:solidFill>
              <a:srgbClr val="402B50"/>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548640" y="6510528"/>
            <a:ext cx="7315200" cy="182880"/>
          </a:xfrm>
          <a:prstGeom prst="rect">
            <a:avLst/>
          </a:prstGeom>
          <a:noFill/>
        </p:spPr>
        <p:txBody>
          <a:bodyPr wrap="square" lIns="0" rIns="0" tIns="0" bIns="0">
            <a:spAutoFit/>
          </a:bodyPr>
          <a:lstStyle/>
          <a:p>
            <a:pPr>
              <a:spcAft>
                <a:spcPts val="500"/>
              </a:spcAft>
              <a:defRPr sz="900" b="0">
                <a:solidFill>
                  <a:srgbClr val="E8DDF4"/>
                </a:solidFill>
                <a:latin typeface="Lato"/>
              </a:defRPr>
            </a:pPr>
            <a:r>
              <a:t>INCHEON MOBILITY  /  OPERATIONS DEMO</a:t>
            </a:r>
          </a:p>
        </p:txBody>
      </p:sp>
      <p:sp>
        <p:nvSpPr>
          <p:cNvPr id="4" name="TextBox 3"/>
          <p:cNvSpPr txBox="1"/>
          <p:nvPr/>
        </p:nvSpPr>
        <p:spPr>
          <a:xfrm>
            <a:off x="10744200" y="6473952"/>
            <a:ext cx="868680" cy="246888"/>
          </a:xfrm>
          <a:prstGeom prst="rect">
            <a:avLst/>
          </a:prstGeom>
          <a:noFill/>
        </p:spPr>
        <p:txBody>
          <a:bodyPr wrap="square" lIns="0" rIns="0" tIns="0" bIns="0">
            <a:spAutoFit/>
          </a:bodyPr>
          <a:lstStyle/>
          <a:p>
            <a:pPr algn="ctr">
              <a:spcAft>
                <a:spcPts val="500"/>
              </a:spcAft>
              <a:defRPr sz="1200" b="1">
                <a:solidFill>
                  <a:srgbClr val="E8DDF4"/>
                </a:solidFill>
                <a:latin typeface="Lato"/>
              </a:defRPr>
            </a:pPr>
            <a:r>
              <a:t>30 / 30</a:t>
            </a:r>
          </a:p>
        </p:txBody>
      </p:sp>
      <p:sp>
        <p:nvSpPr>
          <p:cNvPr id="5" name="TextBox 4"/>
          <p:cNvSpPr txBox="1"/>
          <p:nvPr/>
        </p:nvSpPr>
        <p:spPr>
          <a:xfrm>
            <a:off x="585216" y="356616"/>
            <a:ext cx="10058400" cy="228600"/>
          </a:xfrm>
          <a:prstGeom prst="rect">
            <a:avLst/>
          </a:prstGeom>
          <a:noFill/>
        </p:spPr>
        <p:txBody>
          <a:bodyPr wrap="square" lIns="0" rIns="0" tIns="0" bIns="0">
            <a:spAutoFit/>
          </a:bodyPr>
          <a:lstStyle/>
          <a:p>
            <a:pPr>
              <a:spcAft>
                <a:spcPts val="500"/>
              </a:spcAft>
              <a:defRPr sz="1200" b="1">
                <a:solidFill>
                  <a:srgbClr val="E8DDF4"/>
                </a:solidFill>
                <a:latin typeface="Lato"/>
              </a:defRPr>
            </a:pPr>
            <a:r>
              <a:t>OPERATING DECISIONS</a:t>
            </a:r>
          </a:p>
        </p:txBody>
      </p:sp>
      <p:sp>
        <p:nvSpPr>
          <p:cNvPr id="6" name="TextBox 5"/>
          <p:cNvSpPr txBox="1"/>
          <p:nvPr/>
        </p:nvSpPr>
        <p:spPr>
          <a:xfrm>
            <a:off x="585216" y="960120"/>
            <a:ext cx="10881360" cy="685800"/>
          </a:xfrm>
          <a:prstGeom prst="rect">
            <a:avLst/>
          </a:prstGeom>
          <a:noFill/>
        </p:spPr>
        <p:txBody>
          <a:bodyPr wrap="square" lIns="0" rIns="0" tIns="0" bIns="0">
            <a:spAutoFit/>
          </a:bodyPr>
          <a:lstStyle/>
          <a:p>
            <a:pPr>
              <a:spcAft>
                <a:spcPts val="500"/>
              </a:spcAft>
              <a:defRPr sz="3600" b="1">
                <a:solidFill>
                  <a:srgbClr val="FFFFFF"/>
                </a:solidFill>
                <a:latin typeface="Lato"/>
              </a:defRPr>
            </a:pPr>
            <a:r>
              <a:t>Agree the rules for the pilot</a:t>
            </a:r>
          </a:p>
        </p:txBody>
      </p:sp>
      <p:sp>
        <p:nvSpPr>
          <p:cNvPr id="7" name="Rounded Rectangle 6"/>
          <p:cNvSpPr/>
          <p:nvPr/>
        </p:nvSpPr>
        <p:spPr>
          <a:xfrm>
            <a:off x="1468160" y="2406060"/>
            <a:ext cx="181782" cy="162306"/>
          </a:xfrm>
          <a:prstGeom prst="roundRect">
            <a:avLst/>
          </a:prstGeom>
          <a:noFill/>
          <a:ln w="15240">
            <a:solidFill>
              <a:srgbClr val="E8D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247424" y="2834548"/>
            <a:ext cx="181782" cy="162306"/>
          </a:xfrm>
          <a:prstGeom prst="roundRect">
            <a:avLst/>
          </a:prstGeom>
          <a:noFill/>
          <a:ln w="15240">
            <a:solidFill>
              <a:srgbClr val="E8D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688896" y="2834548"/>
            <a:ext cx="181782" cy="162306"/>
          </a:xfrm>
          <a:prstGeom prst="roundRect">
            <a:avLst/>
          </a:prstGeom>
          <a:noFill/>
          <a:ln w="15240">
            <a:solidFill>
              <a:srgbClr val="E8D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1559052" y="2568366"/>
            <a:ext cx="0" cy="129845"/>
          </a:xfrm>
          <a:prstGeom prst="line">
            <a:avLst/>
          </a:prstGeom>
          <a:ln w="25400">
            <a:solidFill>
              <a:srgbClr val="E8DDF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338315" y="2698211"/>
            <a:ext cx="441473" cy="0"/>
          </a:xfrm>
          <a:prstGeom prst="line">
            <a:avLst/>
          </a:prstGeom>
          <a:ln w="25400">
            <a:solidFill>
              <a:srgbClr val="E8DDF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338315" y="2698211"/>
            <a:ext cx="0" cy="136337"/>
          </a:xfrm>
          <a:prstGeom prst="line">
            <a:avLst/>
          </a:prstGeom>
          <a:ln w="25400">
            <a:solidFill>
              <a:srgbClr val="E8DDF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779788" y="2698211"/>
            <a:ext cx="0" cy="136337"/>
          </a:xfrm>
          <a:prstGeom prst="line">
            <a:avLst/>
          </a:prstGeom>
          <a:ln w="25400">
            <a:solidFill>
              <a:srgbClr val="E8DDF4"/>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0080" y="3538728"/>
            <a:ext cx="2084831" cy="493776"/>
          </a:xfrm>
          <a:prstGeom prst="rect">
            <a:avLst/>
          </a:prstGeom>
          <a:noFill/>
        </p:spPr>
        <p:txBody>
          <a:bodyPr wrap="square" lIns="0" rIns="0" tIns="0" bIns="0">
            <a:spAutoFit/>
          </a:bodyPr>
          <a:lstStyle/>
          <a:p>
            <a:pPr algn="ctr">
              <a:spcAft>
                <a:spcPts val="500"/>
              </a:spcAft>
              <a:defRPr sz="1800" b="1">
                <a:solidFill>
                  <a:srgbClr val="FFFFFF"/>
                </a:solidFill>
                <a:latin typeface="Lato"/>
              </a:defRPr>
            </a:pPr>
            <a:r>
              <a:t>ALLOCATION</a:t>
            </a:r>
          </a:p>
        </p:txBody>
      </p:sp>
      <p:sp>
        <p:nvSpPr>
          <p:cNvPr id="15" name="TextBox 14"/>
          <p:cNvSpPr txBox="1"/>
          <p:nvPr/>
        </p:nvSpPr>
        <p:spPr>
          <a:xfrm>
            <a:off x="640080" y="4288536"/>
            <a:ext cx="2084831" cy="813816"/>
          </a:xfrm>
          <a:prstGeom prst="rect">
            <a:avLst/>
          </a:prstGeom>
          <a:noFill/>
        </p:spPr>
        <p:txBody>
          <a:bodyPr wrap="square" lIns="0" rIns="0" tIns="0" bIns="0">
            <a:spAutoFit/>
          </a:bodyPr>
          <a:lstStyle/>
          <a:p>
            <a:pPr algn="ctr">
              <a:spcAft>
                <a:spcPts val="500"/>
              </a:spcAft>
              <a:defRPr sz="1900" b="0">
                <a:solidFill>
                  <a:srgbClr val="E8DDF4"/>
                </a:solidFill>
                <a:latin typeface="Lato"/>
              </a:defRPr>
            </a:pPr>
            <a:r>
              <a:t>Cadence + accountable Admin</a:t>
            </a:r>
          </a:p>
        </p:txBody>
      </p:sp>
      <p:cxnSp>
        <p:nvCxnSpPr>
          <p:cNvPr id="16" name="Connector 15"/>
          <p:cNvCxnSpPr/>
          <p:nvPr/>
        </p:nvCxnSpPr>
        <p:spPr>
          <a:xfrm flipH="1">
            <a:off x="3597158" y="2470983"/>
            <a:ext cx="58430" cy="136337"/>
          </a:xfrm>
          <a:prstGeom prst="line">
            <a:avLst/>
          </a:prstGeom>
          <a:ln w="25400">
            <a:solidFill>
              <a:srgbClr val="E8DDF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597158" y="2607320"/>
            <a:ext cx="123352" cy="201259"/>
          </a:xfrm>
          <a:prstGeom prst="line">
            <a:avLst/>
          </a:prstGeom>
          <a:ln w="25400">
            <a:solidFill>
              <a:srgbClr val="E8DDF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720510" y="2808579"/>
            <a:ext cx="240213" cy="175291"/>
          </a:xfrm>
          <a:prstGeom prst="line">
            <a:avLst/>
          </a:prstGeom>
          <a:ln w="25400">
            <a:solidFill>
              <a:srgbClr val="E8DDF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960723" y="2912455"/>
            <a:ext cx="149322" cy="71415"/>
          </a:xfrm>
          <a:prstGeom prst="line">
            <a:avLst/>
          </a:prstGeom>
          <a:ln w="25400">
            <a:solidFill>
              <a:srgbClr val="E8DDF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655588" y="2470983"/>
            <a:ext cx="136337" cy="129844"/>
          </a:xfrm>
          <a:prstGeom prst="line">
            <a:avLst/>
          </a:prstGeom>
          <a:ln w="25400">
            <a:solidFill>
              <a:srgbClr val="E8DDF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3720510" y="2600827"/>
            <a:ext cx="71415" cy="84400"/>
          </a:xfrm>
          <a:prstGeom prst="line">
            <a:avLst/>
          </a:prstGeom>
          <a:ln w="25400">
            <a:solidFill>
              <a:srgbClr val="E8DDF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895801" y="2782610"/>
            <a:ext cx="90891" cy="77907"/>
          </a:xfrm>
          <a:prstGeom prst="line">
            <a:avLst/>
          </a:prstGeom>
          <a:ln w="25400">
            <a:solidFill>
              <a:srgbClr val="E8DDF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986692" y="2782610"/>
            <a:ext cx="123353" cy="129845"/>
          </a:xfrm>
          <a:prstGeom prst="line">
            <a:avLst/>
          </a:prstGeom>
          <a:ln w="25400">
            <a:solidFill>
              <a:srgbClr val="E8DDF4"/>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944368" y="3538728"/>
            <a:ext cx="2084831" cy="493776"/>
          </a:xfrm>
          <a:prstGeom prst="rect">
            <a:avLst/>
          </a:prstGeom>
          <a:noFill/>
        </p:spPr>
        <p:txBody>
          <a:bodyPr wrap="square" lIns="0" rIns="0" tIns="0" bIns="0">
            <a:spAutoFit/>
          </a:bodyPr>
          <a:lstStyle/>
          <a:p>
            <a:pPr algn="ctr">
              <a:spcAft>
                <a:spcPts val="500"/>
              </a:spcAft>
              <a:defRPr sz="1800" b="1">
                <a:solidFill>
                  <a:srgbClr val="FFFFFF"/>
                </a:solidFill>
                <a:latin typeface="Lato"/>
              </a:defRPr>
            </a:pPr>
            <a:r>
              <a:t>NEXT CONTACT</a:t>
            </a:r>
          </a:p>
        </p:txBody>
      </p:sp>
      <p:sp>
        <p:nvSpPr>
          <p:cNvPr id="25" name="TextBox 24"/>
          <p:cNvSpPr txBox="1"/>
          <p:nvPr/>
        </p:nvSpPr>
        <p:spPr>
          <a:xfrm>
            <a:off x="2944368" y="4288536"/>
            <a:ext cx="2084831" cy="813816"/>
          </a:xfrm>
          <a:prstGeom prst="rect">
            <a:avLst/>
          </a:prstGeom>
          <a:noFill/>
        </p:spPr>
        <p:txBody>
          <a:bodyPr wrap="square" lIns="0" rIns="0" tIns="0" bIns="0">
            <a:spAutoFit/>
          </a:bodyPr>
          <a:lstStyle/>
          <a:p>
            <a:pPr algn="ctr">
              <a:spcAft>
                <a:spcPts val="500"/>
              </a:spcAft>
              <a:defRPr sz="1900" b="0">
                <a:solidFill>
                  <a:srgbClr val="E8DDF4"/>
                </a:solidFill>
                <a:latin typeface="Lato"/>
              </a:defRPr>
            </a:pPr>
            <a:r>
              <a:t>PS ownership after handoff</a:t>
            </a:r>
          </a:p>
        </p:txBody>
      </p:sp>
      <p:sp>
        <p:nvSpPr>
          <p:cNvPr id="26" name="Oval 25"/>
          <p:cNvSpPr/>
          <p:nvPr/>
        </p:nvSpPr>
        <p:spPr>
          <a:xfrm>
            <a:off x="5881969" y="2425537"/>
            <a:ext cx="571317" cy="571317"/>
          </a:xfrm>
          <a:prstGeom prst="ellipse">
            <a:avLst/>
          </a:prstGeom>
          <a:noFill/>
          <a:ln w="15240">
            <a:solidFill>
              <a:srgbClr val="E8D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6167628" y="2516428"/>
            <a:ext cx="0" cy="194768"/>
          </a:xfrm>
          <a:prstGeom prst="line">
            <a:avLst/>
          </a:prstGeom>
          <a:ln w="25400">
            <a:solidFill>
              <a:srgbClr val="E8DDF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167628" y="2711196"/>
            <a:ext cx="168798" cy="97383"/>
          </a:xfrm>
          <a:prstGeom prst="line">
            <a:avLst/>
          </a:prstGeom>
          <a:ln w="25400">
            <a:solidFill>
              <a:srgbClr val="E8DDF4"/>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248656" y="3538728"/>
            <a:ext cx="2084831" cy="493776"/>
          </a:xfrm>
          <a:prstGeom prst="rect">
            <a:avLst/>
          </a:prstGeom>
          <a:noFill/>
        </p:spPr>
        <p:txBody>
          <a:bodyPr wrap="square" lIns="0" rIns="0" tIns="0" bIns="0">
            <a:spAutoFit/>
          </a:bodyPr>
          <a:lstStyle/>
          <a:p>
            <a:pPr algn="ctr">
              <a:spcAft>
                <a:spcPts val="500"/>
              </a:spcAft>
              <a:defRPr sz="1800" b="1">
                <a:solidFill>
                  <a:srgbClr val="FFFFFF"/>
                </a:solidFill>
                <a:latin typeface="Lato"/>
              </a:defRPr>
            </a:pPr>
            <a:r>
              <a:t>RETRY POLICY</a:t>
            </a:r>
          </a:p>
        </p:txBody>
      </p:sp>
      <p:sp>
        <p:nvSpPr>
          <p:cNvPr id="30" name="TextBox 29"/>
          <p:cNvSpPr txBox="1"/>
          <p:nvPr/>
        </p:nvSpPr>
        <p:spPr>
          <a:xfrm>
            <a:off x="5248656" y="4288536"/>
            <a:ext cx="2084831" cy="813816"/>
          </a:xfrm>
          <a:prstGeom prst="rect">
            <a:avLst/>
          </a:prstGeom>
          <a:noFill/>
        </p:spPr>
        <p:txBody>
          <a:bodyPr wrap="square" lIns="0" rIns="0" tIns="0" bIns="0">
            <a:spAutoFit/>
          </a:bodyPr>
          <a:lstStyle/>
          <a:p>
            <a:pPr algn="ctr">
              <a:spcAft>
                <a:spcPts val="500"/>
              </a:spcAft>
              <a:defRPr sz="1900" b="0">
                <a:solidFill>
                  <a:srgbClr val="E8DDF4"/>
                </a:solidFill>
                <a:latin typeface="Lato"/>
              </a:defRPr>
            </a:pPr>
            <a:r>
              <a:t>Attempts + evidence for loss</a:t>
            </a:r>
          </a:p>
        </p:txBody>
      </p:sp>
      <p:sp>
        <p:nvSpPr>
          <p:cNvPr id="31" name="Rounded Rectangle 30"/>
          <p:cNvSpPr/>
          <p:nvPr/>
        </p:nvSpPr>
        <p:spPr>
          <a:xfrm>
            <a:off x="8192749" y="2516428"/>
            <a:ext cx="558332" cy="409011"/>
          </a:xfrm>
          <a:prstGeom prst="roundRect">
            <a:avLst/>
          </a:prstGeom>
          <a:noFill/>
          <a:ln w="15240">
            <a:solidFill>
              <a:srgbClr val="E8D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a:off x="8556315" y="2516428"/>
            <a:ext cx="0" cy="409011"/>
          </a:xfrm>
          <a:prstGeom prst="line">
            <a:avLst/>
          </a:prstGeom>
          <a:ln w="25400">
            <a:solidFill>
              <a:srgbClr val="E8DDF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277148" y="2639781"/>
            <a:ext cx="181783" cy="0"/>
          </a:xfrm>
          <a:prstGeom prst="line">
            <a:avLst/>
          </a:prstGeom>
          <a:ln w="25400">
            <a:solidFill>
              <a:srgbClr val="E8DDF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277148" y="2776118"/>
            <a:ext cx="181783" cy="0"/>
          </a:xfrm>
          <a:prstGeom prst="line">
            <a:avLst/>
          </a:prstGeom>
          <a:ln w="25400">
            <a:solidFill>
              <a:srgbClr val="E8DDF4"/>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552944" y="3538728"/>
            <a:ext cx="2084831" cy="493776"/>
          </a:xfrm>
          <a:prstGeom prst="rect">
            <a:avLst/>
          </a:prstGeom>
          <a:noFill/>
        </p:spPr>
        <p:txBody>
          <a:bodyPr wrap="square" lIns="0" rIns="0" tIns="0" bIns="0">
            <a:spAutoFit/>
          </a:bodyPr>
          <a:lstStyle/>
          <a:p>
            <a:pPr algn="ctr">
              <a:spcAft>
                <a:spcPts val="500"/>
              </a:spcAft>
              <a:defRPr sz="1800" b="1">
                <a:solidFill>
                  <a:srgbClr val="FFFFFF"/>
                </a:solidFill>
                <a:latin typeface="Lato"/>
              </a:defRPr>
            </a:pPr>
            <a:r>
              <a:t>COMPLAINTS</a:t>
            </a:r>
          </a:p>
        </p:txBody>
      </p:sp>
      <p:sp>
        <p:nvSpPr>
          <p:cNvPr id="36" name="TextBox 35"/>
          <p:cNvSpPr txBox="1"/>
          <p:nvPr/>
        </p:nvSpPr>
        <p:spPr>
          <a:xfrm>
            <a:off x="7552944" y="4288536"/>
            <a:ext cx="2084831" cy="813816"/>
          </a:xfrm>
          <a:prstGeom prst="rect">
            <a:avLst/>
          </a:prstGeom>
          <a:noFill/>
        </p:spPr>
        <p:txBody>
          <a:bodyPr wrap="square" lIns="0" rIns="0" tIns="0" bIns="0">
            <a:spAutoFit/>
          </a:bodyPr>
          <a:lstStyle/>
          <a:p>
            <a:pPr algn="ctr">
              <a:spcAft>
                <a:spcPts val="500"/>
              </a:spcAft>
              <a:defRPr sz="1900" b="0">
                <a:solidFill>
                  <a:srgbClr val="E8DDF4"/>
                </a:solidFill>
                <a:latin typeface="Lato"/>
              </a:defRPr>
            </a:pPr>
            <a:r>
              <a:t>Priority targets + escalation</a:t>
            </a:r>
          </a:p>
        </p:txBody>
      </p:sp>
      <p:cxnSp>
        <p:nvCxnSpPr>
          <p:cNvPr id="37" name="Connector 36"/>
          <p:cNvCxnSpPr/>
          <p:nvPr/>
        </p:nvCxnSpPr>
        <p:spPr>
          <a:xfrm>
            <a:off x="10503529" y="2419045"/>
            <a:ext cx="0" cy="564825"/>
          </a:xfrm>
          <a:prstGeom prst="line">
            <a:avLst/>
          </a:prstGeom>
          <a:ln w="25400">
            <a:solidFill>
              <a:srgbClr val="E8DDF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503529" y="2983870"/>
            <a:ext cx="584302" cy="0"/>
          </a:xfrm>
          <a:prstGeom prst="line">
            <a:avLst/>
          </a:prstGeom>
          <a:ln w="25400">
            <a:solidFill>
              <a:srgbClr val="E8DDF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10646359" y="2743657"/>
            <a:ext cx="0" cy="142829"/>
          </a:xfrm>
          <a:prstGeom prst="line">
            <a:avLst/>
          </a:prstGeom>
          <a:ln w="25400">
            <a:solidFill>
              <a:srgbClr val="E8DDF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10815157" y="2607320"/>
            <a:ext cx="0" cy="279166"/>
          </a:xfrm>
          <a:prstGeom prst="line">
            <a:avLst/>
          </a:prstGeom>
          <a:ln w="25400">
            <a:solidFill>
              <a:srgbClr val="E8DDF4"/>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0983955" y="2445014"/>
            <a:ext cx="0" cy="441472"/>
          </a:xfrm>
          <a:prstGeom prst="line">
            <a:avLst/>
          </a:prstGeom>
          <a:ln w="25400">
            <a:solidFill>
              <a:srgbClr val="E8DDF4"/>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9857232" y="3538728"/>
            <a:ext cx="2084831" cy="493776"/>
          </a:xfrm>
          <a:prstGeom prst="rect">
            <a:avLst/>
          </a:prstGeom>
          <a:noFill/>
        </p:spPr>
        <p:txBody>
          <a:bodyPr wrap="square" lIns="0" rIns="0" tIns="0" bIns="0">
            <a:spAutoFit/>
          </a:bodyPr>
          <a:lstStyle/>
          <a:p>
            <a:pPr algn="ctr">
              <a:spcAft>
                <a:spcPts val="500"/>
              </a:spcAft>
              <a:defRPr sz="1800" b="1">
                <a:solidFill>
                  <a:srgbClr val="FFFFFF"/>
                </a:solidFill>
                <a:latin typeface="Lato"/>
              </a:defRPr>
            </a:pPr>
            <a:r>
              <a:t>REPORTING</a:t>
            </a:r>
          </a:p>
        </p:txBody>
      </p:sp>
      <p:sp>
        <p:nvSpPr>
          <p:cNvPr id="43" name="TextBox 42"/>
          <p:cNvSpPr txBox="1"/>
          <p:nvPr/>
        </p:nvSpPr>
        <p:spPr>
          <a:xfrm>
            <a:off x="9857232" y="4288536"/>
            <a:ext cx="2084831" cy="813816"/>
          </a:xfrm>
          <a:prstGeom prst="rect">
            <a:avLst/>
          </a:prstGeom>
          <a:noFill/>
        </p:spPr>
        <p:txBody>
          <a:bodyPr wrap="square" lIns="0" rIns="0" tIns="0" bIns="0">
            <a:spAutoFit/>
          </a:bodyPr>
          <a:lstStyle/>
          <a:p>
            <a:pPr algn="ctr">
              <a:spcAft>
                <a:spcPts val="500"/>
              </a:spcAft>
              <a:defRPr sz="1900" b="0">
                <a:solidFill>
                  <a:srgbClr val="E8DDF4"/>
                </a:solidFill>
                <a:latin typeface="Lato"/>
              </a:defRPr>
            </a:pPr>
            <a:r>
              <a:t>Accepted metric definitions</a:t>
            </a:r>
          </a:p>
        </p:txBody>
      </p:sp>
      <p:sp>
        <p:nvSpPr>
          <p:cNvPr id="44" name="TextBox 43"/>
          <p:cNvSpPr txBox="1"/>
          <p:nvPr/>
        </p:nvSpPr>
        <p:spPr>
          <a:xfrm>
            <a:off x="749808" y="5696712"/>
            <a:ext cx="10698480" cy="393192"/>
          </a:xfrm>
          <a:prstGeom prst="rect">
            <a:avLst/>
          </a:prstGeom>
          <a:noFill/>
        </p:spPr>
        <p:txBody>
          <a:bodyPr wrap="square" lIns="0" rIns="0" tIns="0" bIns="0">
            <a:spAutoFit/>
          </a:bodyPr>
          <a:lstStyle/>
          <a:p>
            <a:pPr algn="ctr">
              <a:spcAft>
                <a:spcPts val="500"/>
              </a:spcAft>
              <a:defRPr sz="2000" b="1">
                <a:solidFill>
                  <a:srgbClr val="FFFFFF"/>
                </a:solidFill>
                <a:latin typeface="Lato"/>
              </a:defRPr>
            </a:pPr>
            <a:r>
              <a:t>Record the decision · name the owner · agree what must change before rollout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Incheon Mobility CRM | 30-slide Operations Demo</dc:title>
  <dc:subject>Visual guide to ownership, lead journeys, complaints and operations</dc:subject>
  <dc:creator>Incheon Mobility CRM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